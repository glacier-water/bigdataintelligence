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515" r:id="rId3"/>
    <p:sldId id="571" r:id="rId5"/>
    <p:sldId id="572" r:id="rId6"/>
    <p:sldId id="590" r:id="rId7"/>
    <p:sldId id="591" r:id="rId8"/>
    <p:sldId id="594" r:id="rId9"/>
    <p:sldId id="576" r:id="rId10"/>
    <p:sldId id="589" r:id="rId11"/>
    <p:sldId id="585" r:id="rId12"/>
    <p:sldId id="586" r:id="rId13"/>
    <p:sldId id="593" r:id="rId14"/>
    <p:sldId id="592" r:id="rId15"/>
    <p:sldId id="583" r:id="rId16"/>
  </p:sldIdLst>
  <p:sldSz cx="9144000" cy="6858000" type="screen4x3"/>
  <p:notesSz cx="7010400" cy="9296400"/>
  <p:custDataLst>
    <p:tags r:id="rId21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2" autoAdjust="0"/>
    <p:restoredTop sz="94551" autoAdjust="0"/>
  </p:normalViewPr>
  <p:slideViewPr>
    <p:cSldViewPr showGuides="1">
      <p:cViewPr varScale="1">
        <p:scale>
          <a:sx n="66" d="100"/>
          <a:sy n="66" d="100"/>
        </p:scale>
        <p:origin x="812" y="6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591" y="4416098"/>
            <a:ext cx="5143698" cy="418092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6811" tIns="48408" rIns="96811" bIns="48408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512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29150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solidFill>
            <a:srgbClr val="FFFFFF"/>
          </a:solidFill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092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7" tIns="45784" rIns="91577" bIns="45784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 Third Level</a:t>
            </a:r>
            <a:endParaRPr lang="en-US" altLang="en-US" dirty="0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 smtClean="0"/>
              <a:t>2/10/2021</a:t>
            </a:r>
            <a:r>
              <a:rPr lang="en-US" dirty="0"/>
              <a:t>		</a:t>
            </a:r>
            <a:r>
              <a:rPr lang="en-US" baseline="0" dirty="0"/>
              <a:t>      </a:t>
            </a:r>
            <a:r>
              <a:rPr lang="en-US" dirty="0"/>
              <a:t>Introduction to Data Mining, 2</a:t>
            </a:r>
            <a:r>
              <a:rPr lang="en-US" baseline="30000" dirty="0"/>
              <a:t>nd</a:t>
            </a:r>
            <a:r>
              <a:rPr lang="en-US" dirty="0"/>
              <a:t> Edition 			              </a:t>
            </a:r>
            <a:fld id="{7C9F7F48-2944-4AF0-87BF-27ECBE07643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76200"/>
            <a:ext cx="8763000" cy="838200"/>
          </a:xfrm>
        </p:spPr>
        <p:txBody>
          <a:bodyPr/>
          <a:lstStyle/>
          <a:p>
            <a:pPr algn="ctr"/>
            <a:r>
              <a:rPr lang="en-US" altLang="en-US" dirty="0"/>
              <a:t>Classification: Alternative Techniques</a:t>
            </a:r>
            <a:endParaRPr lang="en-US" altLang="en-US" dirty="0"/>
          </a:p>
        </p:txBody>
      </p:sp>
      <p:sp>
        <p:nvSpPr>
          <p:cNvPr id="2051" name="Rectangle 1027"/>
          <p:cNvSpPr>
            <a:spLocks noChangeArrowheads="1"/>
          </p:cNvSpPr>
          <p:nvPr/>
        </p:nvSpPr>
        <p:spPr bwMode="auto">
          <a:xfrm>
            <a:off x="381000" y="1982312"/>
            <a:ext cx="8229600" cy="374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Lecture Notes for Chapter 4</a:t>
            </a: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Instance-Based Learning</a:t>
            </a: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Introduction to Data Mining </a:t>
            </a:r>
            <a:endParaRPr lang="en-US" altLang="en-US" sz="1600" b="0" dirty="0"/>
          </a:p>
          <a:p>
            <a:pPr algn="ctr"/>
            <a:endParaRPr lang="en-US" altLang="en-US" sz="1600" b="0" dirty="0"/>
          </a:p>
          <a:p>
            <a:pPr algn="ctr"/>
            <a:endParaRPr lang="en-US" altLang="en-US" sz="1600" b="0" dirty="0"/>
          </a:p>
          <a:p>
            <a:endParaRPr lang="en-US" alt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Classifiers</a:t>
            </a:r>
            <a:endParaRPr lang="en-US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Basic idea:</a:t>
            </a:r>
            <a:endParaRPr lang="en-US" altLang="en-US"/>
          </a:p>
          <a:p>
            <a:pPr lvl="1"/>
            <a:r>
              <a:rPr lang="en-US" altLang="en-US"/>
              <a:t>If it walks like a duck, quacks like a duck, then it’s probably a duck</a:t>
            </a:r>
            <a:endParaRPr lang="en-US" altLang="en-US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38930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1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2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3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4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5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36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7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Training Records</a:t>
              </a:r>
              <a:endParaRPr lang="en-US" altLang="en-US" sz="1800"/>
            </a:p>
          </p:txBody>
        </p:sp>
        <p:sp>
          <p:nvSpPr>
            <p:cNvPr id="38938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/>
                <a:t>Test Record</a:t>
              </a:r>
              <a:endParaRPr lang="en-US" altLang="en-US" sz="1800"/>
            </a:p>
          </p:txBody>
        </p:sp>
      </p:grpSp>
      <p:grpSp>
        <p:nvGrpSpPr>
          <p:cNvPr id="3" name="Group 14"/>
          <p:cNvGrpSpPr/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38923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Compute Distance</a:t>
              </a:r>
              <a:endParaRPr lang="en-US" altLang="en-US" sz="1800"/>
            </a:p>
          </p:txBody>
        </p:sp>
        <p:grpSp>
          <p:nvGrpSpPr>
            <p:cNvPr id="38924" name="Group 16"/>
            <p:cNvGrpSpPr/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38925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6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7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8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9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/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38919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Choose k of the “nearest” records</a:t>
              </a:r>
              <a:endParaRPr lang="en-US" altLang="en-US" sz="1800"/>
            </a:p>
          </p:txBody>
        </p:sp>
        <p:grpSp>
          <p:nvGrpSpPr>
            <p:cNvPr id="38920" name="Group 24"/>
            <p:cNvGrpSpPr/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38921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2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Nearest-Neighbor Classifiers</a:t>
            </a:r>
            <a:endParaRPr lang="en-US" altLang="en-US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5029200" y="1143000"/>
            <a:ext cx="396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1800" b="0" dirty="0"/>
              <a:t>Requires </a:t>
            </a:r>
            <a:r>
              <a:rPr lang="en-US" altLang="en-US" sz="1800" b="0" dirty="0" smtClean="0"/>
              <a:t>the following:</a:t>
            </a:r>
            <a:endParaRPr lang="en-US" altLang="en-US" sz="1800" b="0" dirty="0"/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1800" b="0" dirty="0"/>
              <a:t>A</a:t>
            </a:r>
            <a:r>
              <a:rPr lang="en-US" altLang="en-US" sz="1800" b="0" dirty="0" smtClean="0"/>
              <a:t> </a:t>
            </a:r>
            <a:r>
              <a:rPr lang="en-US" altLang="en-US" sz="1800" b="0" dirty="0"/>
              <a:t>set of labeled records</a:t>
            </a:r>
            <a:endParaRPr lang="en-US" altLang="en-US" sz="1800" b="0" dirty="0"/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1800" b="0" dirty="0" smtClean="0"/>
              <a:t>Proximity </a:t>
            </a:r>
            <a:r>
              <a:rPr lang="en-US" altLang="en-US" sz="1800" b="0" dirty="0"/>
              <a:t>metric to compute </a:t>
            </a:r>
            <a:r>
              <a:rPr lang="en-US" altLang="en-US" sz="1800" b="0" dirty="0" smtClean="0"/>
              <a:t>distance/similarity </a:t>
            </a:r>
            <a:r>
              <a:rPr lang="en-US" altLang="en-US" sz="1800" b="0" dirty="0"/>
              <a:t>between </a:t>
            </a:r>
            <a:r>
              <a:rPr lang="en-US" altLang="en-US" sz="1800" b="0" dirty="0" smtClean="0"/>
              <a:t>a pair of records </a:t>
            </a:r>
            <a:endParaRPr lang="en-US" altLang="en-US" sz="1800" b="0" dirty="0" smtClean="0"/>
          </a:p>
          <a:p>
            <a:pPr lvl="2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b="0" dirty="0" smtClean="0"/>
              <a:t>e.g</a:t>
            </a:r>
            <a:r>
              <a:rPr lang="en-US" altLang="en-US" b="0" dirty="0" smtClean="0"/>
              <a:t>., Euclidean </a:t>
            </a:r>
            <a:r>
              <a:rPr lang="en-US" altLang="en-US" b="0" dirty="0" smtClean="0"/>
              <a:t>distance</a:t>
            </a:r>
            <a:endParaRPr lang="en-US" altLang="en-US" b="0" dirty="0"/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1800" b="0" dirty="0"/>
              <a:t>The value of </a:t>
            </a:r>
            <a:r>
              <a:rPr lang="en-US" altLang="en-US" sz="1800" b="0" i="1" dirty="0"/>
              <a:t>k</a:t>
            </a:r>
            <a:r>
              <a:rPr lang="en-US" altLang="en-US" sz="1800" b="0" dirty="0"/>
              <a:t>, the number of nearest neighbors to </a:t>
            </a:r>
            <a:r>
              <a:rPr lang="en-US" altLang="en-US" sz="1800" b="0" dirty="0" smtClean="0"/>
              <a:t>retrieve</a:t>
            </a:r>
            <a:endParaRPr lang="en-US" altLang="en-US" sz="1800" b="0" dirty="0" smtClean="0"/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1800" b="0" dirty="0" smtClean="0"/>
              <a:t>A method for using </a:t>
            </a:r>
            <a:r>
              <a:rPr lang="en-US" altLang="en-US" sz="1800" b="0" dirty="0"/>
              <a:t>class labels of </a:t>
            </a:r>
            <a:r>
              <a:rPr lang="en-US" altLang="en-US" sz="1800" b="0" dirty="0" smtClean="0"/>
              <a:t>K nearest </a:t>
            </a:r>
            <a:r>
              <a:rPr lang="en-US" altLang="en-US" sz="1800" b="0" dirty="0"/>
              <a:t>neighbors to determine the class label of unknown record (e.g., by taking majority vote)</a:t>
            </a:r>
            <a:endParaRPr lang="en-US" altLang="en-US" sz="1800" b="0" dirty="0"/>
          </a:p>
          <a:p>
            <a:pPr marL="457200" lvl="1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</a:pPr>
            <a:endParaRPr lang="en-US" altLang="en-US" sz="1800" b="0" dirty="0"/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457200" y="11430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7" name="Visio" r:id="rId2" imgW="7077075" imgH="8183245" progId="Visio.Drawing.6">
                  <p:embed/>
                </p:oleObj>
              </mc:Choice>
              <mc:Fallback>
                <p:oleObj name="Visio" r:id="rId2" imgW="7077075" imgH="818324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/>
              <a:t>How to Determine the class label of a Test Sample?</a:t>
            </a:r>
            <a:endParaRPr lang="en-U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0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11162" y="1143000"/>
                <a:ext cx="8504238" cy="5181600"/>
              </a:xfrm>
            </p:spPr>
            <p:txBody>
              <a:bodyPr/>
              <a:lstStyle/>
              <a:p>
                <a:pPr>
                  <a:buFont typeface="Monotype Sorts" pitchFamily="2" charset="2"/>
                  <a:buNone/>
                </a:pPr>
                <a:endParaRPr lang="en-US" altLang="en-US" dirty="0"/>
              </a:p>
              <a:p>
                <a:r>
                  <a:rPr lang="en-US" altLang="en-US" dirty="0" smtClean="0"/>
                  <a:t>Take </a:t>
                </a:r>
                <a:r>
                  <a:rPr lang="en-US" altLang="en-US" dirty="0"/>
                  <a:t>the majority vote of class labels among the k-nearest neighbors</a:t>
                </a:r>
                <a:endParaRPr lang="en-US" altLang="en-US" dirty="0"/>
              </a:p>
              <a:p>
                <a:r>
                  <a:rPr lang="en-US" altLang="en-US" dirty="0"/>
                  <a:t>Weight the vote according to distance</a:t>
                </a:r>
                <a:endParaRPr lang="en-US" altLang="en-US" dirty="0"/>
              </a:p>
              <a:p>
                <a:pPr lvl="1"/>
                <a:r>
                  <a:rPr lang="en-US" altLang="en-US" dirty="0"/>
                  <a:t> weight factor,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baseline="30000" dirty="0"/>
              </a:p>
            </p:txBody>
          </p:sp>
        </mc:Choice>
        <mc:Fallback>
          <p:sp>
            <p:nvSpPr>
              <p:cNvPr id="4301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1162" y="1143000"/>
                <a:ext cx="8504238" cy="5181600"/>
              </a:xfrm>
              <a:blipFill rotWithShape="1">
                <a:blip r:embed="rId2"/>
                <a:stretch>
                  <a:fillRect l="-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Choice of proximity measure matters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en-US" b="1" dirty="0"/>
          </a:p>
          <a:p>
            <a:r>
              <a:rPr lang="en-US" altLang="en-US" sz="2400" dirty="0"/>
              <a:t>For documents, cosine is better than correlation or Euclidean</a:t>
            </a:r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57200" y="32004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1 1 1 1 1 1 1 1 1 1 1 0</a:t>
            </a:r>
            <a:endParaRPr lang="en-US" altLang="en-US" sz="2400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7200" y="38862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0 1 1 1 1 1 1 1 1 1 1 1</a:t>
            </a:r>
            <a:endParaRPr lang="en-US" altLang="en-US" sz="240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876800" y="32131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0 0 0 0 0 0 0 0 0 0 0 1</a:t>
            </a:r>
            <a:endParaRPr lang="en-US" altLang="en-US" sz="2400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876800" y="38989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1 0 0 0 0 0 0 0 0 0 0 0</a:t>
            </a:r>
            <a:endParaRPr lang="en-US" altLang="en-US" sz="2400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962400" y="3517900"/>
            <a:ext cx="55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 b="0"/>
              <a:t>vs</a:t>
            </a:r>
            <a:endParaRPr lang="en-US" altLang="en-US" sz="2400" b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460500" y="4656077"/>
            <a:ext cx="5562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0" dirty="0"/>
              <a:t>Euclidean distance = 1.4142  for both </a:t>
            </a:r>
            <a:r>
              <a:rPr lang="en-US" altLang="en-US" sz="2000" b="0" dirty="0" smtClean="0"/>
              <a:t>pairs, but the cosine similarity  measure has different values for these pairs.</a:t>
            </a:r>
            <a:endParaRPr lang="en-US" alt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Classification…</a:t>
            </a:r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Data preprocessing is often required</a:t>
            </a:r>
            <a:endParaRPr lang="en-US" altLang="en-US" b="1" dirty="0"/>
          </a:p>
          <a:p>
            <a:pPr lvl="1"/>
            <a:r>
              <a:rPr lang="en-US" altLang="en-US" sz="2400" dirty="0"/>
              <a:t>Attributes may have to be scaled to prevent distance measures from being dominated by one of the attributes</a:t>
            </a:r>
            <a:endParaRPr lang="en-US" altLang="en-US" sz="2400" dirty="0"/>
          </a:p>
          <a:p>
            <a:pPr lvl="2"/>
            <a:r>
              <a:rPr lang="en-US" altLang="en-US" sz="2200" dirty="0"/>
              <a:t>Example:</a:t>
            </a:r>
            <a:endParaRPr lang="en-US" altLang="en-US" sz="2200" dirty="0"/>
          </a:p>
          <a:p>
            <a:pPr lvl="3"/>
            <a:r>
              <a:rPr lang="en-US" altLang="en-US" dirty="0"/>
              <a:t> height of a person may vary from 1.5m to 1.8m</a:t>
            </a:r>
            <a:endParaRPr lang="en-US" altLang="en-US" dirty="0"/>
          </a:p>
          <a:p>
            <a:pPr lvl="3"/>
            <a:r>
              <a:rPr lang="en-US" altLang="en-US" dirty="0"/>
              <a:t> weight of a person may vary from 90lb to 300lb</a:t>
            </a:r>
            <a:endParaRPr lang="en-US" altLang="en-US" dirty="0"/>
          </a:p>
          <a:p>
            <a:pPr lvl="3"/>
            <a:r>
              <a:rPr lang="en-US" altLang="en-US" dirty="0"/>
              <a:t> income of a person may vary from $10K to $1M</a:t>
            </a:r>
            <a:endParaRPr lang="en-US" altLang="en-US" dirty="0"/>
          </a:p>
          <a:p>
            <a:pPr lvl="3"/>
            <a:endParaRPr lang="en-US" altLang="en-US" dirty="0"/>
          </a:p>
          <a:p>
            <a:pPr lvl="1"/>
            <a:r>
              <a:rPr lang="en-US" altLang="en-US" dirty="0"/>
              <a:t>Time series are often standardized to have 0 means a standard deviation of 1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Classification…</a:t>
            </a:r>
            <a:endParaRPr lang="en-US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Choosing the value of k:</a:t>
            </a:r>
            <a:endParaRPr lang="en-US" altLang="en-US"/>
          </a:p>
          <a:p>
            <a:pPr lvl="1"/>
            <a:r>
              <a:rPr lang="en-US" altLang="en-US" sz="2400"/>
              <a:t>If k is too small, sensitive to noise points</a:t>
            </a:r>
            <a:endParaRPr lang="en-US" altLang="en-US" sz="2400"/>
          </a:p>
          <a:p>
            <a:pPr lvl="1"/>
            <a:r>
              <a:rPr lang="en-US" altLang="en-US" sz="2400"/>
              <a:t>If k is too large, neighborhood may include points from other classes</a:t>
            </a:r>
            <a:endParaRPr lang="en-US" altLang="en-US" sz="2400"/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3657600" y="3078163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2" name="Visio" r:id="rId2" imgW="6646545" imgH="5347970" progId="Visio.Drawing.6">
                  <p:embed/>
                </p:oleObj>
              </mc:Choice>
              <mc:Fallback>
                <p:oleObj name="Visio" r:id="rId2" imgW="6646545" imgH="534797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78163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Nearest-neighbor classifiers</a:t>
            </a:r>
            <a:endParaRPr lang="en-US" altLang="en-US" dirty="0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94" y="3276600"/>
            <a:ext cx="4038600" cy="319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181600" y="2564990"/>
            <a:ext cx="3835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 b="0" dirty="0"/>
              <a:t>1-nn decision boundary is a </a:t>
            </a:r>
            <a:r>
              <a:rPr lang="en-US" altLang="en-US" sz="2400" b="0" dirty="0" err="1"/>
              <a:t>Voronoi</a:t>
            </a:r>
            <a:r>
              <a:rPr lang="en-US" altLang="en-US" sz="2400" b="0" dirty="0"/>
              <a:t> Diagram</a:t>
            </a:r>
            <a:endParaRPr lang="en-US" altLang="en-US" sz="2400" b="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8600" y="990600"/>
            <a:ext cx="3962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Nearest </a:t>
            </a:r>
            <a:r>
              <a:rPr lang="en-US" altLang="en-US" sz="2800" b="0" dirty="0"/>
              <a:t>neighbor</a:t>
            </a:r>
            <a:r>
              <a:rPr lang="en-US" altLang="en-US" sz="2400" b="0" dirty="0"/>
              <a:t> classifiers are local classifiers</a:t>
            </a:r>
            <a:endParaRPr lang="en-US" altLang="en-US" sz="2400" b="0" dirty="0"/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endParaRPr lang="en-US" altLang="en-US" sz="24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They can produce decision boundaries of arbitrary shapes</a:t>
            </a:r>
            <a:r>
              <a:rPr lang="en-US" altLang="en-US" sz="1800" b="0" dirty="0"/>
              <a:t>. </a:t>
            </a:r>
            <a:endParaRPr lang="en-US" altLang="en-US" sz="1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Classification…</a:t>
            </a:r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How to handle missing </a:t>
            </a:r>
            <a:r>
              <a:rPr lang="en-US" altLang="en-US" b="1" dirty="0"/>
              <a:t>values in training and test </a:t>
            </a:r>
            <a:r>
              <a:rPr lang="en-US" altLang="en-US" b="1" dirty="0" smtClean="0"/>
              <a:t>sets?</a:t>
            </a:r>
            <a:endParaRPr lang="en-US" altLang="en-US" b="1" dirty="0"/>
          </a:p>
          <a:p>
            <a:pPr lvl="1"/>
            <a:r>
              <a:rPr lang="en-US" dirty="0"/>
              <a:t>Proximity computations normally require the presence of all attributes</a:t>
            </a:r>
            <a:endParaRPr lang="en-US" dirty="0"/>
          </a:p>
          <a:p>
            <a:pPr lvl="1"/>
            <a:r>
              <a:rPr lang="en-US" dirty="0"/>
              <a:t>Some approaches use the subset of attributes present in two instances  </a:t>
            </a:r>
            <a:endParaRPr lang="en-US" dirty="0"/>
          </a:p>
          <a:p>
            <a:pPr marL="1254125" lvl="2" indent="-339725"/>
            <a:r>
              <a:rPr lang="en-US" dirty="0"/>
              <a:t>This may not produce good results since it effectively uses different  proximity measures for each pair of instances</a:t>
            </a:r>
            <a:endParaRPr lang="en-US" dirty="0"/>
          </a:p>
          <a:p>
            <a:pPr marL="1254125" lvl="2" indent="-339725"/>
            <a:r>
              <a:rPr lang="en-US" dirty="0"/>
              <a:t>Thus, proximities are not comparable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533400"/>
          </a:xfrm>
        </p:spPr>
        <p:txBody>
          <a:bodyPr/>
          <a:lstStyle/>
          <a:p>
            <a:r>
              <a:rPr lang="en-US" altLang="en-US" sz="2400" dirty="0" smtClean="0"/>
              <a:t>K-NN </a:t>
            </a:r>
            <a:r>
              <a:rPr lang="en-US" altLang="en-US" sz="2400" dirty="0" err="1" smtClean="0"/>
              <a:t>Classificiers</a:t>
            </a:r>
            <a:r>
              <a:rPr lang="en-US" altLang="en-US" sz="2400" dirty="0" smtClean="0"/>
              <a:t>…</a:t>
            </a:r>
            <a:br>
              <a:rPr lang="en-US" altLang="en-US" sz="2400" dirty="0" smtClean="0"/>
            </a:br>
            <a:r>
              <a:rPr lang="en-US" altLang="en-US" sz="2400" dirty="0" smtClean="0"/>
              <a:t>Handling Irrelevant and Redundant Attributes</a:t>
            </a:r>
            <a:endParaRPr lang="en-US" altLang="en-US" sz="2400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1800" dirty="0" smtClean="0"/>
              <a:t>Irrelevant </a:t>
            </a:r>
            <a:r>
              <a:rPr lang="en-US" sz="1800" dirty="0"/>
              <a:t>attributes add noise to the proximity measure</a:t>
            </a:r>
            <a:endParaRPr lang="en-US" sz="1800" dirty="0"/>
          </a:p>
          <a:p>
            <a:pPr lvl="1"/>
            <a:r>
              <a:rPr lang="en-US" sz="1800" dirty="0"/>
              <a:t>Redundant attributes bias the proximity measure towards certain </a:t>
            </a:r>
            <a:r>
              <a:rPr lang="en-US" sz="1800" dirty="0" smtClean="0"/>
              <a:t>attributes</a:t>
            </a:r>
            <a:endParaRPr lang="en-US" sz="1800" dirty="0" smtClean="0"/>
          </a:p>
          <a:p>
            <a:pPr lvl="1"/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2119433"/>
            <a:ext cx="6248399" cy="4284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80400" cy="533400"/>
          </a:xfrm>
        </p:spPr>
        <p:txBody>
          <a:bodyPr/>
          <a:lstStyle/>
          <a:p>
            <a:r>
              <a:rPr lang="en-US" sz="2000" dirty="0" smtClean="0"/>
              <a:t>K-NN Classifiers: Handling attributes that are interacting</a:t>
            </a:r>
            <a:endParaRPr lang="en-US" sz="2000" dirty="0"/>
          </a:p>
        </p:txBody>
      </p:sp>
      <p:pic>
        <p:nvPicPr>
          <p:cNvPr id="5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1179774" y="1143000"/>
            <a:ext cx="6781278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attributes that are interacting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96" y="1143000"/>
            <a:ext cx="8058234" cy="5181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KNN Efficiency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having to compute distance to all objects in the training set</a:t>
            </a:r>
            <a:endParaRPr lang="en-US" dirty="0"/>
          </a:p>
          <a:p>
            <a:pPr lvl="1"/>
            <a:r>
              <a:rPr lang="en-US" dirty="0"/>
              <a:t>Multi-dimensional access methods (k-d trees)  </a:t>
            </a:r>
            <a:endParaRPr lang="en-US" dirty="0"/>
          </a:p>
          <a:p>
            <a:pPr lvl="1"/>
            <a:r>
              <a:rPr lang="en-US" dirty="0"/>
              <a:t>Fast approximate similarity search</a:t>
            </a:r>
            <a:endParaRPr lang="en-US" dirty="0"/>
          </a:p>
          <a:p>
            <a:pPr lvl="1"/>
            <a:r>
              <a:rPr lang="en-US" dirty="0"/>
              <a:t>Locality Sensitive Hashing (LSH) </a:t>
            </a:r>
            <a:endParaRPr lang="en-US" dirty="0"/>
          </a:p>
          <a:p>
            <a:r>
              <a:rPr lang="en-US" dirty="0"/>
              <a:t>Condensing</a:t>
            </a:r>
            <a:endParaRPr lang="en-US" dirty="0"/>
          </a:p>
          <a:p>
            <a:pPr lvl="1"/>
            <a:r>
              <a:rPr lang="en-US" dirty="0"/>
              <a:t>Determine a smaller set of objects that give the same performance</a:t>
            </a:r>
            <a:endParaRPr lang="en-US" dirty="0"/>
          </a:p>
          <a:p>
            <a:r>
              <a:rPr lang="en-US" dirty="0"/>
              <a:t>Editing</a:t>
            </a:r>
            <a:endParaRPr lang="en-US" dirty="0"/>
          </a:p>
          <a:p>
            <a:pPr lvl="1"/>
            <a:r>
              <a:rPr lang="en-US" dirty="0"/>
              <a:t>Remove objects to improve efficiency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GE2Mjg2YTZkZTMyMTYwY2M1OTQ5YzJlN2MyYmRjOGEifQ=="/>
  <p:tag name="commondata" val="eyJoZGlkIjoiMzEwNTM5NzYwMDRjMzkwZTVkZjY2ODkwMGIxNGU0OTUifQ==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2896</Words>
  <Application>WPS 演示</Application>
  <PresentationFormat>On-screen Show (4:3)</PresentationFormat>
  <Paragraphs>111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Cambria Math</vt:lpstr>
      <vt:lpstr>微软雅黑</vt:lpstr>
      <vt:lpstr>Arial Unicode MS</vt:lpstr>
      <vt:lpstr>Calibri</vt:lpstr>
      <vt:lpstr>LC.BRev.FY97</vt:lpstr>
      <vt:lpstr>Visio.Drawing.6</vt:lpstr>
      <vt:lpstr>Visio.Drawing.6</vt:lpstr>
      <vt:lpstr>Data Mining  Classification: Alternative Techniques</vt:lpstr>
      <vt:lpstr>Nearest Neighbor Classifiers</vt:lpstr>
      <vt:lpstr>Nearest-Neighbor Classifiers</vt:lpstr>
      <vt:lpstr>How to Determine the class label of a Test Sample?</vt:lpstr>
      <vt:lpstr>Choice of proximity measure matters</vt:lpstr>
      <vt:lpstr>Nearest Neighbor Classification…</vt:lpstr>
      <vt:lpstr>Nearest Neighbor Classification…</vt:lpstr>
      <vt:lpstr>Nearest-neighbor classifiers</vt:lpstr>
      <vt:lpstr>Nearest Neighbor Classification…</vt:lpstr>
      <vt:lpstr>K-NN Classificiers… Handling Irrelevant and Redundant Attributes</vt:lpstr>
      <vt:lpstr>K-NN Classifiers: Handling attributes that are interacting</vt:lpstr>
      <vt:lpstr>Handling attributes that are interacting</vt:lpstr>
      <vt:lpstr>Improving KNN Efficiency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XKM</cp:lastModifiedBy>
  <cp:revision>401</cp:revision>
  <cp:lastPrinted>2019-10-01T00:08:00Z</cp:lastPrinted>
  <dcterms:created xsi:type="dcterms:W3CDTF">1998-03-18T13:44:00Z</dcterms:created>
  <dcterms:modified xsi:type="dcterms:W3CDTF">2025-09-01T23:10:14Z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6A3737A910D54965A9676806A8346E6B_12</vt:lpwstr>
  </property>
  <property fmtid="{D5CDD505-2E9C-101B-9397-08002B2CF9AE}" pid="3" name="KSOProductBuildVer">
    <vt:lpwstr>2052-12.1.0.22529</vt:lpwstr>
  </property>
</Properties>
</file>