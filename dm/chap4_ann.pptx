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2" r:id="rId3"/>
  </p:sldMasterIdLst>
  <p:notesMasterIdLst>
    <p:notesMasterId r:id="rId5"/>
  </p:notesMasterIdLst>
  <p:handoutMasterIdLst>
    <p:handoutMasterId r:id="rId27"/>
  </p:handoutMasterIdLst>
  <p:sldIdLst>
    <p:sldId id="667" r:id="rId4"/>
    <p:sldId id="673" r:id="rId6"/>
    <p:sldId id="686" r:id="rId7"/>
    <p:sldId id="582" r:id="rId8"/>
    <p:sldId id="583" r:id="rId9"/>
    <p:sldId id="588" r:id="rId10"/>
    <p:sldId id="589" r:id="rId11"/>
    <p:sldId id="590" r:id="rId12"/>
    <p:sldId id="591" r:id="rId13"/>
    <p:sldId id="592" r:id="rId14"/>
    <p:sldId id="675" r:id="rId15"/>
    <p:sldId id="594" r:id="rId16"/>
    <p:sldId id="676" r:id="rId17"/>
    <p:sldId id="586" r:id="rId18"/>
    <p:sldId id="677" r:id="rId19"/>
    <p:sldId id="595" r:id="rId20"/>
    <p:sldId id="678" r:id="rId21"/>
    <p:sldId id="679" r:id="rId22"/>
    <p:sldId id="681" r:id="rId23"/>
    <p:sldId id="598" r:id="rId24"/>
    <p:sldId id="599" r:id="rId25"/>
    <p:sldId id="682" r:id="rId26"/>
  </p:sldIdLst>
  <p:sldSz cx="9144000" cy="6858000" type="screen4x3"/>
  <p:notesSz cx="6946900" cy="92329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7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20" autoAdjust="0"/>
    <p:restoredTop sz="95872" autoAdjust="0"/>
  </p:normalViewPr>
  <p:slideViewPr>
    <p:cSldViewPr showGuides="1">
      <p:cViewPr varScale="1">
        <p:scale>
          <a:sx n="70" d="100"/>
          <a:sy n="70" d="100"/>
        </p:scale>
        <p:origin x="644" y="64"/>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7.emf"/><Relationship Id="rId3" Type="http://schemas.openxmlformats.org/officeDocument/2006/relationships/image" Target="../media/image16.wmf"/><Relationship Id="rId2" Type="http://schemas.openxmlformats.org/officeDocument/2006/relationships/image" Target="../media/image15.emf"/><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3925" y="4386263"/>
            <a:ext cx="5097463" cy="4151312"/>
          </a:xfrm>
          <a:prstGeom prst="rect">
            <a:avLst/>
          </a:prstGeom>
          <a:noFill/>
          <a:ln w="12700">
            <a:noFill/>
            <a:miter lim="800000"/>
          </a:ln>
          <a:effectLst/>
        </p:spPr>
        <p:txBody>
          <a:bodyPr vert="horz" wrap="square" lIns="96066" tIns="48035" rIns="96066" bIns="48035" numCol="1" anchor="t" anchorCtr="0" compatLnSpc="1"/>
          <a:lstStyle/>
          <a:p>
            <a:pPr lvl="0"/>
            <a:r>
              <a:rPr lang="en-US" noProof="0"/>
              <a:t>Click to edit Master notes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1507" name="Rectangle 3"/>
          <p:cNvSpPr>
            <a:spLocks noGrp="1" noRot="1" noChangeAspect="1" noChangeArrowheads="1" noTextEdit="1"/>
          </p:cNvSpPr>
          <p:nvPr>
            <p:ph type="sldImg" idx="2"/>
          </p:nvPr>
        </p:nvSpPr>
        <p:spPr bwMode="auto">
          <a:xfrm>
            <a:off x="1176338" y="700088"/>
            <a:ext cx="4597400" cy="344805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93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69900" algn="l" defTabSz="96393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38530" algn="l" defTabSz="96393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408430" algn="l" defTabSz="96393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76425" algn="l" defTabSz="96393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69988" y="695325"/>
            <a:ext cx="4611687" cy="3459163"/>
          </a:xfrm>
          <a:solidFill>
            <a:srgbClr val="FFFFFF"/>
          </a:solidFill>
        </p:spPr>
      </p:sp>
      <p:sp>
        <p:nvSpPr>
          <p:cNvPr id="22531" name="Rectangle 3"/>
          <p:cNvSpPr>
            <a:spLocks noGrp="1" noChangeArrowheads="1"/>
          </p:cNvSpPr>
          <p:nvPr>
            <p:ph type="body" idx="1"/>
          </p:nvPr>
        </p:nvSpPr>
        <p:spPr>
          <a:xfrm>
            <a:off x="925513" y="4386263"/>
            <a:ext cx="5095875" cy="4151312"/>
          </a:xfrm>
          <a:solidFill>
            <a:srgbClr val="FFFFFF"/>
          </a:solidFill>
          <a:ln>
            <a:solidFill>
              <a:srgbClr val="000000"/>
            </a:solidFill>
          </a:ln>
        </p:spPr>
        <p:txBody>
          <a:bodyPr lIns="90865" tIns="45428" rIns="90865" bIns="45428"/>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Hidden layers represent levels of abstraction. </a:t>
            </a:r>
            <a:r>
              <a:rPr lang="en-US" sz="1200" kern="1200" dirty="0">
                <a:solidFill>
                  <a:schemeClr val="tx1"/>
                </a:solidFill>
                <a:effectLst/>
                <a:latin typeface="Arial" panose="020B0604020202020204" pitchFamily="34"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panose="020B0604020202020204" pitchFamily="34" charset="0"/>
                <a:ea typeface="+mn-ea"/>
                <a:cs typeface="+mn-cs"/>
              </a:rPr>
              <a:t>k lower levels of abstraction (e.g., edges) to higher levels (e.g., facial parts). </a:t>
            </a:r>
            <a:endParaRPr lang="en-US" dirty="0"/>
          </a:p>
          <a:p>
            <a:pPr marL="0" marR="0" lvl="0" indent="0" algn="l" defTabSz="963930" rtl="0" eaLnBrk="0" fontAlgn="base" latinLnBrk="0" hangingPunct="0">
              <a:lnSpc>
                <a:spcPct val="100000"/>
              </a:lnSpc>
              <a:spcBef>
                <a:spcPct val="30000"/>
              </a:spcBef>
              <a:spcAft>
                <a:spcPct val="0"/>
              </a:spcAft>
              <a:buClrTx/>
              <a:buSzTx/>
              <a:buFontTx/>
              <a:buNone/>
              <a:defRPr/>
            </a:pPr>
            <a:endParaRPr lang="en-US" sz="1200" dirty="0"/>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panose="020B0604020202020204" pitchFamily="34" charset="0"/>
                <a:ea typeface="+mn-ea"/>
                <a:cs typeface="+mn-cs"/>
              </a:rPr>
              <a:t>k lower levels of abstraction (e.g., edges) to higher levels (e.g., facial parts). </a:t>
            </a:r>
            <a:endParaRPr lang="en-US" dirty="0"/>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endParaRPr lang="en-US"/>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21FCFE92-89B6-4224-A41F-FE06D40708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21FCFE92-89B6-4224-A41F-FE06D40708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21FCFE92-89B6-4224-A41F-FE06D407084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FCFE92-89B6-4224-A41F-FE06D407084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FCFE92-89B6-4224-A41F-FE06D407084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21FCFE92-89B6-4224-A41F-FE06D40708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21FCFE92-89B6-4224-A41F-FE06D407084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1FCFE92-89B6-4224-A41F-FE06D407084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lstStyle/>
          <a:p>
            <a:pPr lvl="0"/>
            <a:r>
              <a:rPr lang="en-US" altLang="en-US"/>
              <a:t>Click to edit Master title style</a:t>
            </a:r>
            <a:endParaRPr lang="en-US" altLang="en-US"/>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 Third Level</a:t>
            </a:r>
            <a:endParaRPr lang="en-US" altLang="en-US"/>
          </a:p>
        </p:txBody>
      </p:sp>
      <p:grpSp>
        <p:nvGrpSpPr>
          <p:cNvPr id="1028" name="Group 16"/>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pPr>
              <a:spcBef>
                <a:spcPct val="50000"/>
              </a:spcBef>
              <a:defRPr/>
            </a:pPr>
            <a:r>
              <a:rPr lang="en-US" baseline="0" dirty="0" smtClean="0"/>
              <a:t>2/22/2021      </a:t>
            </a:r>
            <a:r>
              <a:rPr lang="en-US" dirty="0"/>
              <a:t>Introduction to Data Mining, 2</a:t>
            </a:r>
            <a:r>
              <a:rPr lang="en-US" baseline="30000" dirty="0"/>
              <a:t>nd</a:t>
            </a:r>
            <a:r>
              <a:rPr lang="en-US" dirty="0"/>
              <a:t> Edition 			              </a:t>
            </a:r>
            <a:fld id="{D85E90EB-AD9D-48EC-8D84-2576A3EA70C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anose="020B0604030504040204" pitchFamily="34" charset="0"/>
        </a:defRPr>
      </a:lvl2pPr>
      <a:lvl3pPr algn="l" rtl="0" eaLnBrk="0" fontAlgn="base" hangingPunct="0">
        <a:lnSpc>
          <a:spcPts val="3600"/>
        </a:lnSpc>
        <a:spcBef>
          <a:spcPct val="0"/>
        </a:spcBef>
        <a:spcAft>
          <a:spcPct val="0"/>
        </a:spcAft>
        <a:defRPr sz="3200" b="1">
          <a:solidFill>
            <a:schemeClr val="tx1"/>
          </a:solidFill>
          <a:latin typeface="Tahoma" panose="020B0604030504040204" pitchFamily="34" charset="0"/>
        </a:defRPr>
      </a:lvl3pPr>
      <a:lvl4pPr algn="l" rtl="0" eaLnBrk="0" fontAlgn="base" hangingPunct="0">
        <a:lnSpc>
          <a:spcPts val="3600"/>
        </a:lnSpc>
        <a:spcBef>
          <a:spcPct val="0"/>
        </a:spcBef>
        <a:spcAft>
          <a:spcPct val="0"/>
        </a:spcAft>
        <a:defRPr sz="3200" b="1">
          <a:solidFill>
            <a:schemeClr val="tx1"/>
          </a:solidFill>
          <a:latin typeface="Tahoma" panose="020B0604030504040204" pitchFamily="34" charset="0"/>
        </a:defRPr>
      </a:lvl4pPr>
      <a:lvl5pPr algn="l" rtl="0" eaLnBrk="0" fontAlgn="base" hangingPunct="0">
        <a:lnSpc>
          <a:spcPts val="3600"/>
        </a:lnSpc>
        <a:spcBef>
          <a:spcPct val="0"/>
        </a:spcBef>
        <a:spcAft>
          <a:spcPct val="0"/>
        </a:spcAft>
        <a:defRPr sz="3200" b="1">
          <a:solidFill>
            <a:schemeClr val="tx1"/>
          </a:solidFill>
          <a:latin typeface="Tahoma" panose="020B0604030504040204" pitchFamily="34" charset="0"/>
        </a:defRPr>
      </a:lvl5pPr>
      <a:lvl6pPr marL="457200" algn="l" rtl="0" eaLnBrk="0" fontAlgn="base" hangingPunct="0">
        <a:lnSpc>
          <a:spcPts val="3600"/>
        </a:lnSpc>
        <a:spcBef>
          <a:spcPct val="0"/>
        </a:spcBef>
        <a:spcAft>
          <a:spcPct val="0"/>
        </a:spcAft>
        <a:defRPr sz="3200" b="1">
          <a:solidFill>
            <a:schemeClr val="tx1"/>
          </a:solidFill>
          <a:latin typeface="Tahoma" panose="020B0604030504040204" pitchFamily="34" charset="0"/>
        </a:defRPr>
      </a:lvl6pPr>
      <a:lvl7pPr marL="914400" algn="l" rtl="0" eaLnBrk="0" fontAlgn="base" hangingPunct="0">
        <a:lnSpc>
          <a:spcPts val="3600"/>
        </a:lnSpc>
        <a:spcBef>
          <a:spcPct val="0"/>
        </a:spcBef>
        <a:spcAft>
          <a:spcPct val="0"/>
        </a:spcAft>
        <a:defRPr sz="3200" b="1">
          <a:solidFill>
            <a:schemeClr val="tx1"/>
          </a:solidFill>
          <a:latin typeface="Tahoma" panose="020B0604030504040204" pitchFamily="34" charset="0"/>
        </a:defRPr>
      </a:lvl7pPr>
      <a:lvl8pPr marL="1371600" algn="l" rtl="0" eaLnBrk="0" fontAlgn="base" hangingPunct="0">
        <a:lnSpc>
          <a:spcPts val="3600"/>
        </a:lnSpc>
        <a:spcBef>
          <a:spcPct val="0"/>
        </a:spcBef>
        <a:spcAft>
          <a:spcPct val="0"/>
        </a:spcAft>
        <a:defRPr sz="3200" b="1">
          <a:solidFill>
            <a:schemeClr val="tx1"/>
          </a:solidFill>
          <a:latin typeface="Tahoma" panose="020B0604030504040204" pitchFamily="34" charset="0"/>
        </a:defRPr>
      </a:lvl8pPr>
      <a:lvl9pPr marL="1828800" algn="l" rtl="0" eaLnBrk="0" fontAlgn="base" hangingPunct="0">
        <a:lnSpc>
          <a:spcPts val="3600"/>
        </a:lnSpc>
        <a:spcBef>
          <a:spcPct val="0"/>
        </a:spcBef>
        <a:spcAft>
          <a:spcPct val="0"/>
        </a:spcAft>
        <a:defRPr sz="3200" b="1">
          <a:solidFill>
            <a:schemeClr val="tx1"/>
          </a:solidFill>
          <a:latin typeface="Tahoma" panose="020B0604030504040204"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CFE92-89B6-4224-A41F-FE06D407084B}" type="datetimeFigureOut">
              <a:rPr lang="en-US" smtClean="0"/>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03D2CB-2D05-44A0-B97E-7C27A7CBE27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3.bin"/><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emf"/><Relationship Id="rId3" Type="http://schemas.openxmlformats.org/officeDocument/2006/relationships/image" Target="../media/image11.emf"/><Relationship Id="rId2" Type="http://schemas.openxmlformats.org/officeDocument/2006/relationships/image" Target="../media/image12.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image" Target="../media/image17.emf"/><Relationship Id="rId8" Type="http://schemas.openxmlformats.org/officeDocument/2006/relationships/oleObject" Target="../embeddings/oleObject7.bin"/><Relationship Id="rId7" Type="http://schemas.openxmlformats.org/officeDocument/2006/relationships/image" Target="../media/image16.wmf"/><Relationship Id="rId6" Type="http://schemas.openxmlformats.org/officeDocument/2006/relationships/oleObject" Target="../embeddings/oleObject6.bin"/><Relationship Id="rId5" Type="http://schemas.openxmlformats.org/officeDocument/2006/relationships/image" Target="../media/image15.emf"/><Relationship Id="rId4" Type="http://schemas.openxmlformats.org/officeDocument/2006/relationships/oleObject" Target="../embeddings/oleObject5.bin"/><Relationship Id="rId3" Type="http://schemas.openxmlformats.org/officeDocument/2006/relationships/image" Target="../media/image14.emf"/><Relationship Id="rId2" Type="http://schemas.openxmlformats.org/officeDocument/2006/relationships/oleObject" Target="../embeddings/oleObject4.bin"/><Relationship Id="rId11" Type="http://schemas.openxmlformats.org/officeDocument/2006/relationships/vmlDrawing" Target="../drawings/vmlDrawing3.vml"/><Relationship Id="rId10" Type="http://schemas.openxmlformats.org/officeDocument/2006/relationships/slideLayout" Target="../slideLayouts/slideLayout1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4.xml"/><Relationship Id="rId5" Type="http://schemas.openxmlformats.org/officeDocument/2006/relationships/image" Target="../media/image20.wmf"/><Relationship Id="rId4" Type="http://schemas.openxmlformats.org/officeDocument/2006/relationships/oleObject" Target="../embeddings/oleObject9.bin"/><Relationship Id="rId3" Type="http://schemas.openxmlformats.org/officeDocument/2006/relationships/image" Target="../media/image19.emf"/><Relationship Id="rId2" Type="http://schemas.openxmlformats.org/officeDocument/2006/relationships/oleObject" Target="../embeddings/oleObject8.bin"/><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5.vml"/><Relationship Id="rId4" Type="http://schemas.openxmlformats.org/officeDocument/2006/relationships/slideLayout" Target="../slideLayouts/slideLayout4.xml"/><Relationship Id="rId3" Type="http://schemas.openxmlformats.org/officeDocument/2006/relationships/image" Target="../media/image21.emf"/><Relationship Id="rId2" Type="http://schemas.openxmlformats.org/officeDocument/2006/relationships/oleObject" Target="../embeddings/oleObject10.bin"/><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emf"/><Relationship Id="rId2" Type="http://schemas.openxmlformats.org/officeDocument/2006/relationships/oleObject" Target="../embeddings/oleObject11.bin"/><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image" Target="../media/image28.png"/><Relationship Id="rId3" Type="http://schemas.openxmlformats.org/officeDocument/2006/relationships/image" Target="../media/image25.emf"/><Relationship Id="rId2" Type="http://schemas.openxmlformats.org/officeDocument/2006/relationships/image" Target="../media/image27.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25.emf"/><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050" name="Rectangle 1026"/>
          <p:cNvSpPr>
            <a:spLocks noGrp="1" noChangeArrowheads="1"/>
          </p:cNvSpPr>
          <p:nvPr>
            <p:ph type="title"/>
          </p:nvPr>
        </p:nvSpPr>
        <p:spPr>
          <a:xfrm>
            <a:off x="228600" y="-152400"/>
            <a:ext cx="8763000" cy="838200"/>
          </a:xfrm>
        </p:spPr>
        <p:txBody>
          <a:bodyPr/>
          <a:lstStyle/>
          <a:p>
            <a:r>
              <a:rPr lang="en-US" altLang="en-US"/>
              <a:t>Data Mining</a:t>
            </a:r>
            <a:endParaRPr lang="en-US" altLang="en-US" sz="2800"/>
          </a:p>
        </p:txBody>
      </p:sp>
      <p:sp>
        <p:nvSpPr>
          <p:cNvPr id="2051" name="Rectangle 1027"/>
          <p:cNvSpPr>
            <a:spLocks noChangeArrowheads="1"/>
          </p:cNvSpPr>
          <p:nvPr/>
        </p:nvSpPr>
        <p:spPr bwMode="auto">
          <a:xfrm>
            <a:off x="381000" y="1910715"/>
            <a:ext cx="8229600" cy="3360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20000"/>
              </a:spcBef>
              <a:buClr>
                <a:schemeClr val="folHlink"/>
              </a:buClr>
              <a:buSzPct val="60000"/>
              <a:buFont typeface="Monotype Sorts" pitchFamily="2" charset="2"/>
              <a:buNone/>
            </a:pPr>
            <a:r>
              <a:rPr lang="en-US" altLang="en-US" sz="3200" b="0" dirty="0"/>
              <a:t>Lecture Notes for Chapter 4</a:t>
            </a:r>
            <a:endParaRPr lang="en-US" altLang="en-US" sz="3200" b="0" dirty="0"/>
          </a:p>
          <a:p>
            <a:pPr algn="ctr" eaLnBrk="1" hangingPunct="1">
              <a:spcBef>
                <a:spcPct val="20000"/>
              </a:spcBef>
              <a:buClr>
                <a:schemeClr val="folHlink"/>
              </a:buClr>
              <a:buSzPct val="60000"/>
              <a:buFont typeface="Monotype Sorts" pitchFamily="2" charset="2"/>
              <a:buNone/>
            </a:pPr>
            <a:r>
              <a:rPr lang="en-US" altLang="en-US" sz="3200" b="0" dirty="0"/>
              <a:t> </a:t>
            </a:r>
            <a:br>
              <a:rPr lang="en-US" altLang="en-US" sz="3200" b="0" dirty="0"/>
            </a:br>
            <a:r>
              <a:rPr lang="en-US" altLang="en-US" sz="3200" b="0" dirty="0"/>
              <a:t>Artificial Neural Networks</a:t>
            </a:r>
            <a:endParaRPr lang="en-US" altLang="en-US" sz="1400" b="0" dirty="0"/>
          </a:p>
          <a:p>
            <a:pPr algn="ctr" eaLnBrk="1" hangingPunct="1">
              <a:spcBef>
                <a:spcPct val="20000"/>
              </a:spcBef>
              <a:buClr>
                <a:schemeClr val="folHlink"/>
              </a:buClr>
              <a:buSzPct val="60000"/>
              <a:buFont typeface="Wingdings" panose="05000000000000000000" pitchFamily="2" charset="2"/>
              <a:buNone/>
            </a:pPr>
            <a:endParaRPr lang="en-US" altLang="en-US" sz="3200" b="0" dirty="0"/>
          </a:p>
          <a:p>
            <a:pPr algn="ctr" eaLnBrk="1" hangingPunct="1">
              <a:spcBef>
                <a:spcPct val="20000"/>
              </a:spcBef>
              <a:buClr>
                <a:schemeClr val="folHlink"/>
              </a:buClr>
              <a:buSzPct val="60000"/>
              <a:buFont typeface="Wingdings" panose="05000000000000000000" pitchFamily="2" charset="2"/>
              <a:buNone/>
            </a:pPr>
            <a:r>
              <a:rPr lang="en-US" altLang="en-US" sz="3200" b="0" dirty="0"/>
              <a:t>Introduction to Data Mining</a:t>
            </a:r>
            <a:endParaRPr lang="en-US" altLang="en-US" b="0" dirty="0"/>
          </a:p>
          <a:p>
            <a:pPr>
              <a:spcBef>
                <a:spcPct val="0"/>
              </a:spcBef>
              <a:spcAft>
                <a:spcPct val="0"/>
              </a:spcAft>
              <a:buClrTx/>
              <a:buSzTx/>
              <a:buFontTx/>
              <a:buNone/>
            </a:pPr>
            <a:endParaRPr lang="en-US" altLang="en-US" sz="2000" b="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Neural Networks (ANN)</a:t>
            </a:r>
            <a:endParaRPr lang="en-US" dirty="0"/>
          </a:p>
        </p:txBody>
      </p:sp>
      <p:sp>
        <p:nvSpPr>
          <p:cNvPr id="3" name="Content Placeholder 2"/>
          <p:cNvSpPr>
            <a:spLocks noGrp="1"/>
          </p:cNvSpPr>
          <p:nvPr>
            <p:ph idx="1"/>
          </p:nvPr>
        </p:nvSpPr>
        <p:spPr>
          <a:xfrm>
            <a:off x="381000" y="1066800"/>
            <a:ext cx="8318500" cy="5181600"/>
          </a:xfrm>
        </p:spPr>
        <p:txBody>
          <a:bodyPr/>
          <a:lstStyle/>
          <a:p>
            <a:r>
              <a:rPr lang="en-US" sz="2600" b="1" dirty="0"/>
              <a:t>Basic Idea: </a:t>
            </a:r>
            <a:r>
              <a:rPr lang="en-US" sz="2600" dirty="0"/>
              <a:t>A complex non-linear function can be learned as a composition of simple processing units </a:t>
            </a:r>
            <a:endParaRPr lang="en-US" sz="2600" dirty="0"/>
          </a:p>
          <a:p>
            <a:endParaRPr lang="en-US" sz="500" dirty="0"/>
          </a:p>
          <a:p>
            <a:r>
              <a:rPr lang="en-US" sz="2600" dirty="0"/>
              <a:t>ANN is a collection of simple processing units (nodes) that are connected by directed links (edges)</a:t>
            </a:r>
            <a:endParaRPr lang="en-US" sz="2600" dirty="0"/>
          </a:p>
          <a:p>
            <a:pPr lvl="1"/>
            <a:r>
              <a:rPr lang="en-US" sz="2000" dirty="0"/>
              <a:t>Every node receives signals from incoming edges, performs computations, and transmits signals to outgoing edges</a:t>
            </a:r>
            <a:endParaRPr lang="en-US" sz="2000" dirty="0"/>
          </a:p>
          <a:p>
            <a:pPr lvl="1"/>
            <a:r>
              <a:rPr lang="en-US" sz="2000" dirty="0"/>
              <a:t>Analogous to </a:t>
            </a:r>
            <a:r>
              <a:rPr lang="en-US" sz="2000" i="1" dirty="0"/>
              <a:t>human brain </a:t>
            </a:r>
            <a:r>
              <a:rPr lang="en-US" sz="2000" dirty="0"/>
              <a:t>where nodes are neurons and signals are electrical impulses</a:t>
            </a:r>
            <a:endParaRPr lang="en-US" sz="2000" dirty="0"/>
          </a:p>
          <a:p>
            <a:pPr lvl="1"/>
            <a:r>
              <a:rPr lang="en-US" sz="2000" dirty="0"/>
              <a:t>Weight of an edge determines the strength of connection between the </a:t>
            </a:r>
            <a:r>
              <a:rPr lang="en-US" sz="2000" dirty="0" smtClean="0"/>
              <a:t>nodes</a:t>
            </a:r>
            <a:endParaRPr lang="en-US" sz="2000" dirty="0" smtClean="0"/>
          </a:p>
          <a:p>
            <a:pPr lvl="1"/>
            <a:endParaRPr lang="en-US" sz="2000" dirty="0"/>
          </a:p>
          <a:p>
            <a:r>
              <a:rPr lang="en-US" dirty="0"/>
              <a:t>Simplest ANN: </a:t>
            </a:r>
            <a:r>
              <a:rPr lang="en-US" b="1" dirty="0"/>
              <a:t>Perceptron</a:t>
            </a:r>
            <a:r>
              <a:rPr lang="en-US" dirty="0"/>
              <a:t> (single neuron)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Architecture of Perceptron</a:t>
            </a:r>
            <a:endParaRPr lang="en-US" dirty="0"/>
          </a:p>
        </p:txBody>
      </p:sp>
      <p:pic>
        <p:nvPicPr>
          <p:cNvPr id="4" name="Content Placeholder 3"/>
          <p:cNvPicPr>
            <a:picLocks noGrp="1" noChangeAspect="1"/>
          </p:cNvPicPr>
          <p:nvPr>
            <p:ph idx="1"/>
          </p:nvPr>
        </p:nvPicPr>
        <p:blipFill>
          <a:blip r:embed="rId2"/>
          <a:stretch>
            <a:fillRect/>
          </a:stretch>
        </p:blipFill>
        <p:spPr>
          <a:xfrm>
            <a:off x="409575" y="1726828"/>
            <a:ext cx="3988056" cy="2304210"/>
          </a:xfrm>
          <a:prstGeom prst="rect">
            <a:avLst/>
          </a:prstGeom>
        </p:spPr>
      </p:pic>
      <p:pic>
        <p:nvPicPr>
          <p:cNvPr id="5" name="Picture 4"/>
          <p:cNvPicPr>
            <a:picLocks noChangeAspect="1"/>
          </p:cNvPicPr>
          <p:nvPr/>
        </p:nvPicPr>
        <p:blipFill>
          <a:blip r:embed="rId3"/>
          <a:stretch>
            <a:fillRect/>
          </a:stretch>
        </p:blipFill>
        <p:spPr>
          <a:xfrm>
            <a:off x="5017134" y="1676400"/>
            <a:ext cx="3710940" cy="1002957"/>
          </a:xfrm>
          <a:prstGeom prst="rect">
            <a:avLst/>
          </a:prstGeom>
        </p:spPr>
      </p:pic>
      <p:sp>
        <p:nvSpPr>
          <p:cNvPr id="6" name="Rectangle 3"/>
          <p:cNvSpPr txBox="1">
            <a:spLocks noChangeArrowheads="1"/>
          </p:cNvSpPr>
          <p:nvPr/>
        </p:nvSpPr>
        <p:spPr bwMode="auto">
          <a:xfrm>
            <a:off x="258542" y="4935738"/>
            <a:ext cx="8278177" cy="1877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r>
              <a:rPr lang="en-US" altLang="en-US" sz="2400" b="0" kern="0" dirty="0"/>
              <a:t>Learns linear decision boundaries</a:t>
            </a:r>
            <a:endParaRPr lang="en-US" altLang="en-US" sz="2400" b="0" kern="0" dirty="0"/>
          </a:p>
          <a:p>
            <a:r>
              <a:rPr lang="en-US" altLang="en-US" sz="2400" b="0" kern="0" dirty="0" smtClean="0"/>
              <a:t>Related</a:t>
            </a:r>
            <a:r>
              <a:rPr lang="en-US" altLang="en-US" sz="2400" b="0" kern="0" dirty="0" smtClean="0"/>
              <a:t> </a:t>
            </a:r>
            <a:r>
              <a:rPr lang="en-US" altLang="en-US" sz="2400" b="0" kern="0" dirty="0"/>
              <a:t>to logistic regression (activation function is sign instead of sigmoid)</a:t>
            </a:r>
            <a:endParaRPr lang="en-US" altLang="en-US" sz="2400" b="0" kern="0" dirty="0"/>
          </a:p>
          <a:p>
            <a:endParaRPr lang="en-US" altLang="en-US" sz="2400" b="0" kern="0" dirty="0"/>
          </a:p>
          <a:p>
            <a:endParaRPr lang="en-US" altLang="en-US" sz="2400" b="0" kern="0" dirty="0"/>
          </a:p>
        </p:txBody>
      </p:sp>
      <p:pic>
        <p:nvPicPr>
          <p:cNvPr id="7" name="Picture 6"/>
          <p:cNvPicPr>
            <a:picLocks noChangeAspect="1"/>
          </p:cNvPicPr>
          <p:nvPr/>
        </p:nvPicPr>
        <p:blipFill>
          <a:blip r:embed="rId4"/>
          <a:stretch>
            <a:fillRect/>
          </a:stretch>
        </p:blipFill>
        <p:spPr>
          <a:xfrm>
            <a:off x="5807709" y="3584057"/>
            <a:ext cx="1752600" cy="615778"/>
          </a:xfrm>
          <a:prstGeom prst="rect">
            <a:avLst/>
          </a:prstGeom>
        </p:spPr>
      </p:pic>
      <p:pic>
        <p:nvPicPr>
          <p:cNvPr id="10" name="Picture 9"/>
          <p:cNvPicPr>
            <a:picLocks noChangeAspect="1"/>
          </p:cNvPicPr>
          <p:nvPr/>
        </p:nvPicPr>
        <p:blipFill>
          <a:blip r:embed="rId5"/>
          <a:stretch>
            <a:fillRect/>
          </a:stretch>
        </p:blipFill>
        <p:spPr>
          <a:xfrm>
            <a:off x="5017134" y="3119506"/>
            <a:ext cx="1581150" cy="287482"/>
          </a:xfrm>
          <a:prstGeom prst="rect">
            <a:avLst/>
          </a:prstGeom>
        </p:spPr>
      </p:pic>
      <p:pic>
        <p:nvPicPr>
          <p:cNvPr id="11" name="Picture 10"/>
          <p:cNvPicPr>
            <a:picLocks noChangeAspect="1"/>
          </p:cNvPicPr>
          <p:nvPr/>
        </p:nvPicPr>
        <p:blipFill>
          <a:blip r:embed="rId6"/>
          <a:stretch>
            <a:fillRect/>
          </a:stretch>
        </p:blipFill>
        <p:spPr>
          <a:xfrm>
            <a:off x="7144571" y="3062857"/>
            <a:ext cx="1418404" cy="440194"/>
          </a:xfrm>
          <a:prstGeom prst="rect">
            <a:avLst/>
          </a:prstGeom>
        </p:spPr>
      </p:pic>
      <p:sp>
        <p:nvSpPr>
          <p:cNvPr id="12" name="TextBox 11"/>
          <p:cNvSpPr txBox="1"/>
          <p:nvPr/>
        </p:nvSpPr>
        <p:spPr>
          <a:xfrm>
            <a:off x="5514657" y="4434457"/>
            <a:ext cx="2133918" cy="369332"/>
          </a:xfrm>
          <a:prstGeom prst="rect">
            <a:avLst/>
          </a:prstGeom>
          <a:solidFill>
            <a:schemeClr val="accent5"/>
          </a:solidFill>
        </p:spPr>
        <p:txBody>
          <a:bodyPr wrap="none" rtlCol="0">
            <a:spAutoFit/>
          </a:bodyPr>
          <a:lstStyle/>
          <a:p>
            <a:r>
              <a:rPr lang="en-US" sz="1800" b="0" dirty="0"/>
              <a:t>Activation Function</a:t>
            </a:r>
            <a:endParaRPr lang="en-US" sz="1800" b="0" dirty="0"/>
          </a:p>
        </p:txBody>
      </p:sp>
      <p:cxnSp>
        <p:nvCxnSpPr>
          <p:cNvPr id="14" name="Straight Arrow Connector 13"/>
          <p:cNvCxnSpPr/>
          <p:nvPr/>
        </p:nvCxnSpPr>
        <p:spPr bwMode="auto">
          <a:xfrm flipV="1">
            <a:off x="6581616" y="4031038"/>
            <a:ext cx="0" cy="40341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dirty="0"/>
              <a:t>Perceptron Example</a:t>
            </a:r>
            <a:endParaRPr lang="en-US" altLang="en-US" dirty="0"/>
          </a:p>
        </p:txBody>
      </p:sp>
      <p:graphicFrame>
        <p:nvGraphicFramePr>
          <p:cNvPr id="3075" name="Object 2"/>
          <p:cNvGraphicFramePr>
            <a:graphicFrameLocks noGrp="1" noChangeAspect="1"/>
          </p:cNvGraphicFramePr>
          <p:nvPr>
            <p:ph idx="1"/>
          </p:nvPr>
        </p:nvGraphicFramePr>
        <p:xfrm>
          <a:off x="582612" y="1258093"/>
          <a:ext cx="8078788" cy="3503613"/>
        </p:xfrm>
        <a:graphic>
          <a:graphicData uri="http://schemas.openxmlformats.org/presentationml/2006/ole">
            <mc:AlternateContent xmlns:mc="http://schemas.openxmlformats.org/markup-compatibility/2006">
              <mc:Choice xmlns:v="urn:schemas-microsoft-com:vml" Requires="v">
                <p:oleObj spid="_x0000_s3168" name="Visio" r:id="rId2" imgW="9020810" imgH="3918585" progId="Visio.Drawing.6">
                  <p:embed/>
                </p:oleObj>
              </mc:Choice>
              <mc:Fallback>
                <p:oleObj name="Visio" r:id="rId2" imgW="9020810" imgH="3918585"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2" y="1258093"/>
                        <a:ext cx="8078788"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4"/>
          <p:cNvSpPr txBox="1">
            <a:spLocks noChangeArrowheads="1"/>
          </p:cNvSpPr>
          <p:nvPr/>
        </p:nvSpPr>
        <p:spPr bwMode="auto">
          <a:xfrm>
            <a:off x="1143000" y="5334000"/>
            <a:ext cx="670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1800" b="0"/>
              <a:t>Output Y is 1 if at least two of the three inputs are equal to 1.</a:t>
            </a:r>
            <a:endParaRPr lang="en-US" altLang="en-US" sz="1800" b="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Perceptron Example</a:t>
            </a:r>
            <a:endParaRPr lang="en-US" altLang="en-US" dirty="0"/>
          </a:p>
        </p:txBody>
      </p:sp>
      <p:graphicFrame>
        <p:nvGraphicFramePr>
          <p:cNvPr id="4099" name="Object 2"/>
          <p:cNvGraphicFramePr>
            <a:graphicFrameLocks noGrp="1" noChangeAspect="1"/>
          </p:cNvGraphicFramePr>
          <p:nvPr>
            <p:ph idx="1"/>
          </p:nvPr>
        </p:nvGraphicFramePr>
        <p:xfrm>
          <a:off x="530225" y="1144588"/>
          <a:ext cx="8078788" cy="3503612"/>
        </p:xfrm>
        <a:graphic>
          <a:graphicData uri="http://schemas.openxmlformats.org/presentationml/2006/ole">
            <mc:AlternateContent xmlns:mc="http://schemas.openxmlformats.org/markup-compatibility/2006">
              <mc:Choice xmlns:v="urn:schemas-microsoft-com:vml" Requires="v">
                <p:oleObj spid="_x0000_s4280" name="Visio" r:id="rId2" imgW="9020810" imgH="3918585" progId="Visio.Drawing.6">
                  <p:embed/>
                </p:oleObj>
              </mc:Choice>
              <mc:Fallback>
                <p:oleObj name="Visio" r:id="rId2" imgW="9020810" imgH="3918585"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1144588"/>
                        <a:ext cx="8078788" cy="35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3"/>
          <p:cNvGraphicFramePr>
            <a:graphicFrameLocks noChangeAspect="1"/>
          </p:cNvGraphicFramePr>
          <p:nvPr/>
        </p:nvGraphicFramePr>
        <p:xfrm>
          <a:off x="1931988" y="4953000"/>
          <a:ext cx="5346700" cy="1412875"/>
        </p:xfrm>
        <a:graphic>
          <a:graphicData uri="http://schemas.openxmlformats.org/presentationml/2006/ole">
            <mc:AlternateContent xmlns:mc="http://schemas.openxmlformats.org/markup-compatibility/2006">
              <mc:Choice xmlns:v="urn:schemas-microsoft-com:vml" Requires="v">
                <p:oleObj spid="_x0000_s4281" name="Equation" r:id="rId4" imgW="2362200" imgH="711200" progId="Equation.3">
                  <p:embed/>
                </p:oleObj>
              </mc:Choice>
              <mc:Fallback>
                <p:oleObj name="Equation" r:id="rId4" imgW="23622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1988" y="4953000"/>
                        <a:ext cx="5346700"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t>Perceptron Learning Rule</a:t>
            </a:r>
            <a:endParaRPr lang="en-US" altLang="en-US" dirty="0"/>
          </a:p>
        </p:txBody>
      </p:sp>
      <mc:AlternateContent xmlns:mc="http://schemas.openxmlformats.org/markup-compatibility/2006">
        <mc:Choice xmlns:a14="http://schemas.microsoft.com/office/drawing/2010/main" Requires="a14">
          <p:sp>
            <p:nvSpPr>
              <p:cNvPr id="9219" name="Rectangle 3"/>
              <p:cNvSpPr>
                <a:spLocks noGrp="1" noChangeArrowheads="1"/>
              </p:cNvSpPr>
              <p:nvPr>
                <p:ph type="body" idx="1"/>
              </p:nvPr>
            </p:nvSpPr>
            <p:spPr/>
            <p:txBody>
              <a:bodyPr/>
              <a:lstStyle/>
              <a:p>
                <a:r>
                  <a:rPr lang="en-US" altLang="en-US" dirty="0"/>
                  <a:t>Initialize the weights (w</a:t>
                </a:r>
                <a:r>
                  <a:rPr lang="en-US" altLang="en-US" baseline="-25000" dirty="0"/>
                  <a:t>0</a:t>
                </a:r>
                <a:r>
                  <a:rPr lang="en-US" altLang="en-US" dirty="0"/>
                  <a:t>, w</a:t>
                </a:r>
                <a:r>
                  <a:rPr lang="en-US" altLang="en-US" baseline="-25000" dirty="0"/>
                  <a:t>1</a:t>
                </a:r>
                <a:r>
                  <a:rPr lang="en-US" altLang="en-US" dirty="0"/>
                  <a:t>, …, </a:t>
                </a:r>
                <a:r>
                  <a:rPr lang="en-US" altLang="en-US" dirty="0" err="1"/>
                  <a:t>w</a:t>
                </a:r>
                <a:r>
                  <a:rPr lang="en-US" altLang="en-US" baseline="-25000" dirty="0" err="1"/>
                  <a:t>d</a:t>
                </a:r>
                <a:r>
                  <a:rPr lang="en-US" altLang="en-US" dirty="0"/>
                  <a:t>)</a:t>
                </a:r>
                <a:endParaRPr lang="en-US" altLang="en-US" dirty="0"/>
              </a:p>
              <a:p>
                <a:r>
                  <a:rPr lang="en-US" altLang="en-US" dirty="0"/>
                  <a:t>Repeat</a:t>
                </a:r>
                <a:endParaRPr lang="en-US" altLang="en-US" dirty="0"/>
              </a:p>
              <a:p>
                <a:pPr lvl="1"/>
                <a:r>
                  <a:rPr lang="en-US" altLang="en-US" dirty="0"/>
                  <a:t>For each training example (x</a:t>
                </a:r>
                <a:r>
                  <a:rPr lang="en-US" altLang="en-US" baseline="-25000" dirty="0"/>
                  <a:t>i</a:t>
                </a:r>
                <a:r>
                  <a:rPr lang="en-US" altLang="en-US" dirty="0"/>
                  <a:t>, </a:t>
                </a:r>
                <a:r>
                  <a:rPr lang="en-US" altLang="en-US" dirty="0" err="1"/>
                  <a:t>y</a:t>
                </a:r>
                <a:r>
                  <a:rPr lang="en-US" altLang="en-US" baseline="-25000" dirty="0" err="1"/>
                  <a:t>i</a:t>
                </a:r>
                <a:r>
                  <a:rPr lang="en-US" altLang="en-US" dirty="0"/>
                  <a:t>)</a:t>
                </a:r>
                <a:endParaRPr lang="en-US" altLang="en-US" dirty="0"/>
              </a:p>
              <a:p>
                <a:pPr lvl="2"/>
                <a:r>
                  <a:rPr lang="en-US" altLang="en-US" dirty="0"/>
                  <a:t> Compute </a:t>
                </a:r>
                <a14:m>
                  <m:oMath xmlns:m="http://schemas.openxmlformats.org/officeDocument/2006/math">
                    <m:acc>
                      <m:accPr>
                        <m:ctrlPr>
                          <a:rPr lang="en-US" altLang="en-US" sz="2800" b="0" i="1" smtClean="0">
                            <a:latin typeface="Cambria Math" panose="02040503050406030204" pitchFamily="18" charset="0"/>
                          </a:rPr>
                        </m:ctrlPr>
                      </m:accPr>
                      <m:e>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𝑦</m:t>
                            </m:r>
                          </m:e>
                          <m:sub>
                            <m:r>
                              <a:rPr lang="en-US" altLang="en-US" sz="2800" b="0" i="1" smtClean="0">
                                <a:latin typeface="Cambria Math" panose="02040503050406030204" pitchFamily="18" charset="0"/>
                              </a:rPr>
                              <m:t>𝑖</m:t>
                            </m:r>
                          </m:sub>
                        </m:sSub>
                      </m:e>
                    </m:acc>
                  </m:oMath>
                </a14:m>
                <a:endParaRPr lang="en-US" altLang="en-US" dirty="0"/>
              </a:p>
              <a:p>
                <a:pPr lvl="2"/>
                <a:r>
                  <a:rPr lang="en-US" altLang="en-US" dirty="0"/>
                  <a:t> Update the weights: </a:t>
                </a:r>
                <a:endParaRPr lang="en-US" altLang="en-US" dirty="0"/>
              </a:p>
              <a:p>
                <a:pPr lvl="2"/>
                <a:endParaRPr lang="en-US" altLang="en-US" dirty="0"/>
              </a:p>
              <a:p>
                <a:pPr lvl="2"/>
                <a:endParaRPr lang="en-US" altLang="en-US" dirty="0"/>
              </a:p>
              <a:p>
                <a:r>
                  <a:rPr lang="en-US" altLang="en-US" dirty="0"/>
                  <a:t>Until stopping condition is met</a:t>
                </a:r>
                <a:endParaRPr lang="en-US" altLang="en-US" dirty="0"/>
              </a:p>
              <a:p>
                <a:endParaRPr lang="en-US" altLang="en-US" sz="1000" dirty="0"/>
              </a:p>
              <a:p>
                <a:r>
                  <a:rPr lang="en-US" altLang="en-US" sz="2400" dirty="0"/>
                  <a:t>k: iteration number;	</a:t>
                </a:r>
                <a14:m>
                  <m:oMath xmlns:m="http://schemas.openxmlformats.org/officeDocument/2006/math">
                    <m:r>
                      <a:rPr lang="en-US" altLang="en-US" sz="2400" b="0" i="1" smtClean="0">
                        <a:latin typeface="Cambria Math" panose="02040503050406030204" pitchFamily="18" charset="0"/>
                      </a:rPr>
                      <m:t>𝜆</m:t>
                    </m:r>
                    <m:r>
                      <a:rPr lang="en-US" altLang="en-US" sz="2400" b="0" i="1" smtClean="0">
                        <a:latin typeface="Cambria Math" panose="02040503050406030204" pitchFamily="18" charset="0"/>
                      </a:rPr>
                      <m:t>:</m:t>
                    </m:r>
                  </m:oMath>
                </a14:m>
                <a:r>
                  <a:rPr lang="en-US" altLang="en-US" sz="2400" dirty="0"/>
                  <a:t> learning rate </a:t>
                </a:r>
                <a:endParaRPr lang="en-US" altLang="en-US" sz="2400" dirty="0"/>
              </a:p>
            </p:txBody>
          </p:sp>
        </mc:Choice>
        <mc:Fallback>
          <p:sp>
            <p:nvSpPr>
              <p:cNvPr id="9219" name="Rectangle 3"/>
              <p:cNvSpPr>
                <a:spLocks noRot="1" noChangeAspect="1" noMove="1" noResize="1" noEditPoints="1" noAdjustHandles="1" noChangeArrowheads="1" noChangeShapeType="1" noTextEdit="1"/>
              </p:cNvSpPr>
              <p:nvPr>
                <p:ph type="body" idx="1"/>
              </p:nvPr>
            </p:nvSpPr>
            <p:spPr>
              <a:blipFill rotWithShape="1">
                <a:blip r:embed="rId2"/>
                <a:stretch>
                  <a:fillRect l="-4" r="4"/>
                </a:stretch>
              </a:blipFill>
            </p:spPr>
            <p:txBody>
              <a:bodyPr/>
              <a:lstStyle/>
              <a:p>
                <a:r>
                  <a:rPr lang="zh-CN" altLang="en-US">
                    <a:noFill/>
                  </a:rPr>
                  <a:t> </a:t>
                </a:r>
              </a:p>
            </p:txBody>
          </p:sp>
        </mc:Fallback>
      </mc:AlternateContent>
      <p:pic>
        <p:nvPicPr>
          <p:cNvPr id="2" name="Picture 1"/>
          <p:cNvPicPr>
            <a:picLocks noChangeAspect="1"/>
          </p:cNvPicPr>
          <p:nvPr/>
        </p:nvPicPr>
        <p:blipFill>
          <a:blip r:embed="rId3"/>
          <a:stretch>
            <a:fillRect/>
          </a:stretch>
        </p:blipFill>
        <p:spPr>
          <a:xfrm>
            <a:off x="2286000" y="3657600"/>
            <a:ext cx="5357810" cy="1143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t>Perceptron Learning Rule</a:t>
            </a:r>
            <a:endParaRPr lang="en-US" altLang="en-US" dirty="0"/>
          </a:p>
        </p:txBody>
      </p:sp>
      <mc:AlternateContent xmlns:mc="http://schemas.openxmlformats.org/markup-compatibility/2006">
        <mc:Choice xmlns:a14="http://schemas.microsoft.com/office/drawing/2010/main" Requires="a14">
          <p:sp>
            <p:nvSpPr>
              <p:cNvPr id="10243" name="Rectangle 3"/>
              <p:cNvSpPr>
                <a:spLocks noGrp="1" noChangeArrowheads="1"/>
              </p:cNvSpPr>
              <p:nvPr>
                <p:ph type="body" idx="1"/>
              </p:nvPr>
            </p:nvSpPr>
            <p:spPr>
              <a:xfrm>
                <a:off x="411163" y="1143000"/>
                <a:ext cx="8318500" cy="5181600"/>
              </a:xfrm>
            </p:spPr>
            <p:txBody>
              <a:bodyPr/>
              <a:lstStyle/>
              <a:p>
                <a:r>
                  <a:rPr lang="en-US" altLang="en-US" dirty="0"/>
                  <a:t>Weight update formula:</a:t>
                </a:r>
                <a:endParaRPr lang="en-US" altLang="en-US" dirty="0"/>
              </a:p>
              <a:p>
                <a:endParaRPr lang="en-US" altLang="en-US" dirty="0"/>
              </a:p>
              <a:p>
                <a:endParaRPr lang="en-US" altLang="en-US" dirty="0"/>
              </a:p>
              <a:p>
                <a:r>
                  <a:rPr lang="en-US" altLang="en-US" dirty="0"/>
                  <a:t>Intuition:</a:t>
                </a:r>
                <a:endParaRPr lang="en-US" altLang="en-US" dirty="0"/>
              </a:p>
              <a:p>
                <a:pPr lvl="1"/>
                <a:r>
                  <a:rPr lang="en-US" altLang="en-US" dirty="0"/>
                  <a:t>Update weight based on error: e =  </a:t>
                </a:r>
                <a:endParaRPr lang="en-US" altLang="en-US" dirty="0"/>
              </a:p>
              <a:p>
                <a:pPr lvl="2"/>
                <a:r>
                  <a:rPr lang="en-US" altLang="en-US" sz="2000" dirty="0"/>
                  <a:t>If y = </a:t>
                </a:r>
                <a14:m>
                  <m:oMath xmlns:m="http://schemas.openxmlformats.org/officeDocument/2006/math">
                    <m:acc>
                      <m:accPr>
                        <m:ctrlPr>
                          <a:rPr lang="en-US" altLang="en-US" sz="2000" b="0" i="1" dirty="0" smtClean="0">
                            <a:latin typeface="Cambria Math" panose="02040503050406030204" pitchFamily="18" charset="0"/>
                          </a:rPr>
                        </m:ctrlPr>
                      </m:accPr>
                      <m:e>
                        <m:r>
                          <a:rPr lang="en-US" altLang="en-US" sz="2000" b="0" i="1" dirty="0" smtClean="0">
                            <a:latin typeface="Cambria Math" panose="02040503050406030204" pitchFamily="18" charset="0"/>
                          </a:rPr>
                          <m:t>𝑦</m:t>
                        </m:r>
                      </m:e>
                    </m:acc>
                  </m:oMath>
                </a14:m>
                <a:r>
                  <a:rPr lang="en-US" altLang="en-US" sz="2000" dirty="0"/>
                  <a:t>, e=0: no update </a:t>
                </a:r>
                <a:r>
                  <a:rPr lang="en-US" altLang="en-US" sz="2000" dirty="0" smtClean="0"/>
                  <a:t>needed</a:t>
                </a:r>
                <a:endParaRPr lang="en-US" altLang="en-US" sz="2000" dirty="0" smtClean="0"/>
              </a:p>
              <a:p>
                <a:pPr lvl="2"/>
                <a:endParaRPr lang="en-US" altLang="en-US" sz="2000" dirty="0"/>
              </a:p>
              <a:p>
                <a:pPr lvl="2"/>
                <a:r>
                  <a:rPr lang="en-US" altLang="en-US" sz="2000" dirty="0"/>
                  <a:t>If y &gt; </a:t>
                </a:r>
                <a14:m>
                  <m:oMath xmlns:m="http://schemas.openxmlformats.org/officeDocument/2006/math">
                    <m:acc>
                      <m:accPr>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e=2: weight must be </a:t>
                </a:r>
                <a:r>
                  <a:rPr lang="en-US" altLang="en-US" sz="2000" dirty="0" smtClean="0"/>
                  <a:t>increased (assuming </a:t>
                </a:r>
                <a:r>
                  <a:rPr lang="en-US" altLang="en-US" sz="1600" dirty="0" err="1" smtClean="0"/>
                  <a:t>Xij</a:t>
                </a:r>
                <a:r>
                  <a:rPr lang="en-US" altLang="en-US" sz="2000" dirty="0" smtClean="0"/>
                  <a:t> is positive) </a:t>
                </a:r>
                <a:r>
                  <a:rPr lang="en-US" altLang="en-US" sz="2000" dirty="0"/>
                  <a:t>so  that  </a:t>
                </a:r>
                <a14:m>
                  <m:oMath xmlns:m="http://schemas.openxmlformats.org/officeDocument/2006/math">
                    <m:acc>
                      <m:accPr>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will </a:t>
                </a:r>
                <a:r>
                  <a:rPr lang="en-US" altLang="en-US" sz="2000" dirty="0" smtClean="0"/>
                  <a:t>increase</a:t>
                </a:r>
                <a:endParaRPr lang="en-US" altLang="en-US" sz="2000" dirty="0" smtClean="0"/>
              </a:p>
              <a:p>
                <a:pPr lvl="2"/>
                <a:endParaRPr lang="en-US" altLang="en-US" sz="2000" dirty="0"/>
              </a:p>
              <a:p>
                <a:pPr lvl="2"/>
                <a:r>
                  <a:rPr lang="en-US" altLang="en-US" sz="2000" dirty="0"/>
                  <a:t>If y &lt; </a:t>
                </a:r>
                <a14:m>
                  <m:oMath xmlns:m="http://schemas.openxmlformats.org/officeDocument/2006/math">
                    <m:acc>
                      <m:accPr>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e=-2: weight must be </a:t>
                </a:r>
                <a:r>
                  <a:rPr lang="en-US" altLang="en-US" sz="2000" dirty="0" smtClean="0"/>
                  <a:t>decreased (assuming </a:t>
                </a:r>
                <a:r>
                  <a:rPr lang="en-US" altLang="en-US" sz="1600" dirty="0" err="1" smtClean="0"/>
                  <a:t>Xij</a:t>
                </a:r>
                <a:r>
                  <a:rPr lang="en-US" altLang="en-US" sz="1600" dirty="0" smtClean="0"/>
                  <a:t> </a:t>
                </a:r>
                <a:r>
                  <a:rPr lang="en-US" altLang="en-US" sz="2000" dirty="0" smtClean="0"/>
                  <a:t>is positive) </a:t>
                </a:r>
                <a:r>
                  <a:rPr lang="en-US" altLang="en-US" sz="2000" dirty="0"/>
                  <a:t>so that  </a:t>
                </a:r>
                <a14:m>
                  <m:oMath xmlns:m="http://schemas.openxmlformats.org/officeDocument/2006/math">
                    <m:acc>
                      <m:accPr>
                        <m:ctrlPr>
                          <a:rPr lang="en-US" altLang="en-US" sz="2000" i="1" dirty="0">
                            <a:latin typeface="Cambria Math" panose="02040503050406030204" pitchFamily="18" charset="0"/>
                          </a:rPr>
                        </m:ctrlPr>
                      </m:accPr>
                      <m:e>
                        <m:r>
                          <a:rPr lang="en-US" altLang="en-US" sz="2000" i="1" dirty="0">
                            <a:latin typeface="Cambria Math" panose="02040503050406030204" pitchFamily="18" charset="0"/>
                          </a:rPr>
                          <m:t>𝑦</m:t>
                        </m:r>
                      </m:e>
                    </m:acc>
                  </m:oMath>
                </a14:m>
                <a:r>
                  <a:rPr lang="en-US" altLang="en-US" sz="2000" dirty="0"/>
                  <a:t> will decrease</a:t>
                </a:r>
                <a:endParaRPr lang="en-US" altLang="en-US" sz="2000" dirty="0"/>
              </a:p>
            </p:txBody>
          </p:sp>
        </mc:Choice>
        <mc:Fallback>
          <p:sp>
            <p:nvSpPr>
              <p:cNvPr id="10243" name="Rectangle 3"/>
              <p:cNvSpPr>
                <a:spLocks noRot="1" noChangeAspect="1" noMove="1" noResize="1" noEditPoints="1" noAdjustHandles="1" noChangeArrowheads="1" noChangeShapeType="1" noTextEdit="1"/>
              </p:cNvSpPr>
              <p:nvPr>
                <p:ph type="body" idx="1"/>
              </p:nvPr>
            </p:nvSpPr>
            <p:spPr>
              <a:xfrm>
                <a:off x="411163" y="1143000"/>
                <a:ext cx="8318500" cy="5181600"/>
              </a:xfrm>
              <a:blipFill rotWithShape="1">
                <a:blip r:embed="rId2"/>
                <a:stretch>
                  <a:fillRect l="-4" r="4"/>
                </a:stretch>
              </a:blipFill>
            </p:spPr>
            <p:txBody>
              <a:bodyPr/>
              <a:lstStyle/>
              <a:p>
                <a:r>
                  <a:rPr lang="zh-CN" altLang="en-US">
                    <a:noFill/>
                  </a:rPr>
                  <a:t> </a:t>
                </a:r>
              </a:p>
            </p:txBody>
          </p:sp>
        </mc:Fallback>
      </mc:AlternateContent>
      <p:pic>
        <p:nvPicPr>
          <p:cNvPr id="6" name="Picture 5"/>
          <p:cNvPicPr>
            <a:picLocks noChangeAspect="1"/>
          </p:cNvPicPr>
          <p:nvPr/>
        </p:nvPicPr>
        <p:blipFill>
          <a:blip r:embed="rId3"/>
          <a:stretch>
            <a:fillRect/>
          </a:stretch>
        </p:blipFill>
        <p:spPr>
          <a:xfrm>
            <a:off x="2147890" y="1625600"/>
            <a:ext cx="5357810" cy="1143000"/>
          </a:xfrm>
          <a:prstGeom prst="rect">
            <a:avLst/>
          </a:prstGeom>
        </p:spPr>
      </p:pic>
      <p:pic>
        <p:nvPicPr>
          <p:cNvPr id="2" name="Picture 1"/>
          <p:cNvPicPr>
            <a:picLocks noChangeAspect="1"/>
          </p:cNvPicPr>
          <p:nvPr/>
        </p:nvPicPr>
        <p:blipFill>
          <a:blip r:embed="rId4"/>
          <a:stretch>
            <a:fillRect/>
          </a:stretch>
        </p:blipFill>
        <p:spPr>
          <a:xfrm>
            <a:off x="6842125" y="3225800"/>
            <a:ext cx="1327150" cy="558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sz="quarter"/>
          </p:nvPr>
        </p:nvSpPr>
        <p:spPr/>
        <p:txBody>
          <a:bodyPr/>
          <a:lstStyle/>
          <a:p>
            <a:r>
              <a:rPr lang="en-US" altLang="en-US"/>
              <a:t>Example of Perceptron Learning</a:t>
            </a:r>
            <a:endParaRPr lang="en-US" altLang="en-US"/>
          </a:p>
        </p:txBody>
      </p:sp>
      <p:graphicFrame>
        <p:nvGraphicFramePr>
          <p:cNvPr id="11267" name="Object 2"/>
          <p:cNvGraphicFramePr>
            <a:graphicFrameLocks noGrp="1" noChangeAspect="1"/>
          </p:cNvGraphicFramePr>
          <p:nvPr>
            <p:ph sz="quarter" idx="1"/>
          </p:nvPr>
        </p:nvGraphicFramePr>
        <p:xfrm>
          <a:off x="152400" y="1752600"/>
          <a:ext cx="1819275" cy="2667000"/>
        </p:xfrm>
        <a:graphic>
          <a:graphicData uri="http://schemas.openxmlformats.org/presentationml/2006/ole">
            <mc:AlternateContent xmlns:mc="http://schemas.openxmlformats.org/markup-compatibility/2006">
              <mc:Choice xmlns:v="urn:schemas-microsoft-com:vml" Requires="v">
                <p:oleObj spid="_x0000_s22771" name="Worksheet" r:id="rId2" imgW="2059305" imgH="2506345" progId="Excel.Sheet.8">
                  <p:embed/>
                </p:oleObj>
              </mc:Choice>
              <mc:Fallback>
                <p:oleObj name="Worksheet" r:id="rId2" imgW="2059305" imgH="2506345"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52600"/>
                        <a:ext cx="181927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1270" name="Object 5"/>
          <p:cNvGraphicFramePr>
            <a:graphicFrameLocks noGrp="1" noChangeAspect="1"/>
          </p:cNvGraphicFramePr>
          <p:nvPr>
            <p:ph sz="quarter" idx="4"/>
          </p:nvPr>
        </p:nvGraphicFramePr>
        <p:xfrm>
          <a:off x="6172200" y="1752600"/>
          <a:ext cx="2760902" cy="2362200"/>
        </p:xfrm>
        <a:graphic>
          <a:graphicData uri="http://schemas.openxmlformats.org/presentationml/2006/ole">
            <mc:AlternateContent xmlns:mc="http://schemas.openxmlformats.org/markup-compatibility/2006">
              <mc:Choice xmlns:v="urn:schemas-microsoft-com:vml" Requires="v">
                <p:oleObj spid="_x0000_s22772" name="Worksheet" r:id="rId4" imgW="5295900" imgH="4533900" progId="Excel.Sheet.8">
                  <p:embed/>
                </p:oleObj>
              </mc:Choice>
              <mc:Fallback>
                <p:oleObj name="Worksheet" r:id="rId4" imgW="5295900" imgH="4533900" progId="Excel.Sheet.8">
                  <p:embed/>
                  <p:pic>
                    <p:nvPicPr>
                      <p:cNvPr id="0" name="Object 5"/>
                      <p:cNvPicPr>
                        <a:picLocks noChangeAspect="1" noChangeArrowheads="1"/>
                      </p:cNvPicPr>
                      <p:nvPr/>
                    </p:nvPicPr>
                    <p:blipFill>
                      <a:blip r:embed="rId5"/>
                      <a:srcRect/>
                      <a:stretch>
                        <a:fillRect/>
                      </a:stretch>
                    </p:blipFill>
                    <p:spPr bwMode="auto">
                      <a:xfrm>
                        <a:off x="6172200" y="1752600"/>
                        <a:ext cx="2760902" cy="2362200"/>
                      </a:xfrm>
                      <a:prstGeom prst="rect">
                        <a:avLst/>
                      </a:prstGeom>
                      <a:noFill/>
                      <a:ln>
                        <a:noFill/>
                      </a:ln>
                    </p:spPr>
                  </p:pic>
                </p:oleObj>
              </mc:Fallback>
            </mc:AlternateContent>
          </a:graphicData>
        </a:graphic>
      </p:graphicFrame>
      <p:graphicFrame>
        <p:nvGraphicFramePr>
          <p:cNvPr id="11271" name="Object 6"/>
          <p:cNvGraphicFramePr>
            <a:graphicFrameLocks noChangeAspect="1"/>
          </p:cNvGraphicFramePr>
          <p:nvPr/>
        </p:nvGraphicFramePr>
        <p:xfrm>
          <a:off x="3581400" y="1295400"/>
          <a:ext cx="908050" cy="342900"/>
        </p:xfrm>
        <a:graphic>
          <a:graphicData uri="http://schemas.openxmlformats.org/presentationml/2006/ole">
            <mc:AlternateContent xmlns:mc="http://schemas.openxmlformats.org/markup-compatibility/2006">
              <mc:Choice xmlns:v="urn:schemas-microsoft-com:vml" Requires="v">
                <p:oleObj spid="_x0000_s22773" name="Equation" r:id="rId6" imgW="469900" imgH="177800" progId="Equation.3">
                  <p:embed/>
                </p:oleObj>
              </mc:Choice>
              <mc:Fallback>
                <p:oleObj name="Equation" r:id="rId6" imgW="469900" imgH="1778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1295400"/>
                        <a:ext cx="90805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7"/>
          <p:cNvGraphicFramePr>
            <a:graphicFrameLocks noChangeAspect="1"/>
          </p:cNvGraphicFramePr>
          <p:nvPr/>
        </p:nvGraphicFramePr>
        <p:xfrm>
          <a:off x="2667000" y="1752600"/>
          <a:ext cx="3144838" cy="2655888"/>
        </p:xfrm>
        <a:graphic>
          <a:graphicData uri="http://schemas.openxmlformats.org/presentationml/2006/ole">
            <mc:AlternateContent xmlns:mc="http://schemas.openxmlformats.org/markup-compatibility/2006">
              <mc:Choice xmlns:v="urn:schemas-microsoft-com:vml" Requires="v">
                <p:oleObj spid="_x0000_s22774" name="Worksheet" r:id="rId8" imgW="6540500" imgH="5499100" progId="Excel.Sheet.8">
                  <p:embed/>
                </p:oleObj>
              </mc:Choice>
              <mc:Fallback>
                <p:oleObj name="Worksheet" r:id="rId8" imgW="6540500" imgH="5499100" progId="Excel.Sheet.8">
                  <p:embed/>
                  <p:pic>
                    <p:nvPicPr>
                      <p:cNvPr id="0" name="Object 7"/>
                      <p:cNvPicPr>
                        <a:picLocks noChangeAspect="1" noChangeArrowheads="1"/>
                      </p:cNvPicPr>
                      <p:nvPr/>
                    </p:nvPicPr>
                    <p:blipFill>
                      <a:blip r:embed="rId9"/>
                      <a:srcRect/>
                      <a:stretch>
                        <a:fillRect/>
                      </a:stretch>
                    </p:blipFill>
                    <p:spPr bwMode="auto">
                      <a:xfrm>
                        <a:off x="2667000" y="1752600"/>
                        <a:ext cx="3144838"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2507694" y="4522788"/>
            <a:ext cx="3424977" cy="369332"/>
          </a:xfrm>
          <a:prstGeom prst="rect">
            <a:avLst/>
          </a:prstGeom>
          <a:noFill/>
        </p:spPr>
        <p:txBody>
          <a:bodyPr wrap="none" rtlCol="0">
            <a:spAutoFit/>
          </a:bodyPr>
          <a:lstStyle/>
          <a:p>
            <a:r>
              <a:rPr lang="en-US" sz="1800" b="0" dirty="0"/>
              <a:t>Weight updates over first epoch</a:t>
            </a:r>
            <a:endParaRPr lang="en-US" sz="1800" b="0" dirty="0"/>
          </a:p>
        </p:txBody>
      </p:sp>
      <p:sp>
        <p:nvSpPr>
          <p:cNvPr id="14" name="TextBox 13"/>
          <p:cNvSpPr txBox="1"/>
          <p:nvPr/>
        </p:nvSpPr>
        <p:spPr>
          <a:xfrm>
            <a:off x="6339681" y="4245789"/>
            <a:ext cx="2425939" cy="646331"/>
          </a:xfrm>
          <a:prstGeom prst="rect">
            <a:avLst/>
          </a:prstGeom>
          <a:noFill/>
        </p:spPr>
        <p:txBody>
          <a:bodyPr wrap="square" rtlCol="0">
            <a:spAutoFit/>
          </a:bodyPr>
          <a:lstStyle/>
          <a:p>
            <a:pPr algn="ctr"/>
            <a:r>
              <a:rPr lang="en-US" sz="1800" b="0" dirty="0"/>
              <a:t>Weight updates over all epochs</a:t>
            </a:r>
            <a:endParaRPr lang="en-US" sz="1800" b="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t>Perceptron Learning</a:t>
            </a:r>
            <a:endParaRPr lang="en-US" altLang="en-US" dirty="0"/>
          </a:p>
        </p:txBody>
      </p:sp>
      <p:sp>
        <p:nvSpPr>
          <p:cNvPr id="12291" name="Rectangle 3"/>
          <p:cNvSpPr>
            <a:spLocks noGrp="1" noChangeArrowheads="1"/>
          </p:cNvSpPr>
          <p:nvPr>
            <p:ph type="body" idx="1"/>
          </p:nvPr>
        </p:nvSpPr>
        <p:spPr/>
        <p:txBody>
          <a:bodyPr/>
          <a:lstStyle/>
          <a:p>
            <a:pPr>
              <a:lnSpc>
                <a:spcPct val="90000"/>
              </a:lnSpc>
            </a:pPr>
            <a:r>
              <a:rPr lang="en-US" altLang="en-US" sz="2400" dirty="0"/>
              <a:t>Since y is a linear </a:t>
            </a:r>
            <a:br>
              <a:rPr lang="en-US" altLang="en-US" sz="2400" dirty="0"/>
            </a:br>
            <a:r>
              <a:rPr lang="en-US" altLang="en-US" sz="2400" dirty="0"/>
              <a:t>combination of input </a:t>
            </a:r>
            <a:br>
              <a:rPr lang="en-US" altLang="en-US" sz="2400" dirty="0"/>
            </a:br>
            <a:r>
              <a:rPr lang="en-US" altLang="en-US" sz="2400" dirty="0"/>
              <a:t>variables, decision </a:t>
            </a:r>
            <a:br>
              <a:rPr lang="en-US" altLang="en-US" sz="2400" dirty="0"/>
            </a:br>
            <a:r>
              <a:rPr lang="en-US" altLang="en-US" sz="2400" dirty="0"/>
              <a:t>boundary is linear</a:t>
            </a:r>
            <a:endParaRPr lang="en-US" altLang="en-US" sz="2400" dirty="0"/>
          </a:p>
          <a:p>
            <a:pPr>
              <a:lnSpc>
                <a:spcPct val="90000"/>
              </a:lnSpc>
            </a:pPr>
            <a:endParaRPr lang="en-US" altLang="en-US" dirty="0"/>
          </a:p>
          <a:p>
            <a:pPr>
              <a:lnSpc>
                <a:spcPct val="90000"/>
              </a:lnSpc>
            </a:pPr>
            <a:endParaRPr lang="en-US" altLang="en-US" dirty="0"/>
          </a:p>
          <a:p>
            <a:pPr>
              <a:lnSpc>
                <a:spcPct val="90000"/>
              </a:lnSpc>
            </a:pPr>
            <a:endParaRPr lang="en-US" altLang="en-US" dirty="0"/>
          </a:p>
          <a:p>
            <a:pPr>
              <a:lnSpc>
                <a:spcPct val="90000"/>
              </a:lnSpc>
            </a:pPr>
            <a:endParaRPr lang="en-US" altLang="en-US" dirty="0"/>
          </a:p>
        </p:txBody>
      </p:sp>
      <p:pic>
        <p:nvPicPr>
          <p:cNvPr id="2" name="Picture 1"/>
          <p:cNvPicPr>
            <a:picLocks noChangeAspect="1"/>
          </p:cNvPicPr>
          <p:nvPr/>
        </p:nvPicPr>
        <p:blipFill>
          <a:blip r:embed="rId2"/>
          <a:stretch>
            <a:fillRect/>
          </a:stretch>
        </p:blipFill>
        <p:spPr>
          <a:xfrm>
            <a:off x="4182024" y="1143000"/>
            <a:ext cx="4547639" cy="319563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t>Nonlinearly Separable Data</a:t>
            </a:r>
            <a:endParaRPr lang="en-US" altLang="en-US"/>
          </a:p>
        </p:txBody>
      </p:sp>
      <p:graphicFrame>
        <p:nvGraphicFramePr>
          <p:cNvPr id="13315" name="Object 2"/>
          <p:cNvGraphicFramePr>
            <a:graphicFrameLocks noGrp="1" noChangeAspect="1"/>
          </p:cNvGraphicFramePr>
          <p:nvPr>
            <p:ph sz="half" idx="1"/>
          </p:nvPr>
        </p:nvGraphicFramePr>
        <p:xfrm>
          <a:off x="685800" y="2508885"/>
          <a:ext cx="7924800" cy="3968115"/>
        </p:xfrm>
        <a:graphic>
          <a:graphicData uri="http://schemas.openxmlformats.org/presentationml/2006/ole">
            <mc:AlternateContent xmlns:mc="http://schemas.openxmlformats.org/markup-compatibility/2006">
              <mc:Choice xmlns:v="urn:schemas-microsoft-com:vml" Requires="v">
                <p:oleObj spid="_x0000_s23671" name="VISIO" r:id="rId2" imgW="9674225" imgH="4733290" progId="Visio.Drawing.6">
                  <p:embed/>
                </p:oleObj>
              </mc:Choice>
              <mc:Fallback>
                <p:oleObj name="VISIO" r:id="rId2" imgW="9674225" imgH="473329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r="3922"/>
                      <a:stretch>
                        <a:fillRect/>
                      </a:stretch>
                    </p:blipFill>
                    <p:spPr bwMode="auto">
                      <a:xfrm>
                        <a:off x="685800" y="2508885"/>
                        <a:ext cx="7924800" cy="3968115"/>
                      </a:xfrm>
                      <a:prstGeom prst="rect">
                        <a:avLst/>
                      </a:prstGeom>
                      <a:noFill/>
                      <a:ln>
                        <a:noFill/>
                      </a:ln>
                    </p:spPr>
                  </p:pic>
                </p:oleObj>
              </mc:Fallback>
            </mc:AlternateContent>
          </a:graphicData>
        </a:graphic>
      </p:graphicFrame>
      <p:graphicFrame>
        <p:nvGraphicFramePr>
          <p:cNvPr id="13316" name="Object 3"/>
          <p:cNvGraphicFramePr>
            <a:graphicFrameLocks noGrp="1" noChangeAspect="1"/>
          </p:cNvGraphicFramePr>
          <p:nvPr>
            <p:ph sz="half" idx="2"/>
          </p:nvPr>
        </p:nvGraphicFramePr>
        <p:xfrm>
          <a:off x="685800" y="2565400"/>
          <a:ext cx="2092325" cy="635000"/>
        </p:xfrm>
        <a:graphic>
          <a:graphicData uri="http://schemas.openxmlformats.org/presentationml/2006/ole">
            <mc:AlternateContent xmlns:mc="http://schemas.openxmlformats.org/markup-compatibility/2006">
              <mc:Choice xmlns:v="urn:schemas-microsoft-com:vml" Requires="v">
                <p:oleObj spid="_x0000_s23672" name="Equation" r:id="rId4" imgW="711200" imgH="215900" progId="Equation.3">
                  <p:embed/>
                </p:oleObj>
              </mc:Choice>
              <mc:Fallback>
                <p:oleObj name="Equation" r:id="rId4" imgW="711200" imgH="215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565400"/>
                        <a:ext cx="2092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 Box 5"/>
          <p:cNvSpPr txBox="1">
            <a:spLocks noChangeArrowheads="1"/>
          </p:cNvSpPr>
          <p:nvPr/>
        </p:nvSpPr>
        <p:spPr bwMode="auto">
          <a:xfrm>
            <a:off x="5486400" y="2346325"/>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dirty="0"/>
              <a:t>XOR Data</a:t>
            </a:r>
            <a:endParaRPr lang="en-US" altLang="en-US" sz="2000" dirty="0"/>
          </a:p>
        </p:txBody>
      </p:sp>
      <p:sp>
        <p:nvSpPr>
          <p:cNvPr id="2" name="Rectangle 1"/>
          <p:cNvSpPr/>
          <p:nvPr/>
        </p:nvSpPr>
        <p:spPr>
          <a:xfrm>
            <a:off x="533400" y="1143000"/>
            <a:ext cx="8229600" cy="1089529"/>
          </a:xfrm>
          <a:prstGeom prst="rect">
            <a:avLst/>
          </a:prstGeom>
        </p:spPr>
        <p:txBody>
          <a:bodyPr wrap="square">
            <a:spAutoFit/>
          </a:bodyPr>
          <a:lstStyle/>
          <a:p>
            <a:pPr>
              <a:lnSpc>
                <a:spcPct val="90000"/>
              </a:lnSpc>
            </a:pPr>
            <a:r>
              <a:rPr lang="en-US" altLang="en-US" sz="2400" b="0" dirty="0"/>
              <a:t>For nonlinearly separable problems, perceptron learning algorithm will fail because no linear hyperplane can separate the data perfectly </a:t>
            </a:r>
            <a:endParaRPr lang="en-US" altLang="en-US" sz="2400" b="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t>Multi-layer Neural Network</a:t>
            </a:r>
            <a:endParaRPr lang="en-US" altLang="en-US" dirty="0"/>
          </a:p>
        </p:txBody>
      </p:sp>
      <p:graphicFrame>
        <p:nvGraphicFramePr>
          <p:cNvPr id="6148" name="Object 3"/>
          <p:cNvGraphicFramePr>
            <a:graphicFrameLocks noGrp="1" noChangeAspect="1"/>
          </p:cNvGraphicFramePr>
          <p:nvPr>
            <p:ph sz="half" idx="2"/>
          </p:nvPr>
        </p:nvGraphicFramePr>
        <p:xfrm>
          <a:off x="152400" y="1371600"/>
          <a:ext cx="3688729" cy="4462463"/>
        </p:xfrm>
        <a:graphic>
          <a:graphicData uri="http://schemas.openxmlformats.org/presentationml/2006/ole">
            <mc:AlternateContent xmlns:mc="http://schemas.openxmlformats.org/markup-compatibility/2006">
              <mc:Choice xmlns:v="urn:schemas-microsoft-com:vml" Requires="v">
                <p:oleObj spid="_x0000_s24635" name="Visio" r:id="rId2" imgW="5471160" imgH="6616065" progId="Visio.Drawing.6">
                  <p:embed/>
                </p:oleObj>
              </mc:Choice>
              <mc:Fallback>
                <p:oleObj name="Visio" r:id="rId2" imgW="5471160" imgH="6616065" progId="Visio.Drawing.6">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3688729" cy="4462463"/>
                      </a:xfrm>
                      <a:prstGeom prst="rect">
                        <a:avLst/>
                      </a:prstGeom>
                      <a:noFill/>
                      <a:ln>
                        <a:noFill/>
                      </a:ln>
                      <a:effectLst/>
                    </p:spPr>
                  </p:pic>
                </p:oleObj>
              </mc:Fallback>
            </mc:AlternateContent>
          </a:graphicData>
        </a:graphic>
      </p:graphicFrame>
      <p:sp>
        <p:nvSpPr>
          <p:cNvPr id="3" name="Content Placeholder 2"/>
          <p:cNvSpPr>
            <a:spLocks noGrp="1"/>
          </p:cNvSpPr>
          <p:nvPr>
            <p:ph sz="half" idx="1"/>
          </p:nvPr>
        </p:nvSpPr>
        <p:spPr>
          <a:xfrm>
            <a:off x="4191000" y="1524000"/>
            <a:ext cx="4724400" cy="5181600"/>
          </a:xfrm>
        </p:spPr>
        <p:txBody>
          <a:bodyPr/>
          <a:lstStyle/>
          <a:p>
            <a:r>
              <a:rPr lang="en-US" sz="2400" dirty="0"/>
              <a:t>More than one </a:t>
            </a:r>
            <a:r>
              <a:rPr lang="en-US" sz="2400" i="1" dirty="0"/>
              <a:t>hidden layer </a:t>
            </a:r>
            <a:r>
              <a:rPr lang="en-US" sz="2400" dirty="0"/>
              <a:t>of computing nodes</a:t>
            </a:r>
            <a:endParaRPr lang="en-US" sz="2400" dirty="0"/>
          </a:p>
          <a:p>
            <a:endParaRPr lang="en-US" sz="1000" dirty="0"/>
          </a:p>
          <a:p>
            <a:r>
              <a:rPr lang="en-US" sz="2400" dirty="0"/>
              <a:t>Every node in a hidden layer operates on activations from preceding layer and transmits activations forward to nodes of next layer</a:t>
            </a:r>
            <a:endParaRPr lang="en-US" sz="2400" dirty="0"/>
          </a:p>
          <a:p>
            <a:pPr lvl="0"/>
            <a:endParaRPr lang="en-US" sz="1000" dirty="0">
              <a:solidFill>
                <a:srgbClr val="000000"/>
              </a:solidFill>
            </a:endParaRPr>
          </a:p>
          <a:p>
            <a:r>
              <a:rPr lang="en-US" sz="2400" dirty="0"/>
              <a:t>Also referred to as “feedforward neural networks”</a:t>
            </a:r>
            <a:endParaRPr lang="en-US" sz="2400" dirty="0"/>
          </a:p>
          <a:p>
            <a:pPr lvl="0"/>
            <a:endParaRPr lang="en-US" sz="1000" dirty="0">
              <a:solidFill>
                <a:srgbClr val="000000"/>
              </a:solidFill>
            </a:endParaRPr>
          </a:p>
          <a:p>
            <a:pPr lvl="0"/>
            <a:endParaRPr lang="en-US" sz="1000" dirty="0">
              <a:solidFill>
                <a:srgbClr val="000000"/>
              </a:solidFill>
            </a:endParaRPr>
          </a:p>
          <a:p>
            <a:endParaRPr lang="en-US" sz="2400" dirty="0"/>
          </a:p>
          <a:p>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Multi-layer Neural Network</a:t>
            </a:r>
            <a:endParaRPr lang="en-US" altLang="en-US"/>
          </a:p>
        </p:txBody>
      </p:sp>
      <p:sp>
        <p:nvSpPr>
          <p:cNvPr id="15363" name="Rectangle 3"/>
          <p:cNvSpPr>
            <a:spLocks noGrp="1" noChangeArrowheads="1"/>
          </p:cNvSpPr>
          <p:nvPr>
            <p:ph type="body" idx="1"/>
          </p:nvPr>
        </p:nvSpPr>
        <p:spPr/>
        <p:txBody>
          <a:bodyPr/>
          <a:lstStyle/>
          <a:p>
            <a:r>
              <a:rPr lang="en-US" altLang="en-US" dirty="0"/>
              <a:t>Multi-layer neural networks with at least one hidden layer can solve any type of classification task involving nonlinear decision surfaces</a:t>
            </a:r>
            <a:endParaRPr lang="en-US" altLang="en-US" dirty="0"/>
          </a:p>
        </p:txBody>
      </p:sp>
      <p:graphicFrame>
        <p:nvGraphicFramePr>
          <p:cNvPr id="15364" name="Object 2"/>
          <p:cNvGraphicFramePr>
            <a:graphicFrameLocks noGrp="1" noChangeAspect="1"/>
          </p:cNvGraphicFramePr>
          <p:nvPr>
            <p:ph sz="quarter" idx="4294967295"/>
          </p:nvPr>
        </p:nvGraphicFramePr>
        <p:xfrm>
          <a:off x="457200" y="3276600"/>
          <a:ext cx="3981450" cy="2514600"/>
        </p:xfrm>
        <a:graphic>
          <a:graphicData uri="http://schemas.openxmlformats.org/presentationml/2006/ole">
            <mc:AlternateContent xmlns:mc="http://schemas.openxmlformats.org/markup-compatibility/2006">
              <mc:Choice xmlns:v="urn:schemas-microsoft-com:vml" Requires="v">
                <p:oleObj spid="_x0000_s25657" name="Visio" r:id="rId2" imgW="7045960" imgH="4456430" progId="Visio.Drawing.6">
                  <p:embed/>
                </p:oleObj>
              </mc:Choice>
              <mc:Fallback>
                <p:oleObj name="Visio" r:id="rId2" imgW="7045960" imgH="445643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76600"/>
                        <a:ext cx="3981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365" name="Picture 5"/>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4648200" y="2838450"/>
            <a:ext cx="4343400" cy="3257550"/>
          </a:xfrm>
          <a:noFill/>
        </p:spPr>
      </p:pic>
      <p:sp>
        <p:nvSpPr>
          <p:cNvPr id="15366" name="Text Box 6"/>
          <p:cNvSpPr txBox="1">
            <a:spLocks noChangeArrowheads="1"/>
          </p:cNvSpPr>
          <p:nvPr/>
        </p:nvSpPr>
        <p:spPr bwMode="auto">
          <a:xfrm>
            <a:off x="5715000" y="2514600"/>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dirty="0"/>
              <a:t>XOR Data</a:t>
            </a:r>
            <a:endParaRPr lang="en-US"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Multiple Hidden Layers?</a:t>
            </a:r>
            <a:endParaRPr lang="en-US" dirty="0"/>
          </a:p>
        </p:txBody>
      </p:sp>
      <p:sp>
        <p:nvSpPr>
          <p:cNvPr id="5" name="Content Placeholder 4"/>
          <p:cNvSpPr>
            <a:spLocks noGrp="1"/>
          </p:cNvSpPr>
          <p:nvPr>
            <p:ph idx="1"/>
          </p:nvPr>
        </p:nvSpPr>
        <p:spPr>
          <a:xfrm>
            <a:off x="176213" y="1143000"/>
            <a:ext cx="8619815" cy="5181600"/>
          </a:xfrm>
        </p:spPr>
        <p:txBody>
          <a:bodyPr/>
          <a:lstStyle/>
          <a:p>
            <a:r>
              <a:rPr lang="en-US" sz="2600" dirty="0"/>
              <a:t>Activations at hidden layers can be viewed as features extracted as functions of inputs</a:t>
            </a:r>
            <a:endParaRPr lang="en-US" sz="2600" dirty="0"/>
          </a:p>
          <a:p>
            <a:r>
              <a:rPr lang="en-US" sz="2600" dirty="0"/>
              <a:t>Every hidden layer represents a level of abstraction</a:t>
            </a:r>
            <a:endParaRPr lang="en-US" sz="2600" dirty="0"/>
          </a:p>
          <a:p>
            <a:pPr lvl="1"/>
            <a:r>
              <a:rPr lang="en-US" sz="2400" i="1" dirty="0"/>
              <a:t>Complex features are compositions of simpler features</a:t>
            </a:r>
            <a:endParaRPr lang="en-US" sz="2400" i="1" dirty="0"/>
          </a:p>
          <a:p>
            <a:pPr lvl="1"/>
            <a:endParaRPr lang="en-US" sz="2400" i="1" dirty="0"/>
          </a:p>
          <a:p>
            <a:pPr lvl="1"/>
            <a:endParaRPr lang="en-US" sz="2400" i="1" dirty="0"/>
          </a:p>
          <a:p>
            <a:pPr lvl="1"/>
            <a:endParaRPr lang="en-US" sz="2400" i="1" dirty="0"/>
          </a:p>
          <a:p>
            <a:pPr lvl="1"/>
            <a:endParaRPr lang="en-US" sz="2400" i="1" dirty="0"/>
          </a:p>
          <a:p>
            <a:pPr marL="457200" lvl="1" indent="0">
              <a:buNone/>
            </a:pPr>
            <a:endParaRPr lang="en-US" sz="2000" i="1" dirty="0"/>
          </a:p>
          <a:p>
            <a:r>
              <a:rPr lang="en-US" sz="2600" dirty="0"/>
              <a:t>Number of layers is known as </a:t>
            </a:r>
            <a:r>
              <a:rPr lang="en-US" sz="2600" b="1" dirty="0"/>
              <a:t>depth</a:t>
            </a:r>
            <a:r>
              <a:rPr lang="en-US" sz="2600" dirty="0"/>
              <a:t> of ANN</a:t>
            </a:r>
            <a:endParaRPr lang="en-US" sz="2600" dirty="0"/>
          </a:p>
          <a:p>
            <a:pPr lvl="1"/>
            <a:r>
              <a:rPr lang="en-US" sz="2400" i="1" dirty="0"/>
              <a:t>Deeper networks express complex hierarchy of features</a:t>
            </a:r>
            <a:endParaRPr lang="en-US" sz="2400" i="1" dirty="0"/>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l="9595" t="19235" r="8582" b="48436"/>
          <a:stretch>
            <a:fillRect/>
          </a:stretch>
        </p:blipFill>
        <p:spPr bwMode="auto">
          <a:xfrm>
            <a:off x="609600" y="3124200"/>
            <a:ext cx="7931634" cy="183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152400"/>
            <a:ext cx="8280400" cy="533400"/>
          </a:xfrm>
        </p:spPr>
        <p:txBody>
          <a:bodyPr/>
          <a:lstStyle/>
          <a:p>
            <a:r>
              <a:rPr lang="en-US" altLang="en-US" dirty="0"/>
              <a:t>Multi-Layer Network Architecture</a:t>
            </a:r>
            <a:endParaRPr lang="en-US" altLang="en-US" dirty="0"/>
          </a:p>
        </p:txBody>
      </p:sp>
      <p:pic>
        <p:nvPicPr>
          <p:cNvPr id="6" name="Picture 5"/>
          <p:cNvPicPr>
            <a:picLocks noChangeAspect="1"/>
          </p:cNvPicPr>
          <p:nvPr/>
        </p:nvPicPr>
        <p:blipFill>
          <a:blip r:embed="rId2"/>
          <a:stretch>
            <a:fillRect/>
          </a:stretch>
        </p:blipFill>
        <p:spPr>
          <a:xfrm>
            <a:off x="3124200" y="4495800"/>
            <a:ext cx="3967201" cy="813785"/>
          </a:xfrm>
          <a:prstGeom prst="rect">
            <a:avLst/>
          </a:prstGeom>
        </p:spPr>
      </p:pic>
      <p:sp>
        <p:nvSpPr>
          <p:cNvPr id="7" name="TextBox 6"/>
          <p:cNvSpPr txBox="1"/>
          <p:nvPr/>
        </p:nvSpPr>
        <p:spPr>
          <a:xfrm>
            <a:off x="767952" y="5466649"/>
            <a:ext cx="2057400" cy="646331"/>
          </a:xfrm>
          <a:prstGeom prst="rect">
            <a:avLst/>
          </a:prstGeom>
          <a:noFill/>
        </p:spPr>
        <p:txBody>
          <a:bodyPr wrap="square" rtlCol="0">
            <a:spAutoFit/>
          </a:bodyPr>
          <a:lstStyle/>
          <a:p>
            <a:pPr algn="ctr"/>
            <a:r>
              <a:rPr lang="en-US" sz="1800" dirty="0"/>
              <a:t>Activation value </a:t>
            </a:r>
            <a:r>
              <a:rPr lang="en-US" sz="1800" b="0" dirty="0"/>
              <a:t>at node </a:t>
            </a:r>
            <a:r>
              <a:rPr lang="en-US" sz="1800" b="0" dirty="0" err="1"/>
              <a:t>i</a:t>
            </a:r>
            <a:r>
              <a:rPr lang="en-US" sz="1800" b="0" dirty="0"/>
              <a:t> at layer l</a:t>
            </a:r>
            <a:endParaRPr lang="en-US" sz="1800" b="0" baseline="30000" dirty="0"/>
          </a:p>
        </p:txBody>
      </p:sp>
      <p:pic>
        <p:nvPicPr>
          <p:cNvPr id="8" name="Picture 7"/>
          <p:cNvPicPr>
            <a:picLocks noChangeAspect="1"/>
          </p:cNvPicPr>
          <p:nvPr/>
        </p:nvPicPr>
        <p:blipFill>
          <a:blip r:embed="rId3"/>
          <a:stretch>
            <a:fillRect/>
          </a:stretch>
        </p:blipFill>
        <p:spPr>
          <a:xfrm>
            <a:off x="1611719" y="1143000"/>
            <a:ext cx="5942419" cy="3048000"/>
          </a:xfrm>
          <a:prstGeom prst="rect">
            <a:avLst/>
          </a:prstGeom>
        </p:spPr>
      </p:pic>
      <p:sp>
        <p:nvSpPr>
          <p:cNvPr id="17" name="TextBox 16"/>
          <p:cNvSpPr txBox="1"/>
          <p:nvPr/>
        </p:nvSpPr>
        <p:spPr>
          <a:xfrm>
            <a:off x="3178968" y="5506325"/>
            <a:ext cx="1414463" cy="646331"/>
          </a:xfrm>
          <a:prstGeom prst="rect">
            <a:avLst/>
          </a:prstGeom>
          <a:solidFill>
            <a:schemeClr val="accent5"/>
          </a:solidFill>
        </p:spPr>
        <p:txBody>
          <a:bodyPr wrap="square" rtlCol="0">
            <a:spAutoFit/>
          </a:bodyPr>
          <a:lstStyle/>
          <a:p>
            <a:pPr algn="ctr"/>
            <a:r>
              <a:rPr lang="en-US" sz="1800" dirty="0"/>
              <a:t>Activation Function</a:t>
            </a:r>
            <a:endParaRPr lang="en-US" sz="1800" b="0" baseline="30000" dirty="0"/>
          </a:p>
        </p:txBody>
      </p:sp>
      <p:sp>
        <p:nvSpPr>
          <p:cNvPr id="18" name="TextBox 17"/>
          <p:cNvSpPr txBox="1"/>
          <p:nvPr/>
        </p:nvSpPr>
        <p:spPr>
          <a:xfrm>
            <a:off x="4809550" y="5705557"/>
            <a:ext cx="2425302" cy="369332"/>
          </a:xfrm>
          <a:prstGeom prst="rect">
            <a:avLst/>
          </a:prstGeom>
          <a:noFill/>
        </p:spPr>
        <p:txBody>
          <a:bodyPr wrap="square" rtlCol="0">
            <a:spAutoFit/>
          </a:bodyPr>
          <a:lstStyle/>
          <a:p>
            <a:pPr algn="ctr"/>
            <a:r>
              <a:rPr lang="en-US" sz="1800" dirty="0"/>
              <a:t>Linear Predictor</a:t>
            </a:r>
            <a:endParaRPr lang="en-US" sz="1800" b="0" baseline="30000" dirty="0"/>
          </a:p>
        </p:txBody>
      </p:sp>
      <p:cxnSp>
        <p:nvCxnSpPr>
          <p:cNvPr id="19" name="Straight Arrow Connector 18"/>
          <p:cNvCxnSpPr/>
          <p:nvPr/>
        </p:nvCxnSpPr>
        <p:spPr bwMode="auto">
          <a:xfrm flipV="1">
            <a:off x="3886200" y="4993180"/>
            <a:ext cx="0" cy="50898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1" name="Straight Arrow Connector 20"/>
          <p:cNvCxnSpPr>
            <a:stCxn id="7" idx="0"/>
            <a:endCxn id="6" idx="1"/>
          </p:cNvCxnSpPr>
          <p:nvPr/>
        </p:nvCxnSpPr>
        <p:spPr bwMode="auto">
          <a:xfrm flipV="1">
            <a:off x="1796652" y="4902693"/>
            <a:ext cx="1327548" cy="56395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2" name="Left Brace 21"/>
          <p:cNvSpPr/>
          <p:nvPr/>
        </p:nvSpPr>
        <p:spPr bwMode="auto">
          <a:xfrm rot="16200000">
            <a:off x="5818436" y="4550469"/>
            <a:ext cx="407531" cy="1828802"/>
          </a:xfrm>
          <a:prstGeom prst="leftBrace">
            <a:avLst>
              <a:gd name="adj1" fmla="val 110003"/>
              <a:gd name="adj2" fmla="val 52091"/>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4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18" grpId="0"/>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Activation Functions</a:t>
            </a:r>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62200"/>
            <a:ext cx="5302250"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 name="Picture 4"/>
          <p:cNvPicPr>
            <a:picLocks noChangeAspect="1"/>
          </p:cNvPicPr>
          <p:nvPr/>
        </p:nvPicPr>
        <p:blipFill>
          <a:blip r:embed="rId3"/>
          <a:stretch>
            <a:fillRect/>
          </a:stretch>
        </p:blipFill>
        <p:spPr>
          <a:xfrm>
            <a:off x="2667000" y="1091215"/>
            <a:ext cx="3967201" cy="813785"/>
          </a:xfrm>
          <a:prstGeom prst="rect">
            <a:avLst/>
          </a:prstGeom>
        </p:spPr>
      </p:pic>
      <p:pic>
        <p:nvPicPr>
          <p:cNvPr id="3" name="Picture 2"/>
          <p:cNvPicPr>
            <a:picLocks noChangeAspect="1"/>
          </p:cNvPicPr>
          <p:nvPr/>
        </p:nvPicPr>
        <p:blipFill>
          <a:blip r:embed="rId4"/>
          <a:stretch>
            <a:fillRect/>
          </a:stretch>
        </p:blipFill>
        <p:spPr>
          <a:xfrm>
            <a:off x="5943600" y="2362200"/>
            <a:ext cx="2863800" cy="1057275"/>
          </a:xfrm>
          <a:prstGeom prst="rect">
            <a:avLst/>
          </a:prstGeom>
        </p:spPr>
      </p:pic>
      <p:pic>
        <p:nvPicPr>
          <p:cNvPr id="6" name="Picture 5"/>
          <p:cNvPicPr>
            <a:picLocks noChangeAspect="1"/>
          </p:cNvPicPr>
          <p:nvPr/>
        </p:nvPicPr>
        <p:blipFill>
          <a:blip r:embed="rId5"/>
          <a:stretch>
            <a:fillRect/>
          </a:stretch>
        </p:blipFill>
        <p:spPr>
          <a:xfrm>
            <a:off x="6182891" y="3276600"/>
            <a:ext cx="2351509" cy="65118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Learning Multi-layer Neural Network</a:t>
            </a:r>
            <a:endParaRPr lang="en-US" altLang="en-US"/>
          </a:p>
        </p:txBody>
      </p:sp>
      <mc:AlternateContent xmlns:mc="http://schemas.openxmlformats.org/markup-compatibility/2006">
        <mc:Choice xmlns:a14="http://schemas.microsoft.com/office/drawing/2010/main" Requires="a14">
          <p:sp>
            <p:nvSpPr>
              <p:cNvPr id="16387" name="Rectangle 3"/>
              <p:cNvSpPr>
                <a:spLocks noGrp="1" noChangeArrowheads="1"/>
              </p:cNvSpPr>
              <p:nvPr>
                <p:ph type="body" idx="1"/>
              </p:nvPr>
            </p:nvSpPr>
            <p:spPr/>
            <p:txBody>
              <a:bodyPr/>
              <a:lstStyle/>
              <a:p>
                <a:pPr>
                  <a:lnSpc>
                    <a:spcPct val="90000"/>
                  </a:lnSpc>
                </a:pPr>
                <a:r>
                  <a:rPr lang="en-US" altLang="en-US" dirty="0"/>
                  <a:t>Can we apply perceptron learning rule to each node, including hidden nodes?</a:t>
                </a:r>
                <a:endParaRPr lang="en-US" altLang="en-US" dirty="0"/>
              </a:p>
              <a:p>
                <a:pPr lvl="1">
                  <a:lnSpc>
                    <a:spcPct val="90000"/>
                  </a:lnSpc>
                </a:pPr>
                <a:r>
                  <a:rPr lang="en-US" altLang="en-US" dirty="0"/>
                  <a:t>Perceptron learning rule computes error term e = y - </a:t>
                </a:r>
                <a14:m>
                  <m:oMath xmlns:m="http://schemas.openxmlformats.org/officeDocument/2006/math">
                    <m:acc>
                      <m:accPr>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and updates weights accordingly</a:t>
                </a:r>
                <a:endParaRPr lang="en-US" altLang="en-US" dirty="0"/>
              </a:p>
              <a:p>
                <a:pPr marL="1254125" lvl="2" indent="-339725">
                  <a:lnSpc>
                    <a:spcPct val="90000"/>
                  </a:lnSpc>
                </a:pPr>
                <a:r>
                  <a:rPr lang="en-US" altLang="en-US" dirty="0"/>
                  <a:t>Problem: how to determine the true value of y for hidden nodes?</a:t>
                </a:r>
                <a:endParaRPr lang="en-US" altLang="en-US" dirty="0"/>
              </a:p>
              <a:p>
                <a:pPr lvl="1">
                  <a:lnSpc>
                    <a:spcPct val="90000"/>
                  </a:lnSpc>
                </a:pPr>
                <a:r>
                  <a:rPr lang="en-US" altLang="en-US" dirty="0"/>
                  <a:t>Approximate error in hidden nodes by error in the output nodes</a:t>
                </a:r>
                <a:endParaRPr lang="en-US" altLang="en-US" dirty="0"/>
              </a:p>
              <a:p>
                <a:pPr lvl="2">
                  <a:lnSpc>
                    <a:spcPct val="90000"/>
                  </a:lnSpc>
                </a:pPr>
                <a:r>
                  <a:rPr lang="en-US" altLang="en-US" dirty="0"/>
                  <a:t> Problem: </a:t>
                </a:r>
                <a:endParaRPr lang="en-US" altLang="en-US" dirty="0"/>
              </a:p>
              <a:p>
                <a:pPr lvl="3">
                  <a:lnSpc>
                    <a:spcPct val="90000"/>
                  </a:lnSpc>
                </a:pPr>
                <a:r>
                  <a:rPr lang="en-US" altLang="en-US" dirty="0"/>
                  <a:t>Not clear how adjustment in the hidden nodes affect overall error </a:t>
                </a:r>
                <a:endParaRPr lang="en-US" altLang="en-US" dirty="0"/>
              </a:p>
              <a:p>
                <a:pPr lvl="3">
                  <a:lnSpc>
                    <a:spcPct val="90000"/>
                  </a:lnSpc>
                </a:pPr>
                <a:r>
                  <a:rPr lang="en-US" altLang="en-US" dirty="0"/>
                  <a:t>No guarantee of convergence to optimal solution</a:t>
                </a:r>
                <a:endParaRPr lang="en-US" altLang="en-US" dirty="0"/>
              </a:p>
            </p:txBody>
          </p:sp>
        </mc:Choice>
        <mc:Fallback>
          <p:sp>
            <p:nvSpPr>
              <p:cNvPr id="16387" name="Rectangle 3"/>
              <p:cNvSpPr>
                <a:spLocks noRot="1" noChangeAspect="1" noMove="1" noResize="1" noEditPoints="1" noAdjustHandles="1" noChangeArrowheads="1" noChangeShapeType="1" noTextEdit="1"/>
              </p:cNvSpPr>
              <p:nvPr>
                <p:ph type="body" idx="1"/>
              </p:nvPr>
            </p:nvSpPr>
            <p:spPr>
              <a:blipFill rotWithShape="1">
                <a:blip r:embed="rId2"/>
                <a:stretch>
                  <a:fillRect l="-4" r="4"/>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a:t>
            </a:r>
            <a:endParaRPr lang="en-US" dirty="0"/>
          </a:p>
        </p:txBody>
      </p:sp>
      <p:sp>
        <p:nvSpPr>
          <p:cNvPr id="3" name="Content Placeholder 2"/>
          <p:cNvSpPr>
            <a:spLocks noGrp="1"/>
          </p:cNvSpPr>
          <p:nvPr>
            <p:ph idx="1"/>
          </p:nvPr>
        </p:nvSpPr>
        <p:spPr/>
        <p:txBody>
          <a:bodyPr/>
          <a:lstStyle/>
          <a:p>
            <a:r>
              <a:rPr lang="en-US" sz="2400" dirty="0"/>
              <a:t>Loss Function to measure errors across all training points</a:t>
            </a:r>
            <a:endParaRPr lang="en-US" sz="2400" dirty="0"/>
          </a:p>
          <a:p>
            <a:endParaRPr lang="en-US" sz="2400" dirty="0"/>
          </a:p>
          <a:p>
            <a:endParaRPr lang="en-US" sz="2400" dirty="0"/>
          </a:p>
          <a:p>
            <a:pPr lvl="1"/>
            <a:endParaRPr lang="en-US" sz="1200" dirty="0"/>
          </a:p>
          <a:p>
            <a:pPr lvl="0"/>
            <a:r>
              <a:rPr lang="en-US" sz="2400" dirty="0">
                <a:solidFill>
                  <a:srgbClr val="000000"/>
                </a:solidFill>
              </a:rPr>
              <a:t>Gradient descent: Update parameters in the direction of “maximum descent” in the loss function across all points</a:t>
            </a:r>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r>
              <a:rPr lang="en-US" altLang="en-US" sz="2000" dirty="0"/>
              <a:t>Stochastic gradient descent (SGD): update the weight for every instance (minibatch SGD: update over min-batches of instances)</a:t>
            </a:r>
            <a:endParaRPr lang="en-US" sz="2000" dirty="0">
              <a:solidFill>
                <a:srgbClr val="000000"/>
              </a:solidFill>
            </a:endParaRPr>
          </a:p>
          <a:p>
            <a:pPr lvl="1"/>
            <a:endParaRPr lang="en-US" sz="2400" dirty="0"/>
          </a:p>
        </p:txBody>
      </p:sp>
      <p:pic>
        <p:nvPicPr>
          <p:cNvPr id="4" name="Picture 3"/>
          <p:cNvPicPr>
            <a:picLocks noChangeAspect="1"/>
          </p:cNvPicPr>
          <p:nvPr/>
        </p:nvPicPr>
        <p:blipFill>
          <a:blip r:embed="rId2"/>
          <a:stretch>
            <a:fillRect/>
          </a:stretch>
        </p:blipFill>
        <p:spPr>
          <a:xfrm>
            <a:off x="724351" y="1672023"/>
            <a:ext cx="3386137" cy="1039224"/>
          </a:xfrm>
          <a:prstGeom prst="rect">
            <a:avLst/>
          </a:prstGeom>
        </p:spPr>
      </p:pic>
      <p:pic>
        <p:nvPicPr>
          <p:cNvPr id="5" name="Picture 4"/>
          <p:cNvPicPr>
            <a:picLocks noChangeAspect="1"/>
          </p:cNvPicPr>
          <p:nvPr/>
        </p:nvPicPr>
        <p:blipFill>
          <a:blip r:embed="rId3"/>
          <a:stretch>
            <a:fillRect/>
          </a:stretch>
        </p:blipFill>
        <p:spPr>
          <a:xfrm>
            <a:off x="4524513" y="2195022"/>
            <a:ext cx="3419475" cy="514350"/>
          </a:xfrm>
          <a:prstGeom prst="rect">
            <a:avLst/>
          </a:prstGeom>
        </p:spPr>
      </p:pic>
      <p:pic>
        <p:nvPicPr>
          <p:cNvPr id="6" name="Picture 5"/>
          <p:cNvPicPr>
            <a:picLocks noChangeAspect="1"/>
          </p:cNvPicPr>
          <p:nvPr/>
        </p:nvPicPr>
        <p:blipFill>
          <a:blip r:embed="rId4"/>
          <a:stretch>
            <a:fillRect/>
          </a:stretch>
        </p:blipFill>
        <p:spPr>
          <a:xfrm>
            <a:off x="1858265" y="3761394"/>
            <a:ext cx="3048000" cy="1651760"/>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5803997" y="4200485"/>
                <a:ext cx="1888209"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𝜆</m:t>
                    </m:r>
                  </m:oMath>
                </a14:m>
                <a:r>
                  <a:rPr lang="en-US" sz="2000" b="0" dirty="0"/>
                  <a:t>: learning rate</a:t>
                </a:r>
                <a:endParaRPr lang="en-US" sz="2000" b="0" dirty="0"/>
              </a:p>
            </p:txBody>
          </p:sp>
        </mc:Choice>
        <mc:Fallback>
          <p:sp>
            <p:nvSpPr>
              <p:cNvPr id="7" name="TextBox 6"/>
              <p:cNvSpPr txBox="1">
                <a:spLocks noRot="1" noChangeAspect="1" noMove="1" noResize="1" noEditPoints="1" noAdjustHandles="1" noChangeArrowheads="1" noChangeShapeType="1" noTextEdit="1"/>
              </p:cNvSpPr>
              <p:nvPr/>
            </p:nvSpPr>
            <p:spPr>
              <a:xfrm>
                <a:off x="5803997" y="4200485"/>
                <a:ext cx="1888209" cy="400110"/>
              </a:xfrm>
              <a:prstGeom prst="rect">
                <a:avLst/>
              </a:prstGeom>
              <a:blipFill rotWithShape="1">
                <a:blip r:embed="rId5"/>
                <a:stretch>
                  <a:fillRect l="-5" t="-149" r="24" b="5"/>
                </a:stretch>
              </a:blipFill>
            </p:spPr>
            <p:txBody>
              <a:bodyPr/>
              <a:lstStyle/>
              <a:p>
                <a:r>
                  <a:rPr lang="zh-CN" altLang="en-US">
                    <a:noFill/>
                  </a:rPr>
                  <a:t> </a:t>
                </a:r>
              </a:p>
            </p:txBody>
          </p:sp>
        </mc:Fallback>
      </mc:AlternateContent>
      <p:sp>
        <p:nvSpPr>
          <p:cNvPr id="8" name="Rectangle 7"/>
          <p:cNvSpPr/>
          <p:nvPr/>
        </p:nvSpPr>
        <p:spPr>
          <a:xfrm>
            <a:off x="4906265" y="1791525"/>
            <a:ext cx="2299027" cy="400110"/>
          </a:xfrm>
          <a:prstGeom prst="rect">
            <a:avLst/>
          </a:prstGeom>
        </p:spPr>
        <p:txBody>
          <a:bodyPr wrap="none">
            <a:spAutoFit/>
          </a:bodyPr>
          <a:lstStyle/>
          <a:p>
            <a:pPr lvl="1">
              <a:spcBef>
                <a:spcPct val="10000"/>
              </a:spcBef>
              <a:spcAft>
                <a:spcPts val="400"/>
              </a:spcAft>
              <a:buClr>
                <a:srgbClr val="0C7B9C"/>
              </a:buClr>
              <a:buSzPct val="100000"/>
            </a:pPr>
            <a:r>
              <a:rPr lang="en-US" sz="2000" b="0" kern="0" dirty="0">
                <a:solidFill>
                  <a:srgbClr val="000000"/>
                </a:solidFill>
                <a:latin typeface="Arial" panose="020B0604020202020204"/>
              </a:rPr>
              <a:t>Squared Loss:</a:t>
            </a:r>
            <a:endParaRPr lang="en-US" sz="2000" b="0" kern="0" dirty="0">
              <a:solidFill>
                <a:srgbClr val="000000"/>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Gradients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endParaRPr lang="en-US" sz="2400" dirty="0"/>
              </a:p>
              <a:p>
                <a:endParaRPr lang="en-US" sz="2400" dirty="0"/>
              </a:p>
              <a:p>
                <a:r>
                  <a:rPr lang="en-US" sz="2400" dirty="0"/>
                  <a:t>Using chain rule of differentiation (on a single instance):</a:t>
                </a:r>
                <a:endParaRPr lang="en-US" sz="2400" dirty="0"/>
              </a:p>
              <a:p>
                <a:endParaRPr lang="en-US" sz="2400" dirty="0"/>
              </a:p>
              <a:p>
                <a:endParaRPr lang="en-US" sz="3200" dirty="0"/>
              </a:p>
              <a:p>
                <a:r>
                  <a:rPr lang="en-US" sz="2400" dirty="0"/>
                  <a:t>For sigmoid activation function:</a:t>
                </a:r>
                <a:endParaRPr lang="en-US" sz="2400" dirty="0"/>
              </a:p>
              <a:p>
                <a:endParaRPr lang="en-US" sz="2400" dirty="0"/>
              </a:p>
              <a:p>
                <a:endParaRPr lang="en-US" sz="2400" dirty="0"/>
              </a:p>
              <a:p>
                <a:endParaRPr lang="en-US" sz="2400" dirty="0"/>
              </a:p>
              <a:p>
                <a:endParaRPr lang="en-US" sz="2400" dirty="0"/>
              </a:p>
              <a:p>
                <a:r>
                  <a:rPr lang="en-US" sz="2400" dirty="0"/>
                  <a:t>How can we compute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𝑙</m:t>
                        </m:r>
                      </m:sup>
                    </m:sSubSup>
                  </m:oMath>
                </a14:m>
                <a:r>
                  <a:rPr lang="en-US" sz="2400" dirty="0"/>
                  <a:t> for every layer? </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l="-4" r="4"/>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762000" y="1046036"/>
            <a:ext cx="3116494" cy="1006620"/>
          </a:xfrm>
          <a:prstGeom prst="rect">
            <a:avLst/>
          </a:prstGeom>
        </p:spPr>
      </p:pic>
      <p:pic>
        <p:nvPicPr>
          <p:cNvPr id="5" name="Picture 4"/>
          <p:cNvPicPr>
            <a:picLocks noChangeAspect="1"/>
          </p:cNvPicPr>
          <p:nvPr/>
        </p:nvPicPr>
        <p:blipFill>
          <a:blip r:embed="rId4"/>
          <a:stretch>
            <a:fillRect/>
          </a:stretch>
        </p:blipFill>
        <p:spPr>
          <a:xfrm>
            <a:off x="2590800" y="2651778"/>
            <a:ext cx="3543300" cy="789190"/>
          </a:xfrm>
          <a:prstGeom prst="rect">
            <a:avLst/>
          </a:prstGeom>
        </p:spPr>
      </p:pic>
      <p:pic>
        <p:nvPicPr>
          <p:cNvPr id="6" name="Picture 5"/>
          <p:cNvPicPr>
            <a:picLocks noChangeAspect="1"/>
          </p:cNvPicPr>
          <p:nvPr/>
        </p:nvPicPr>
        <p:blipFill>
          <a:blip r:embed="rId5"/>
          <a:stretch>
            <a:fillRect/>
          </a:stretch>
        </p:blipFill>
        <p:spPr>
          <a:xfrm>
            <a:off x="4809660" y="1371600"/>
            <a:ext cx="3506130" cy="719206"/>
          </a:xfrm>
          <a:prstGeom prst="rect">
            <a:avLst/>
          </a:prstGeom>
        </p:spPr>
      </p:pic>
      <p:pic>
        <p:nvPicPr>
          <p:cNvPr id="7" name="Picture 6"/>
          <p:cNvPicPr>
            <a:picLocks noChangeAspect="1"/>
          </p:cNvPicPr>
          <p:nvPr/>
        </p:nvPicPr>
        <p:blipFill>
          <a:blip r:embed="rId6"/>
          <a:stretch>
            <a:fillRect/>
          </a:stretch>
        </p:blipFill>
        <p:spPr>
          <a:xfrm>
            <a:off x="1828800" y="4114800"/>
            <a:ext cx="4733925" cy="1733550"/>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5893485" y="1033046"/>
                <a:ext cx="900568" cy="33855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trlPr>
                            <a:rPr lang="en-US" sz="2200" b="0" i="1" smtClean="0">
                              <a:latin typeface="Cambria Math" panose="02040503050406030204" pitchFamily="18" charset="0"/>
                            </a:rPr>
                          </m:ctrlPr>
                        </m:accPr>
                        <m:e>
                          <m:r>
                            <a:rPr lang="en-US" sz="2200" b="0" i="1" smtClean="0">
                              <a:latin typeface="Cambria Math" panose="02040503050406030204" pitchFamily="18" charset="0"/>
                            </a:rPr>
                            <m:t>𝑦</m:t>
                          </m:r>
                        </m:e>
                      </m:acc>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𝑎</m:t>
                          </m:r>
                        </m:e>
                        <m:sup>
                          <m:r>
                            <a:rPr lang="en-US" sz="2200" b="0" i="1" smtClean="0">
                              <a:latin typeface="Cambria Math" panose="02040503050406030204" pitchFamily="18" charset="0"/>
                            </a:rPr>
                            <m:t>𝐿</m:t>
                          </m:r>
                        </m:sup>
                      </m:sSup>
                    </m:oMath>
                  </m:oMathPara>
                </a14:m>
                <a:endParaRPr lang="en-US" sz="2200" b="0" dirty="0"/>
              </a:p>
            </p:txBody>
          </p:sp>
        </mc:Choice>
        <mc:Fallback>
          <p:sp>
            <p:nvSpPr>
              <p:cNvPr id="8" name="TextBox 7"/>
              <p:cNvSpPr txBox="1">
                <a:spLocks noRot="1" noChangeAspect="1" noMove="1" noResize="1" noEditPoints="1" noAdjustHandles="1" noChangeArrowheads="1" noChangeShapeType="1" noTextEdit="1"/>
              </p:cNvSpPr>
              <p:nvPr/>
            </p:nvSpPr>
            <p:spPr>
              <a:xfrm>
                <a:off x="5893485" y="1033046"/>
                <a:ext cx="900568" cy="338554"/>
              </a:xfrm>
              <a:prstGeom prst="rect">
                <a:avLst/>
              </a:prstGeom>
              <a:blipFill rotWithShape="1">
                <a:blip r:embed="rId7"/>
                <a:stretch>
                  <a:fillRect l="-6" t="-158" r="-11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2971800" y="1689556"/>
                <a:ext cx="172996" cy="215444"/>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p:sp>
            <p:nvSpPr>
              <p:cNvPr id="10" name="TextBox 9"/>
              <p:cNvSpPr txBox="1">
                <a:spLocks noRot="1" noChangeAspect="1" noMove="1" noResize="1" noEditPoints="1" noAdjustHandles="1" noChangeArrowheads="1" noChangeShapeType="1" noTextEdit="1"/>
              </p:cNvSpPr>
              <p:nvPr/>
            </p:nvSpPr>
            <p:spPr>
              <a:xfrm>
                <a:off x="2971800" y="1689556"/>
                <a:ext cx="172996" cy="215444"/>
              </a:xfrm>
              <a:prstGeom prst="rect">
                <a:avLst/>
              </a:prstGeom>
              <a:blipFill rotWithShape="1">
                <a:blip r:embed="rId8"/>
                <a:stretch>
                  <a:fillRect t="-212" r="-75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143000" y="1705043"/>
                <a:ext cx="172996" cy="215444"/>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p:sp>
            <p:nvSpPr>
              <p:cNvPr id="11" name="TextBox 10"/>
              <p:cNvSpPr txBox="1">
                <a:spLocks noRot="1" noChangeAspect="1" noMove="1" noResize="1" noEditPoints="1" noAdjustHandles="1" noChangeArrowheads="1" noChangeShapeType="1" noTextEdit="1"/>
              </p:cNvSpPr>
              <p:nvPr/>
            </p:nvSpPr>
            <p:spPr>
              <a:xfrm>
                <a:off x="1143000" y="1705043"/>
                <a:ext cx="172996" cy="215444"/>
              </a:xfrm>
              <a:prstGeom prst="rect">
                <a:avLst/>
              </a:prstGeom>
              <a:blipFill rotWithShape="1">
                <a:blip r:embed="rId8"/>
                <a:stretch>
                  <a:fillRect t="-32" r="-7549" b="11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Backpropagation Algorithm</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28600" y="1066800"/>
                <a:ext cx="8686800" cy="5257800"/>
              </a:xfrm>
            </p:spPr>
            <p:txBody>
              <a:bodyPr/>
              <a:lstStyle/>
              <a:p>
                <a:r>
                  <a:rPr lang="en-US" sz="2400" dirty="0"/>
                  <a:t>At output layer L:</a:t>
                </a:r>
                <a:endParaRPr lang="en-US" sz="2400" dirty="0"/>
              </a:p>
              <a:p>
                <a:endParaRPr lang="en-US" sz="2400" dirty="0"/>
              </a:p>
              <a:p>
                <a:pPr marL="0" indent="0">
                  <a:buNone/>
                </a:pPr>
                <a:endParaRPr lang="en-US" sz="3200" dirty="0"/>
              </a:p>
              <a:p>
                <a:r>
                  <a:rPr lang="en-US" sz="2400" dirty="0"/>
                  <a:t>At a hidden layer </a:t>
                </a:r>
                <a14:m>
                  <m:oMath xmlns:m="http://schemas.openxmlformats.org/officeDocument/2006/math">
                    <m:r>
                      <a:rPr lang="en-US" sz="2400" b="0" i="1" smtClean="0">
                        <a:latin typeface="Cambria Math" panose="02040503050406030204" pitchFamily="18" charset="0"/>
                      </a:rPr>
                      <m:t>𝑙</m:t>
                    </m:r>
                  </m:oMath>
                </a14:m>
                <a:r>
                  <a:rPr lang="en-US" sz="2400" dirty="0"/>
                  <a:t> (using chain rule):</a:t>
                </a:r>
                <a:endParaRPr lang="en-US" sz="2400" dirty="0"/>
              </a:p>
              <a:p>
                <a:endParaRPr lang="en-US" sz="2400" dirty="0"/>
              </a:p>
              <a:p>
                <a:endParaRPr lang="en-US" sz="2400" dirty="0"/>
              </a:p>
              <a:p>
                <a:pPr lvl="1"/>
                <a:r>
                  <a:rPr lang="en-US" sz="2000" dirty="0"/>
                  <a:t>Gradients at layer l can be computed using gradients at layer l + 1</a:t>
                </a:r>
                <a:endParaRPr lang="en-US" sz="2000" dirty="0"/>
              </a:p>
              <a:p>
                <a:pPr lvl="1"/>
                <a:r>
                  <a:rPr lang="en-US" sz="2000" dirty="0"/>
                  <a:t>Start from layer L and “backpropagate” gradients to all previous layers</a:t>
                </a:r>
                <a:endParaRPr lang="en-US" sz="2000" dirty="0"/>
              </a:p>
              <a:p>
                <a:pPr lvl="1"/>
                <a:endParaRPr lang="en-US" sz="100" dirty="0"/>
              </a:p>
              <a:p>
                <a:r>
                  <a:rPr lang="en-US" altLang="en-US" sz="2000" dirty="0"/>
                  <a:t>Use gradient descent to update weights at every epoch</a:t>
                </a:r>
                <a:endParaRPr lang="en-US" altLang="en-US" sz="2000" dirty="0"/>
              </a:p>
              <a:p>
                <a:r>
                  <a:rPr lang="en-US" altLang="en-US" sz="2000" dirty="0"/>
                  <a:t>For next epoch, use updated weights to compute loss fn. and its gradient</a:t>
                </a:r>
                <a:endParaRPr lang="en-US" altLang="en-US" sz="2000" dirty="0"/>
              </a:p>
              <a:p>
                <a:r>
                  <a:rPr lang="en-US" altLang="en-US" sz="2000" dirty="0"/>
                  <a:t>Iterate until convergence (loss does not change)</a:t>
                </a:r>
                <a:r>
                  <a:rPr lang="en-US" altLang="en-US" sz="2400" dirty="0"/>
                  <a:t> </a:t>
                </a:r>
                <a:endParaRPr lang="en-US" altLang="en-US" sz="2400" dirty="0"/>
              </a:p>
              <a:p>
                <a:endParaRPr lang="en-US" sz="2400" dirty="0"/>
              </a:p>
              <a:p>
                <a:endParaRPr lang="en-US" sz="2400" dirty="0"/>
              </a:p>
              <a:p>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28600" y="1066800"/>
                <a:ext cx="8686800" cy="5257800"/>
              </a:xfrm>
              <a:blipFill rotWithShape="1">
                <a:blip r:embed="rId2"/>
                <a:stretch>
                  <a:fillRect b="-24300"/>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2023844" y="1649754"/>
            <a:ext cx="5090631" cy="1010708"/>
          </a:xfrm>
          <a:prstGeom prst="rect">
            <a:avLst/>
          </a:prstGeom>
        </p:spPr>
      </p:pic>
      <p:pic>
        <p:nvPicPr>
          <p:cNvPr id="6" name="Picture 5"/>
          <p:cNvPicPr>
            <a:picLocks noChangeAspect="1"/>
          </p:cNvPicPr>
          <p:nvPr/>
        </p:nvPicPr>
        <p:blipFill rotWithShape="1">
          <a:blip r:embed="rId4"/>
          <a:srcRect t="69314"/>
          <a:stretch>
            <a:fillRect/>
          </a:stretch>
        </p:blipFill>
        <p:spPr>
          <a:xfrm>
            <a:off x="1905000" y="3152775"/>
            <a:ext cx="5534025" cy="809625"/>
          </a:xfrm>
          <a:prstGeom prst="rect">
            <a:avLst/>
          </a:prstGeom>
        </p:spPr>
      </p:pic>
      <p:pic>
        <p:nvPicPr>
          <p:cNvPr id="5" name="Picture 4"/>
          <p:cNvPicPr>
            <a:picLocks noChangeAspect="1"/>
          </p:cNvPicPr>
          <p:nvPr/>
        </p:nvPicPr>
        <p:blipFill rotWithShape="1">
          <a:blip r:embed="rId4"/>
          <a:srcRect t="2887" r="91738" b="74008"/>
          <a:stretch>
            <a:fillRect/>
          </a:stretch>
        </p:blipFill>
        <p:spPr>
          <a:xfrm>
            <a:off x="2012269" y="3167063"/>
            <a:ext cx="457201" cy="6096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Design Issues in ANN</a:t>
            </a:r>
            <a:endParaRPr lang="en-US" altLang="en-US"/>
          </a:p>
        </p:txBody>
      </p:sp>
      <p:sp>
        <p:nvSpPr>
          <p:cNvPr id="19459" name="Rectangle 3"/>
          <p:cNvSpPr>
            <a:spLocks noGrp="1" noChangeArrowheads="1"/>
          </p:cNvSpPr>
          <p:nvPr>
            <p:ph type="body" idx="1"/>
          </p:nvPr>
        </p:nvSpPr>
        <p:spPr/>
        <p:txBody>
          <a:bodyPr/>
          <a:lstStyle/>
          <a:p>
            <a:r>
              <a:rPr lang="en-US" altLang="en-US" sz="2400" dirty="0"/>
              <a:t>Number of nodes in input layer </a:t>
            </a:r>
            <a:endParaRPr lang="en-US" altLang="en-US" sz="2400" dirty="0"/>
          </a:p>
          <a:p>
            <a:pPr lvl="1"/>
            <a:r>
              <a:rPr lang="en-US" altLang="en-US" sz="2000" dirty="0"/>
              <a:t>One input node per </a:t>
            </a:r>
            <a:r>
              <a:rPr lang="en-US" altLang="en-US" sz="2000" b="1" dirty="0"/>
              <a:t>binary/continuous</a:t>
            </a:r>
            <a:r>
              <a:rPr lang="en-US" altLang="en-US" sz="2000" dirty="0"/>
              <a:t> attribute</a:t>
            </a:r>
            <a:endParaRPr lang="en-US" altLang="en-US" sz="2000" dirty="0"/>
          </a:p>
          <a:p>
            <a:pPr lvl="1"/>
            <a:r>
              <a:rPr lang="en-US" altLang="en-US" sz="2000" dirty="0"/>
              <a:t>k or log</a:t>
            </a:r>
            <a:r>
              <a:rPr lang="en-US" altLang="en-US" sz="2000" baseline="-25000" dirty="0"/>
              <a:t>2</a:t>
            </a:r>
            <a:r>
              <a:rPr lang="en-US" altLang="en-US" sz="2000" dirty="0"/>
              <a:t> k nodes for each </a:t>
            </a:r>
            <a:r>
              <a:rPr lang="en-US" altLang="en-US" sz="2000" b="1" dirty="0"/>
              <a:t>categorical</a:t>
            </a:r>
            <a:r>
              <a:rPr lang="en-US" altLang="en-US" sz="2000" dirty="0"/>
              <a:t> attribute with k values</a:t>
            </a:r>
            <a:endParaRPr lang="en-US" altLang="en-US" sz="2000" dirty="0"/>
          </a:p>
          <a:p>
            <a:r>
              <a:rPr lang="en-US" altLang="en-US" sz="2400" dirty="0"/>
              <a:t>Number of nodes in output layer</a:t>
            </a:r>
            <a:endParaRPr lang="en-US" altLang="en-US" sz="2400" dirty="0"/>
          </a:p>
          <a:p>
            <a:pPr lvl="1"/>
            <a:r>
              <a:rPr lang="en-US" altLang="en-US" sz="2000" dirty="0"/>
              <a:t>One output for binary class problem</a:t>
            </a:r>
            <a:endParaRPr lang="en-US" altLang="en-US" sz="2000" dirty="0"/>
          </a:p>
          <a:p>
            <a:pPr lvl="1"/>
            <a:r>
              <a:rPr lang="en-US" altLang="en-US" sz="2000" dirty="0"/>
              <a:t>k or log</a:t>
            </a:r>
            <a:r>
              <a:rPr lang="en-US" altLang="en-US" sz="2000" baseline="-25000" dirty="0"/>
              <a:t>2</a:t>
            </a:r>
            <a:r>
              <a:rPr lang="en-US" altLang="en-US" sz="2000" dirty="0"/>
              <a:t> k nodes for k-class problem</a:t>
            </a:r>
            <a:endParaRPr lang="en-US" altLang="en-US" sz="2000" dirty="0"/>
          </a:p>
          <a:p>
            <a:r>
              <a:rPr lang="en-US" altLang="en-US" sz="2400" dirty="0"/>
              <a:t>Number of hidden layers and nodes per layer</a:t>
            </a:r>
            <a:endParaRPr lang="en-US" altLang="en-US" sz="2400" dirty="0"/>
          </a:p>
          <a:p>
            <a:r>
              <a:rPr lang="en-US" altLang="en-US" sz="2400" dirty="0"/>
              <a:t>Initial weights and biases</a:t>
            </a:r>
            <a:endParaRPr lang="en-US" altLang="en-US" sz="2400" dirty="0"/>
          </a:p>
          <a:p>
            <a:r>
              <a:rPr lang="en-US" altLang="en-US" sz="2400" dirty="0"/>
              <a:t>Learning rate, max. number of epochs, mini-batch size for mini-batch SGD, …</a:t>
            </a:r>
            <a:endParaRPr lang="en-US" altLang="en-US" sz="2400" dirty="0"/>
          </a:p>
          <a:p>
            <a:endParaRPr lang="en-US" altLang="en-US" sz="2400" dirty="0"/>
          </a:p>
          <a:p>
            <a:endParaRPr lang="en-US"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Characteristics of ANN</a:t>
            </a:r>
            <a:endParaRPr lang="en-US" altLang="en-US"/>
          </a:p>
        </p:txBody>
      </p:sp>
      <p:sp>
        <p:nvSpPr>
          <p:cNvPr id="20483" name="Rectangle 3"/>
          <p:cNvSpPr>
            <a:spLocks noGrp="1" noChangeArrowheads="1"/>
          </p:cNvSpPr>
          <p:nvPr>
            <p:ph type="body" idx="1"/>
          </p:nvPr>
        </p:nvSpPr>
        <p:spPr/>
        <p:txBody>
          <a:bodyPr/>
          <a:lstStyle/>
          <a:p>
            <a:r>
              <a:rPr lang="en-US" altLang="en-US" sz="2400" dirty="0"/>
              <a:t>Multilayer ANN are universal </a:t>
            </a:r>
            <a:r>
              <a:rPr lang="en-US" altLang="en-US" sz="2400" dirty="0" err="1"/>
              <a:t>approximators</a:t>
            </a:r>
            <a:r>
              <a:rPr lang="en-US" altLang="en-US" sz="2400" dirty="0"/>
              <a:t> but could suffer from overfitting if the network is too </a:t>
            </a:r>
            <a:r>
              <a:rPr lang="en-US" altLang="en-US" sz="2400" dirty="0" smtClean="0"/>
              <a:t>large</a:t>
            </a:r>
            <a:endParaRPr lang="en-US" altLang="en-US" sz="2400" dirty="0" smtClean="0"/>
          </a:p>
          <a:p>
            <a:pPr lvl="1"/>
            <a:r>
              <a:rPr lang="en-US" altLang="en-US" sz="2000" dirty="0" smtClean="0"/>
              <a:t>Naturally represents a hierarchy of features at multiple levels of abstractions</a:t>
            </a:r>
            <a:endParaRPr lang="en-US" altLang="en-US" sz="2000" dirty="0"/>
          </a:p>
          <a:p>
            <a:r>
              <a:rPr lang="en-US" altLang="en-US" sz="2400" dirty="0"/>
              <a:t>Gradient descent may converge to local minimum</a:t>
            </a:r>
            <a:endParaRPr lang="en-US" altLang="en-US" sz="2400" dirty="0"/>
          </a:p>
          <a:p>
            <a:r>
              <a:rPr lang="en-US" altLang="en-US" sz="2400" dirty="0"/>
              <a:t>Model building </a:t>
            </a:r>
            <a:r>
              <a:rPr lang="en-US" altLang="en-US" sz="2400" dirty="0" smtClean="0"/>
              <a:t>is compute intensive</a:t>
            </a:r>
            <a:r>
              <a:rPr lang="en-US" altLang="en-US" sz="2400" dirty="0" smtClean="0"/>
              <a:t>, </a:t>
            </a:r>
            <a:r>
              <a:rPr lang="en-US" altLang="en-US" sz="2400" dirty="0"/>
              <a:t>but testing </a:t>
            </a:r>
            <a:r>
              <a:rPr lang="en-US" altLang="en-US" sz="2400" dirty="0" smtClean="0"/>
              <a:t>is </a:t>
            </a:r>
            <a:r>
              <a:rPr lang="en-US" altLang="en-US" sz="2400" dirty="0" smtClean="0"/>
              <a:t>fast </a:t>
            </a:r>
            <a:endParaRPr lang="en-US" altLang="en-US" sz="2400" dirty="0"/>
          </a:p>
          <a:p>
            <a:r>
              <a:rPr lang="en-US" altLang="en-US" sz="2400" dirty="0"/>
              <a:t>Can handle redundant and irrelevant </a:t>
            </a:r>
            <a:r>
              <a:rPr lang="en-US" altLang="en-US" sz="2400" dirty="0" smtClean="0"/>
              <a:t>attributes </a:t>
            </a:r>
            <a:r>
              <a:rPr lang="en-US" altLang="en-US" sz="2400" dirty="0"/>
              <a:t>because weights are automatically learnt for all attributes</a:t>
            </a:r>
            <a:endParaRPr lang="en-US" altLang="en-US" sz="2400" dirty="0"/>
          </a:p>
          <a:p>
            <a:r>
              <a:rPr lang="en-US" altLang="en-US" sz="2400" dirty="0"/>
              <a:t>Sensitive to noise in training </a:t>
            </a:r>
            <a:r>
              <a:rPr lang="en-US" altLang="en-US" sz="2400" dirty="0" smtClean="0"/>
              <a:t>data</a:t>
            </a:r>
            <a:endParaRPr lang="en-US" altLang="en-US" sz="2400" dirty="0" smtClean="0"/>
          </a:p>
          <a:p>
            <a:pPr lvl="1"/>
            <a:r>
              <a:rPr lang="en-US" altLang="en-US" sz="2000" dirty="0" smtClean="0"/>
              <a:t>This issue can be addressed by incorporating model complexity in the loss function</a:t>
            </a:r>
            <a:endParaRPr lang="en-US" altLang="en-US" sz="2000" dirty="0"/>
          </a:p>
          <a:p>
            <a:r>
              <a:rPr lang="en-US" altLang="en-US" sz="2400" dirty="0"/>
              <a:t>Difficult to handle missing attributes</a:t>
            </a:r>
            <a:endParaRPr lang="en-US" alt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 Learning Trends</a:t>
            </a:r>
            <a:endParaRPr lang="en-US" dirty="0"/>
          </a:p>
        </p:txBody>
      </p:sp>
      <p:sp>
        <p:nvSpPr>
          <p:cNvPr id="3" name="Content Placeholder 2"/>
          <p:cNvSpPr>
            <a:spLocks noGrp="1"/>
          </p:cNvSpPr>
          <p:nvPr>
            <p:ph idx="1"/>
          </p:nvPr>
        </p:nvSpPr>
        <p:spPr/>
        <p:txBody>
          <a:bodyPr/>
          <a:lstStyle/>
          <a:p>
            <a:r>
              <a:rPr lang="en-US" sz="2000" dirty="0"/>
              <a:t>Training </a:t>
            </a:r>
            <a:r>
              <a:rPr lang="en-US" sz="2000" b="1" dirty="0"/>
              <a:t>deep</a:t>
            </a:r>
            <a:r>
              <a:rPr lang="en-US" sz="2000" dirty="0"/>
              <a:t> neural networks (more than 5-10 layers) could only be possible in recent times with:</a:t>
            </a:r>
            <a:endParaRPr lang="en-US" sz="2000" dirty="0"/>
          </a:p>
          <a:p>
            <a:pPr lvl="1"/>
            <a:r>
              <a:rPr lang="en-US" sz="1800" dirty="0"/>
              <a:t>Faster computing resources (GPU)</a:t>
            </a:r>
            <a:endParaRPr lang="en-US" sz="1800" dirty="0"/>
          </a:p>
          <a:p>
            <a:pPr lvl="1"/>
            <a:r>
              <a:rPr lang="en-US" sz="1800" dirty="0"/>
              <a:t>Larger labeled training sets</a:t>
            </a:r>
            <a:endParaRPr lang="en-US" sz="1800" dirty="0"/>
          </a:p>
          <a:p>
            <a:r>
              <a:rPr lang="en-US" sz="2000" dirty="0"/>
              <a:t>Algorithmic Improvements in Deep </a:t>
            </a:r>
            <a:r>
              <a:rPr lang="en-US" sz="2000" dirty="0" smtClean="0"/>
              <a:t>Learning</a:t>
            </a:r>
            <a:endParaRPr lang="en-US" sz="2000" dirty="0" smtClean="0"/>
          </a:p>
          <a:p>
            <a:pPr lvl="1"/>
            <a:r>
              <a:rPr lang="en-US" sz="1800" dirty="0" smtClean="0"/>
              <a:t>Responsive activation functions (e.g., RELU)</a:t>
            </a:r>
            <a:endParaRPr lang="en-US" sz="1800" dirty="0" smtClean="0"/>
          </a:p>
          <a:p>
            <a:pPr lvl="1"/>
            <a:r>
              <a:rPr lang="en-US" sz="1800" dirty="0" smtClean="0"/>
              <a:t>Regularization (e.g., Dropout)</a:t>
            </a:r>
            <a:endParaRPr lang="en-US" sz="1800" dirty="0" smtClean="0"/>
          </a:p>
          <a:p>
            <a:pPr lvl="1"/>
            <a:r>
              <a:rPr lang="en-US" sz="1800" dirty="0" smtClean="0"/>
              <a:t>Supervised pre-training</a:t>
            </a:r>
            <a:endParaRPr lang="en-US" sz="1800" dirty="0" smtClean="0"/>
          </a:p>
          <a:p>
            <a:pPr lvl="1"/>
            <a:r>
              <a:rPr lang="en-US" sz="1800" dirty="0" smtClean="0"/>
              <a:t>Unsupervised pre-training (auto-encoders)</a:t>
            </a:r>
            <a:endParaRPr lang="en-US" sz="2000" dirty="0"/>
          </a:p>
          <a:p>
            <a:r>
              <a:rPr lang="en-US" sz="2000" dirty="0"/>
              <a:t>Specialized ANN Architectures: </a:t>
            </a:r>
            <a:endParaRPr lang="en-US" sz="2000" dirty="0"/>
          </a:p>
          <a:p>
            <a:pPr lvl="1"/>
            <a:r>
              <a:rPr lang="en-US" sz="1800" dirty="0"/>
              <a:t>Convolutional Neural Networks (for image data)</a:t>
            </a:r>
            <a:endParaRPr lang="en-US" sz="1800" dirty="0"/>
          </a:p>
          <a:p>
            <a:pPr lvl="1"/>
            <a:r>
              <a:rPr lang="en-US" sz="1800" dirty="0"/>
              <a:t>Recurrent Neural Networks (for sequence data)</a:t>
            </a:r>
            <a:endParaRPr lang="en-US" sz="1800" dirty="0"/>
          </a:p>
          <a:p>
            <a:pPr lvl="1"/>
            <a:r>
              <a:rPr lang="en-US" sz="1800" dirty="0"/>
              <a:t>Residual Networks (with skip connections</a:t>
            </a:r>
            <a:r>
              <a:rPr lang="en-US" sz="1800" dirty="0" smtClean="0"/>
              <a:t>)</a:t>
            </a:r>
            <a:endParaRPr lang="en-US" sz="2000" dirty="0"/>
          </a:p>
          <a:p>
            <a:r>
              <a:rPr lang="en-US" sz="2000" dirty="0"/>
              <a:t>Generative Models: Generative Adversarial Networks</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0</TotalTime>
  <Words>5557</Words>
  <Application>WPS 演示</Application>
  <PresentationFormat>On-screen Show (4:3)</PresentationFormat>
  <Paragraphs>227</Paragraphs>
  <Slides>22</Slides>
  <Notes>4</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11</vt:i4>
      </vt:variant>
      <vt:variant>
        <vt:lpstr>幻灯片标题</vt:lpstr>
      </vt:variant>
      <vt:variant>
        <vt:i4>22</vt:i4>
      </vt:variant>
    </vt:vector>
  </HeadingPairs>
  <TitlesOfParts>
    <vt:vector size="47" baseType="lpstr">
      <vt:lpstr>Arial</vt:lpstr>
      <vt:lpstr>宋体</vt:lpstr>
      <vt:lpstr>Wingdings</vt:lpstr>
      <vt:lpstr>Tahoma</vt:lpstr>
      <vt:lpstr>Monotype Sorts</vt:lpstr>
      <vt:lpstr>Wingdings</vt:lpstr>
      <vt:lpstr>Times New Roman</vt:lpstr>
      <vt:lpstr>Cambria Math</vt:lpstr>
      <vt:lpstr>微软雅黑</vt:lpstr>
      <vt:lpstr>Arial Unicode MS</vt:lpstr>
      <vt:lpstr>Calibri</vt:lpstr>
      <vt:lpstr>Arial</vt:lpstr>
      <vt:lpstr>LC.BRev.FY97</vt:lpstr>
      <vt:lpstr>Custom Design</vt:lpstr>
      <vt:lpstr>Visio.Drawing.6</vt:lpstr>
      <vt:lpstr>Visio.Drawing.6</vt:lpstr>
      <vt:lpstr>Visio.Drawing.6</vt:lpstr>
      <vt:lpstr>Visio.Drawing.6</vt:lpstr>
      <vt:lpstr>Equation.3</vt:lpstr>
      <vt:lpstr>Excel.Sheet.8</vt:lpstr>
      <vt:lpstr>Excel.Sheet.8</vt:lpstr>
      <vt:lpstr>Equation.3</vt:lpstr>
      <vt:lpstr>Excel.Sheet.8</vt:lpstr>
      <vt:lpstr>Visio.Drawing.6</vt:lpstr>
      <vt:lpstr>Equation.3</vt:lpstr>
      <vt:lpstr>Data Mining</vt:lpstr>
      <vt:lpstr>Artificial Neural Networks (ANN)</vt:lpstr>
      <vt:lpstr>Basic Architecture of Perceptron</vt:lpstr>
      <vt:lpstr>Perceptron Example</vt:lpstr>
      <vt:lpstr>Perceptron Example</vt:lpstr>
      <vt:lpstr>Perceptron Learning Rule</vt:lpstr>
      <vt:lpstr>Perceptron Learning Rule</vt:lpstr>
      <vt:lpstr>Example of Perceptron Learning</vt:lpstr>
      <vt:lpstr>Perceptron Learning</vt:lpstr>
      <vt:lpstr>Nonlinearly Separable Data</vt:lpstr>
      <vt:lpstr>Multi-layer Neural Network</vt:lpstr>
      <vt:lpstr>Multi-layer Neural Network</vt:lpstr>
      <vt:lpstr>Why Multiple Hidden Layers?</vt:lpstr>
      <vt:lpstr>Multi-Layer Network Architecture</vt:lpstr>
      <vt:lpstr>Activation Functions</vt:lpstr>
      <vt:lpstr>Learning Multi-layer Neural Network</vt:lpstr>
      <vt:lpstr>Gradient Descent</vt:lpstr>
      <vt:lpstr>Computing Gradients</vt:lpstr>
      <vt:lpstr>Backpropagation Algorithm</vt:lpstr>
      <vt:lpstr>Design Issues in ANN</vt:lpstr>
      <vt:lpstr>Characteristics of ANN</vt:lpstr>
      <vt:lpstr>Deep Learning Trends</vt:lpstr>
    </vt:vector>
  </TitlesOfParts>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XKM</cp:lastModifiedBy>
  <cp:revision>458</cp:revision>
  <cp:lastPrinted>2019-03-05T05:35:00Z</cp:lastPrinted>
  <dcterms:created xsi:type="dcterms:W3CDTF">1998-03-18T13:44:00Z</dcterms:created>
  <dcterms:modified xsi:type="dcterms:W3CDTF">2025-09-01T23:10:32Z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437045ACFE7C49B7828B651A2789458D_12</vt:lpwstr>
  </property>
  <property fmtid="{D5CDD505-2E9C-101B-9397-08002B2CF9AE}" pid="3" name="KSOProductBuildVer">
    <vt:lpwstr>2052-12.1.0.22529</vt:lpwstr>
  </property>
</Properties>
</file>