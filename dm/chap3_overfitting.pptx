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wmf" ContentType="image/x-wmf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96"/>
  </p:handoutMasterIdLst>
  <p:sldIdLst>
    <p:sldId id="515" r:id="rId3"/>
    <p:sldId id="568" r:id="rId5"/>
    <p:sldId id="598" r:id="rId6"/>
    <p:sldId id="599" r:id="rId7"/>
    <p:sldId id="600" r:id="rId8"/>
    <p:sldId id="601" r:id="rId9"/>
    <p:sldId id="602" r:id="rId10"/>
    <p:sldId id="603" r:id="rId11"/>
    <p:sldId id="606" r:id="rId12"/>
    <p:sldId id="611" r:id="rId13"/>
    <p:sldId id="597" r:id="rId14"/>
    <p:sldId id="569" r:id="rId15"/>
    <p:sldId id="571" r:id="rId16"/>
    <p:sldId id="572" r:id="rId17"/>
    <p:sldId id="604" r:id="rId18"/>
    <p:sldId id="534" r:id="rId19"/>
    <p:sldId id="521" r:id="rId20"/>
    <p:sldId id="607" r:id="rId21"/>
    <p:sldId id="574" r:id="rId22"/>
    <p:sldId id="608" r:id="rId23"/>
    <p:sldId id="609" r:id="rId24"/>
    <p:sldId id="573" r:id="rId25"/>
    <p:sldId id="523" r:id="rId26"/>
    <p:sldId id="576" r:id="rId27"/>
    <p:sldId id="524" r:id="rId28"/>
    <p:sldId id="525" r:id="rId29"/>
    <p:sldId id="526" r:id="rId30"/>
    <p:sldId id="535" r:id="rId31"/>
    <p:sldId id="596" r:id="rId32"/>
    <p:sldId id="610" r:id="rId33"/>
    <p:sldId id="662" r:id="rId34"/>
    <p:sldId id="663" r:id="rId35"/>
    <p:sldId id="664" r:id="rId36"/>
    <p:sldId id="665" r:id="rId37"/>
    <p:sldId id="666" r:id="rId38"/>
    <p:sldId id="667" r:id="rId39"/>
    <p:sldId id="668" r:id="rId40"/>
    <p:sldId id="669" r:id="rId41"/>
    <p:sldId id="670" r:id="rId42"/>
    <p:sldId id="671" r:id="rId43"/>
    <p:sldId id="672" r:id="rId44"/>
    <p:sldId id="673" r:id="rId45"/>
    <p:sldId id="612" r:id="rId46"/>
    <p:sldId id="613" r:id="rId47"/>
    <p:sldId id="614" r:id="rId48"/>
    <p:sldId id="615" r:id="rId49"/>
    <p:sldId id="616" r:id="rId50"/>
    <p:sldId id="617" r:id="rId51"/>
    <p:sldId id="618" r:id="rId52"/>
    <p:sldId id="619" r:id="rId53"/>
    <p:sldId id="620" r:id="rId54"/>
    <p:sldId id="621" r:id="rId55"/>
    <p:sldId id="622" r:id="rId56"/>
    <p:sldId id="623" r:id="rId57"/>
    <p:sldId id="624" r:id="rId58"/>
    <p:sldId id="625" r:id="rId59"/>
    <p:sldId id="626" r:id="rId60"/>
    <p:sldId id="627" r:id="rId61"/>
    <p:sldId id="628" r:id="rId62"/>
    <p:sldId id="629" r:id="rId63"/>
    <p:sldId id="630" r:id="rId64"/>
    <p:sldId id="631" r:id="rId65"/>
    <p:sldId id="632" r:id="rId66"/>
    <p:sldId id="633" r:id="rId67"/>
    <p:sldId id="634" r:id="rId68"/>
    <p:sldId id="635" r:id="rId69"/>
    <p:sldId id="636" r:id="rId70"/>
    <p:sldId id="637" r:id="rId71"/>
    <p:sldId id="638" r:id="rId72"/>
    <p:sldId id="639" r:id="rId73"/>
    <p:sldId id="640" r:id="rId74"/>
    <p:sldId id="641" r:id="rId75"/>
    <p:sldId id="642" r:id="rId76"/>
    <p:sldId id="643" r:id="rId77"/>
    <p:sldId id="644" r:id="rId78"/>
    <p:sldId id="645" r:id="rId79"/>
    <p:sldId id="646" r:id="rId80"/>
    <p:sldId id="647" r:id="rId81"/>
    <p:sldId id="648" r:id="rId82"/>
    <p:sldId id="649" r:id="rId83"/>
    <p:sldId id="650" r:id="rId84"/>
    <p:sldId id="651" r:id="rId85"/>
    <p:sldId id="652" r:id="rId86"/>
    <p:sldId id="653" r:id="rId87"/>
    <p:sldId id="654" r:id="rId88"/>
    <p:sldId id="655" r:id="rId89"/>
    <p:sldId id="656" r:id="rId90"/>
    <p:sldId id="657" r:id="rId91"/>
    <p:sldId id="658" r:id="rId92"/>
    <p:sldId id="659" r:id="rId93"/>
    <p:sldId id="660" r:id="rId94"/>
    <p:sldId id="661" r:id="rId95"/>
  </p:sldIdLst>
  <p:sldSz cx="9144000" cy="6858000" type="screen4x3"/>
  <p:notesSz cx="6934200" cy="9220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F4F4F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71" autoAdjust="0"/>
    <p:restoredTop sz="94551" autoAdjust="0"/>
  </p:normalViewPr>
  <p:slideViewPr>
    <p:cSldViewPr showGuides="1">
      <p:cViewPr varScale="1">
        <p:scale>
          <a:sx n="85" d="100"/>
          <a:sy n="85" d="100"/>
        </p:scale>
        <p:origin x="1134" y="96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995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05"/>
        <p:guide pos="218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tableStyles" Target="tableStyles.xml"/><Relationship Id="rId98" Type="http://schemas.openxmlformats.org/officeDocument/2006/relationships/viewProps" Target="viewProps.xml"/><Relationship Id="rId97" Type="http://schemas.openxmlformats.org/officeDocument/2006/relationships/presProps" Target="presProps.xml"/><Relationship Id="rId96" Type="http://schemas.openxmlformats.org/officeDocument/2006/relationships/handoutMaster" Target="handoutMasters/handoutMaster1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e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4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379913"/>
            <a:ext cx="5087937" cy="41465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5907" tIns="47956" rIns="95907" bIns="47956" numCol="1" anchor="t" anchorCtr="0" compatLnSpc="1"/>
          <a:lstStyle/>
          <a:p>
            <a:pPr lvl="0"/>
            <a:r>
              <a:rPr lang="en-US" noProof="0" smtClean="0"/>
              <a:t>Click to edit Master notes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700088"/>
            <a:ext cx="4587875" cy="3441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4400"/>
          </a:xfrm>
          <a:solidFill>
            <a:srgbClr val="FFFFFF"/>
          </a:solidFill>
        </p:spPr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79913"/>
            <a:ext cx="5086350" cy="414655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722" tIns="45357" rIns="90722" bIns="45357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11163" y="1143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11163" y="3810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 Third Level</a:t>
            </a:r>
            <a:endParaRPr lang="en-US" altLang="en-US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mtClean="0"/>
            </a:p>
          </p:txBody>
        </p:sp>
      </p:grpSp>
      <p:sp>
        <p:nvSpPr>
          <p:cNvPr id="8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400" dirty="0" smtClean="0"/>
              <a:t>03/26/2018</a:t>
            </a:r>
            <a:r>
              <a:rPr lang="en-US" sz="1400" dirty="0" smtClean="0">
                <a:latin typeface="Arial" panose="020B0604020202020204" pitchFamily="34" charset="0"/>
              </a:rPr>
              <a:t>		</a:t>
            </a:r>
            <a:r>
              <a:rPr lang="en-US" sz="1400" baseline="0" dirty="0" smtClean="0">
                <a:latin typeface="Arial" panose="020B0604020202020204" pitchFamily="34" charset="0"/>
              </a:rPr>
              <a:t>     </a:t>
            </a:r>
            <a:r>
              <a:rPr lang="en-US" sz="1400" dirty="0" smtClean="0">
                <a:latin typeface="Arial" panose="020B0604020202020204" pitchFamily="34" charset="0"/>
              </a:rPr>
              <a:t>Introduction to Data Mining,</a:t>
            </a:r>
            <a:r>
              <a:rPr lang="en-US" sz="1400" baseline="0" dirty="0" smtClean="0">
                <a:latin typeface="Arial" panose="020B0604020202020204" pitchFamily="34" charset="0"/>
              </a:rPr>
              <a:t> 2</a:t>
            </a:r>
            <a:r>
              <a:rPr lang="en-US" sz="1400" baseline="30000" dirty="0" smtClean="0">
                <a:latin typeface="Arial" panose="020B0604020202020204" pitchFamily="34" charset="0"/>
              </a:rPr>
              <a:t>nd</a:t>
            </a:r>
            <a:r>
              <a:rPr lang="en-US" sz="1400" baseline="0" dirty="0" smtClean="0">
                <a:latin typeface="Arial" panose="020B0604020202020204" pitchFamily="34" charset="0"/>
              </a:rPr>
              <a:t> Edition</a:t>
            </a:r>
            <a:r>
              <a:rPr lang="en-US" sz="1400" dirty="0" smtClean="0">
                <a:latin typeface="Arial" panose="020B0604020202020204" pitchFamily="34" charset="0"/>
              </a:rPr>
              <a:t> </a:t>
            </a:r>
            <a:r>
              <a:rPr lang="en-US" altLang="en-US" sz="1400" dirty="0" smtClean="0"/>
              <a:t> 			              </a:t>
            </a:r>
            <a:fld id="{7084C611-86DA-0C49-84BD-91F3BD06A343}" type="slidenum">
              <a:rPr lang="en-US" altLang="en-US" sz="1400" smtClean="0"/>
            </a:fld>
            <a:endParaRPr lang="en-US" altLang="en-US" sz="1400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.emf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emf"/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emf"/><Relationship Id="rId3" Type="http://schemas.openxmlformats.org/officeDocument/2006/relationships/image" Target="../media/image6.emf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11.emf"/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emf"/><Relationship Id="rId2" Type="http://schemas.openxmlformats.org/officeDocument/2006/relationships/image" Target="../media/image18.tiff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emf"/><Relationship Id="rId7" Type="http://schemas.openxmlformats.org/officeDocument/2006/relationships/image" Target="../media/image23.e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5.bin"/><Relationship Id="rId10" Type="http://schemas.openxmlformats.org/officeDocument/2006/relationships/vmlDrawing" Target="../drawings/vmlDrawing5.v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24.e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6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e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tiff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2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30.e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e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e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e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e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emf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7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6.wmf"/><Relationship Id="rId2" Type="http://schemas.openxmlformats.org/officeDocument/2006/relationships/oleObject" Target="../embeddings/oleObject24.bin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8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43.emf"/><Relationship Id="rId2" Type="http://schemas.openxmlformats.org/officeDocument/2006/relationships/oleObject" Target="../embeddings/oleObject25.bin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emf"/><Relationship Id="rId8" Type="http://schemas.openxmlformats.org/officeDocument/2006/relationships/oleObject" Target="../embeddings/oleObject30.bin"/><Relationship Id="rId7" Type="http://schemas.openxmlformats.org/officeDocument/2006/relationships/image" Target="../media/image47.emf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28.bin"/><Relationship Id="rId3" Type="http://schemas.openxmlformats.org/officeDocument/2006/relationships/image" Target="../media/image45.emf"/><Relationship Id="rId2" Type="http://schemas.openxmlformats.org/officeDocument/2006/relationships/oleObject" Target="../embeddings/oleObject27.bin"/><Relationship Id="rId15" Type="http://schemas.openxmlformats.org/officeDocument/2006/relationships/vmlDrawing" Target="../drawings/vmlDrawing19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0.emf"/><Relationship Id="rId12" Type="http://schemas.openxmlformats.org/officeDocument/2006/relationships/oleObject" Target="../embeddings/oleObject32.bin"/><Relationship Id="rId11" Type="http://schemas.openxmlformats.org/officeDocument/2006/relationships/image" Target="../media/image49.emf"/><Relationship Id="rId10" Type="http://schemas.openxmlformats.org/officeDocument/2006/relationships/oleObject" Target="../embeddings/oleObject31.bin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1.emf"/><Relationship Id="rId2" Type="http://schemas.openxmlformats.org/officeDocument/2006/relationships/oleObject" Target="../embeddings/oleObject33.bin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emf"/><Relationship Id="rId2" Type="http://schemas.openxmlformats.org/officeDocument/2006/relationships/oleObject" Target="../embeddings/oleObject34.bin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4.wmf"/><Relationship Id="rId2" Type="http://schemas.openxmlformats.org/officeDocument/2006/relationships/oleObject" Target="../embeddings/oleObject35.bin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w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38.bin"/><Relationship Id="rId3" Type="http://schemas.openxmlformats.org/officeDocument/2006/relationships/image" Target="../media/image56.wmf"/><Relationship Id="rId2" Type="http://schemas.openxmlformats.org/officeDocument/2006/relationships/oleObject" Target="../embeddings/oleObject37.bin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8.png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1.png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3.png"/><Relationship Id="rId3" Type="http://schemas.openxmlformats.org/officeDocument/2006/relationships/image" Target="../media/image62.wmf"/><Relationship Id="rId2" Type="http://schemas.openxmlformats.org/officeDocument/2006/relationships/oleObject" Target="../embeddings/oleObject39.bin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65.png"/><Relationship Id="rId3" Type="http://schemas.openxmlformats.org/officeDocument/2006/relationships/image" Target="../media/image64.wmf"/><Relationship Id="rId2" Type="http://schemas.openxmlformats.org/officeDocument/2006/relationships/oleObject" Target="../embeddings/oleObject40.bin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8.wmf"/><Relationship Id="rId4" Type="http://schemas.openxmlformats.org/officeDocument/2006/relationships/oleObject" Target="../embeddings/oleObject43.bin"/><Relationship Id="rId3" Type="http://schemas.openxmlformats.org/officeDocument/2006/relationships/image" Target="../media/image67.wmf"/><Relationship Id="rId2" Type="http://schemas.openxmlformats.org/officeDocument/2006/relationships/oleObject" Target="../embeddings/oleObject42.bin"/><Relationship Id="rId1" Type="http://schemas.openxmlformats.org/officeDocument/2006/relationships/image" Target="../media/image1.jpeg"/></Relationships>
</file>

<file path=ppt/slides/_rels/slide9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0.wmf"/><Relationship Id="rId4" Type="http://schemas.openxmlformats.org/officeDocument/2006/relationships/oleObject" Target="../embeddings/oleObject45.bin"/><Relationship Id="rId3" Type="http://schemas.openxmlformats.org/officeDocument/2006/relationships/image" Target="../media/image69.wmf"/><Relationship Id="rId2" Type="http://schemas.openxmlformats.org/officeDocument/2006/relationships/oleObject" Target="../embeddings/oleObject44.bin"/><Relationship Id="rId1" Type="http://schemas.openxmlformats.org/officeDocument/2006/relationships/image" Target="../media/image1.jpeg"/></Relationships>
</file>

<file path=ppt/slides/_rels/slide9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9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47.bin"/><Relationship Id="rId3" Type="http://schemas.openxmlformats.org/officeDocument/2006/relationships/image" Target="../media/image71.wmf"/><Relationship Id="rId2" Type="http://schemas.openxmlformats.org/officeDocument/2006/relationships/oleObject" Target="../embeddings/oleObject46.bin"/><Relationship Id="rId1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3.wmf"/><Relationship Id="rId2" Type="http://schemas.openxmlformats.org/officeDocument/2006/relationships/oleObject" Target="../embeddings/oleObject48.bin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-152400"/>
            <a:ext cx="8763000" cy="838200"/>
          </a:xfrm>
        </p:spPr>
        <p:txBody>
          <a:bodyPr/>
          <a:lstStyle/>
          <a:p>
            <a:r>
              <a:rPr lang="en-US" altLang="en-US"/>
              <a:t>Data Mining</a:t>
            </a:r>
            <a:endParaRPr lang="en-US" altLang="en-US" sz="2800"/>
          </a:p>
        </p:txBody>
      </p:sp>
      <p:sp>
        <p:nvSpPr>
          <p:cNvPr id="4098" name="Rectangle 1027"/>
          <p:cNvSpPr>
            <a:spLocks noChangeArrowheads="1"/>
          </p:cNvSpPr>
          <p:nvPr/>
        </p:nvSpPr>
        <p:spPr bwMode="auto">
          <a:xfrm>
            <a:off x="381000" y="1981200"/>
            <a:ext cx="8229600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Model </a:t>
            </a:r>
            <a:r>
              <a:rPr lang="en-US" altLang="en-US" sz="3200" b="0" dirty="0" err="1"/>
              <a:t>Overfitting</a:t>
            </a: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 dirty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 dirty="0"/>
              <a:t>Introduction to Data Mining, 2</a:t>
            </a:r>
            <a:r>
              <a:rPr lang="en-US" altLang="en-US" sz="3200" b="0" baseline="30000" dirty="0"/>
              <a:t>nd</a:t>
            </a:r>
            <a:r>
              <a:rPr lang="en-US" altLang="en-US" sz="3200" b="0" dirty="0"/>
              <a:t> </a:t>
            </a:r>
            <a:r>
              <a:rPr lang="en-US" altLang="en-US" sz="3200" b="0" dirty="0" smtClean="0"/>
              <a:t>Edition</a:t>
            </a:r>
            <a:endParaRPr lang="en-US" altLang="en-US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Errors</a:t>
            </a:r>
            <a:endParaRPr lang="en-US" altLang="en-US"/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Training errors (apparent errors)</a:t>
            </a:r>
            <a:endParaRPr lang="en-US" altLang="en-US"/>
          </a:p>
          <a:p>
            <a:pPr lvl="1"/>
            <a:r>
              <a:rPr lang="en-US" altLang="en-US"/>
              <a:t>Errors committed on the training set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Test errors</a:t>
            </a:r>
            <a:endParaRPr lang="en-US" altLang="en-US"/>
          </a:p>
          <a:p>
            <a:pPr lvl="1"/>
            <a:r>
              <a:rPr lang="en-US" altLang="en-US"/>
              <a:t>Errors committed on the test set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Generalization errors</a:t>
            </a:r>
            <a:endParaRPr lang="en-US" altLang="en-US"/>
          </a:p>
          <a:p>
            <a:pPr lvl="1"/>
            <a:r>
              <a:rPr lang="en-US" altLang="en-US"/>
              <a:t>Expected error of a model over random selection of records from same distribution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Data Set</a:t>
            </a:r>
            <a:endParaRPr lang="en-US" altLang="en-US"/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5943600" y="1295400"/>
            <a:ext cx="2971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800" dirty="0" smtClean="0"/>
              <a:t>Two class problem: </a:t>
            </a:r>
            <a:endParaRPr lang="en-US" altLang="en-US" sz="1800" dirty="0" smtClean="0"/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 smtClean="0">
                <a:solidFill>
                  <a:srgbClr val="0070C0"/>
                </a:solidFill>
              </a:rPr>
              <a:t>+ : 5200 instances</a:t>
            </a:r>
            <a:endParaRPr lang="en-US" altLang="en-US" sz="1800" dirty="0" smtClean="0">
              <a:solidFill>
                <a:srgbClr val="0070C0"/>
              </a:solidFill>
            </a:endParaRP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800" dirty="0" smtClean="0">
                <a:solidFill>
                  <a:srgbClr val="0070C0"/>
                </a:solidFill>
              </a:rPr>
              <a:t> </a:t>
            </a:r>
            <a:r>
              <a:rPr lang="en-US" altLang="en-US" sz="1400" dirty="0" smtClean="0">
                <a:solidFill>
                  <a:srgbClr val="0070C0"/>
                </a:solidFill>
              </a:rPr>
              <a:t>5000 instances generated from a Gaussian centered at (10,10)</a:t>
            </a:r>
            <a:endParaRPr lang="en-US" altLang="en-US" sz="1400" dirty="0" smtClean="0">
              <a:solidFill>
                <a:srgbClr val="0070C0"/>
              </a:solidFill>
            </a:endParaRP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 smtClean="0">
                <a:solidFill>
                  <a:srgbClr val="0070C0"/>
                </a:solidFill>
              </a:rPr>
              <a:t> 200 noisy instances added</a:t>
            </a:r>
            <a:r>
              <a:rPr lang="en-US" altLang="en-US" sz="1800" dirty="0" smtClean="0"/>
              <a:t>	</a:t>
            </a:r>
            <a:endParaRPr lang="en-US" altLang="en-US" sz="1800" dirty="0" smtClean="0"/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 smtClean="0">
                <a:solidFill>
                  <a:srgbClr val="FF0000"/>
                </a:solidFill>
              </a:rPr>
              <a:t>o : 5200 instances </a:t>
            </a:r>
            <a:endParaRPr lang="en-US" altLang="en-US" sz="1800" dirty="0" smtClean="0">
              <a:solidFill>
                <a:srgbClr val="FF0000"/>
              </a:solidFill>
            </a:endParaRPr>
          </a:p>
          <a:p>
            <a:pPr marL="28575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sz="1400" dirty="0" smtClean="0">
                <a:solidFill>
                  <a:srgbClr val="FF0000"/>
                </a:solidFill>
              </a:rPr>
              <a:t> Generated from a uniform distribution</a:t>
            </a:r>
            <a:endParaRPr lang="en-US" altLang="en-US" sz="1400" dirty="0" smtClean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defRPr/>
            </a:pPr>
            <a:endParaRPr lang="en-US" altLang="en-US" sz="1800" dirty="0" smtClean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en-US" sz="1800" dirty="0" smtClean="0"/>
              <a:t>10 % of the data used for training and 90% of the data used for testing</a:t>
            </a:r>
            <a:endParaRPr lang="en-US" altLang="en-US" sz="1800" dirty="0" smtClean="0"/>
          </a:p>
          <a:p>
            <a:pPr>
              <a:spcBef>
                <a:spcPct val="50000"/>
              </a:spcBef>
              <a:defRPr/>
            </a:pPr>
            <a:br>
              <a:rPr lang="en-US" altLang="en-US" sz="1800" dirty="0" smtClean="0"/>
            </a:br>
            <a:endParaRPr lang="en-US" altLang="en-US" sz="1800" dirty="0" smtClean="0">
              <a:sym typeface="Symbol" panose="05050102010706020507" pitchFamily="18" charset="2"/>
            </a:endParaRPr>
          </a:p>
        </p:txBody>
      </p:sp>
      <p:pic>
        <p:nvPicPr>
          <p:cNvPr id="71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612900"/>
            <a:ext cx="5715000" cy="4140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Increasing number of nodes in Decision Trees</a:t>
            </a:r>
            <a:endParaRPr lang="en-US" altLang="en-US" sz="2400"/>
          </a:p>
        </p:txBody>
      </p:sp>
      <p:pic>
        <p:nvPicPr>
          <p:cNvPr id="819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Decision Tree with 4 nodes</a:t>
            </a:r>
            <a:endParaRPr lang="en-US" altLang="en-US" sz="2400"/>
          </a:p>
        </p:txBody>
      </p:sp>
      <p:pic>
        <p:nvPicPr>
          <p:cNvPr id="9218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  <p:cxnSp>
        <p:nvCxnSpPr>
          <p:cNvPr id="9221" name="Straight Arrow Connector 2"/>
          <p:cNvCxnSpPr>
            <a:cxnSpLocks noChangeShapeType="1"/>
          </p:cNvCxnSpPr>
          <p:nvPr/>
        </p:nvCxnSpPr>
        <p:spPr bwMode="auto">
          <a:xfrm flipV="1">
            <a:off x="990600" y="509905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  <a:endParaRPr lang="en-US" altLang="en-US" sz="1200" b="0"/>
          </a:p>
        </p:txBody>
      </p:sp>
      <p:sp>
        <p:nvSpPr>
          <p:cNvPr id="9223" name="TextBox 10"/>
          <p:cNvSpPr txBox="1">
            <a:spLocks noChangeArrowheads="1"/>
          </p:cNvSpPr>
          <p:nvPr/>
        </p:nvSpPr>
        <p:spPr bwMode="auto">
          <a:xfrm>
            <a:off x="5181600" y="5105400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boundaries on Training data</a:t>
            </a:r>
            <a:endParaRPr lang="en-US" altLang="en-US" sz="1200" b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344" y="2095500"/>
            <a:ext cx="3640986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57" y="1524000"/>
            <a:ext cx="2345389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Decision Tree with 50 nodes</a:t>
            </a:r>
            <a:endParaRPr lang="en-US" altLang="en-US" sz="2400"/>
          </a:p>
        </p:txBody>
      </p:sp>
      <p:pic>
        <p:nvPicPr>
          <p:cNvPr id="10242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  <p:cxnSp>
        <p:nvCxnSpPr>
          <p:cNvPr id="10245" name="Straight Arrow Connector 5"/>
          <p:cNvCxnSpPr>
            <a:cxnSpLocks noChangeShapeType="1"/>
          </p:cNvCxnSpPr>
          <p:nvPr/>
        </p:nvCxnSpPr>
        <p:spPr bwMode="auto">
          <a:xfrm flipV="1">
            <a:off x="3124200" y="5334000"/>
            <a:ext cx="0" cy="3810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6" name="TextBox 6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  <a:endParaRPr lang="en-US" altLang="en-US" sz="1200" b="0"/>
          </a:p>
        </p:txBody>
      </p:sp>
      <p:sp>
        <p:nvSpPr>
          <p:cNvPr id="10247" name="TextBox 7"/>
          <p:cNvSpPr txBox="1">
            <a:spLocks noChangeArrowheads="1"/>
          </p:cNvSpPr>
          <p:nvPr/>
        </p:nvSpPr>
        <p:spPr bwMode="auto">
          <a:xfrm>
            <a:off x="1981200" y="3944938"/>
            <a:ext cx="16764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Tree</a:t>
            </a:r>
            <a:endParaRPr lang="en-US" altLang="en-US" sz="1200" b="0"/>
          </a:p>
        </p:txBody>
      </p:sp>
      <p:sp>
        <p:nvSpPr>
          <p:cNvPr id="10248" name="TextBox 8"/>
          <p:cNvSpPr txBox="1">
            <a:spLocks noChangeArrowheads="1"/>
          </p:cNvSpPr>
          <p:nvPr/>
        </p:nvSpPr>
        <p:spPr bwMode="auto">
          <a:xfrm>
            <a:off x="5181600" y="5108575"/>
            <a:ext cx="27844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/>
              <a:t>Decision boundaries on Training data</a:t>
            </a:r>
            <a:endParaRPr lang="en-US" altLang="en-US" sz="1200" b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45" y="2057400"/>
            <a:ext cx="3727510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823" y="1614351"/>
            <a:ext cx="3045649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Which tree is better?</a:t>
            </a:r>
            <a:endParaRPr lang="en-US" altLang="en-US" sz="2400"/>
          </a:p>
        </p:txBody>
      </p:sp>
      <p:pic>
        <p:nvPicPr>
          <p:cNvPr id="11266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9" t="6245" r="7352" b="3252"/>
          <a:stretch>
            <a:fillRect/>
          </a:stretch>
        </p:blipFill>
        <p:spPr>
          <a:xfrm>
            <a:off x="76200" y="1219200"/>
            <a:ext cx="8686800" cy="5105400"/>
          </a:xfrm>
        </p:spPr>
      </p:pic>
      <p:sp>
        <p:nvSpPr>
          <p:cNvPr id="11269" name="TextBox 4"/>
          <p:cNvSpPr txBox="1">
            <a:spLocks noChangeArrowheads="1"/>
          </p:cNvSpPr>
          <p:nvPr/>
        </p:nvSpPr>
        <p:spPr bwMode="auto">
          <a:xfrm>
            <a:off x="1828800" y="4097338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 with 4 nodes</a:t>
            </a:r>
            <a:endParaRPr lang="en-US" altLang="en-US" sz="1400"/>
          </a:p>
        </p:txBody>
      </p:sp>
      <p:sp>
        <p:nvSpPr>
          <p:cNvPr id="11270" name="TextBox 7"/>
          <p:cNvSpPr txBox="1">
            <a:spLocks noChangeArrowheads="1"/>
          </p:cNvSpPr>
          <p:nvPr/>
        </p:nvSpPr>
        <p:spPr bwMode="auto">
          <a:xfrm>
            <a:off x="5486400" y="4799013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 with 50 nodes</a:t>
            </a:r>
            <a:endParaRPr lang="en-US" altLang="en-US" sz="1400"/>
          </a:p>
        </p:txBody>
      </p:sp>
      <p:sp>
        <p:nvSpPr>
          <p:cNvPr id="11271" name="TextBox 8"/>
          <p:cNvSpPr txBox="1">
            <a:spLocks noChangeArrowheads="1"/>
          </p:cNvSpPr>
          <p:nvPr/>
        </p:nvSpPr>
        <p:spPr bwMode="auto">
          <a:xfrm>
            <a:off x="2286000" y="4462463"/>
            <a:ext cx="2743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Which tree is better ?</a:t>
            </a:r>
            <a:endParaRPr lang="en-US" altLang="en-US" sz="1600">
              <a:solidFill>
                <a:srgbClr val="FF0000"/>
              </a:solidFill>
            </a:endParaRPr>
          </a:p>
        </p:txBody>
      </p:sp>
      <p:cxnSp>
        <p:nvCxnSpPr>
          <p:cNvPr id="11272" name="Straight Arrow Connector 10"/>
          <p:cNvCxnSpPr>
            <a:cxnSpLocks noChangeShapeType="1"/>
          </p:cNvCxnSpPr>
          <p:nvPr/>
        </p:nvCxnSpPr>
        <p:spPr bwMode="auto">
          <a:xfrm flipV="1">
            <a:off x="1066800" y="4097338"/>
            <a:ext cx="762000" cy="8128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671" y="2513013"/>
            <a:ext cx="3106258" cy="2286000"/>
          </a:xfrm>
          <a:prstGeom prst="rect">
            <a:avLst/>
          </a:prstGeom>
        </p:spPr>
      </p:pic>
      <p:cxnSp>
        <p:nvCxnSpPr>
          <p:cNvPr id="11273" name="Straight Arrow Connector 12"/>
          <p:cNvCxnSpPr>
            <a:cxnSpLocks noChangeShapeType="1"/>
          </p:cNvCxnSpPr>
          <p:nvPr/>
        </p:nvCxnSpPr>
        <p:spPr bwMode="auto">
          <a:xfrm flipV="1">
            <a:off x="3276600" y="4527459"/>
            <a:ext cx="1981200" cy="6096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22" y="1840004"/>
            <a:ext cx="3034155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Overfitting</a:t>
            </a:r>
            <a:endParaRPr lang="en-US" altLang="en-US"/>
          </a:p>
        </p:txBody>
      </p:sp>
      <p:sp>
        <p:nvSpPr>
          <p:cNvPr id="12290" name="Text Box 7"/>
          <p:cNvSpPr txBox="1">
            <a:spLocks noChangeArrowheads="1"/>
          </p:cNvSpPr>
          <p:nvPr/>
        </p:nvSpPr>
        <p:spPr bwMode="auto">
          <a:xfrm>
            <a:off x="304800" y="5029200"/>
            <a:ext cx="86868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Underfitting</a:t>
            </a:r>
            <a:r>
              <a:rPr lang="en-US" altLang="en-US" sz="1800" b="0"/>
              <a:t>: when model is too simple, both training and test errors are large</a:t>
            </a:r>
            <a:endParaRPr lang="en-US" altLang="en-US" sz="1800" b="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Overfitting</a:t>
            </a:r>
            <a:r>
              <a:rPr lang="en-US" altLang="en-US" sz="1800" b="0"/>
              <a:t>: when model is too complex, training error is small but test error is large</a:t>
            </a:r>
            <a:endParaRPr lang="en-US" altLang="en-US" sz="1800" b="0">
              <a:sym typeface="Symbol" panose="05050102010706020507" pitchFamily="18" charset="2"/>
            </a:endParaRPr>
          </a:p>
        </p:txBody>
      </p:sp>
      <p:pic>
        <p:nvPicPr>
          <p:cNvPr id="12291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24350" y="914400"/>
            <a:ext cx="5048250" cy="3657600"/>
          </a:xfrm>
          <a:noFill/>
        </p:spPr>
      </p:pic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0" y="914400"/>
            <a:ext cx="5048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Overfitting</a:t>
            </a:r>
            <a:endParaRPr lang="en-US" altLang="en-US"/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6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38200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7543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4619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Using twice the number of data instances</a:t>
            </a:r>
            <a:endParaRPr lang="en-US" altLang="en-US" sz="1600"/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04800" y="4953000"/>
            <a:ext cx="86868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>
                <a:sym typeface="Symbol" panose="05050102010706020507" pitchFamily="18" charset="2"/>
              </a:rPr>
              <a:t>If training data is under-representative, testing errors increase and training errors decrease on increasing number of nodes</a:t>
            </a:r>
            <a:endParaRPr lang="en-US" altLang="en-US" sz="1800" b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>
                <a:sym typeface="Symbol" panose="05050102010706020507" pitchFamily="18" charset="2"/>
              </a:rPr>
              <a:t>Increasing the size of training data reduces the difference between training and testing errors at a given number of nodes</a:t>
            </a:r>
            <a:endParaRPr lang="en-US" altLang="en-US" sz="1800" b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Model Overfitting</a:t>
            </a:r>
            <a:endParaRPr lang="en-US" altLang="en-US"/>
          </a:p>
        </p:txBody>
      </p:sp>
      <p:pic>
        <p:nvPicPr>
          <p:cNvPr id="13314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47650" y="838200"/>
            <a:ext cx="5048250" cy="3657600"/>
          </a:xfrm>
          <a:noFill/>
        </p:spPr>
      </p:pic>
      <p:pic>
        <p:nvPicPr>
          <p:cNvPr id="13315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838200"/>
            <a:ext cx="5257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19" t="9634" r="13583" b="75781"/>
          <a:stretch>
            <a:fillRect/>
          </a:stretch>
        </p:blipFill>
        <p:spPr bwMode="auto">
          <a:xfrm>
            <a:off x="7543800" y="1143000"/>
            <a:ext cx="1181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4619625" y="4419600"/>
            <a:ext cx="4495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Using twice the number of data instances</a:t>
            </a:r>
            <a:endParaRPr lang="en-US" altLang="en-US" sz="1600"/>
          </a:p>
        </p:txBody>
      </p:sp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304800" y="4953000"/>
            <a:ext cx="86868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>
                <a:sym typeface="Symbol" panose="05050102010706020507" pitchFamily="18" charset="2"/>
              </a:rPr>
              <a:t>If training data is under-representative, testing errors increase and training errors decrease on increasing number of nodes</a:t>
            </a:r>
            <a:endParaRPr lang="en-US" altLang="en-US" sz="1800" b="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b="0">
                <a:sym typeface="Symbol" panose="05050102010706020507" pitchFamily="18" charset="2"/>
              </a:rPr>
              <a:t>Increasing the size of training data reduces the difference between training and testing errors at a given number of nodes</a:t>
            </a:r>
            <a:endParaRPr lang="en-US" altLang="en-US" sz="1800" b="0">
              <a:sym typeface="Symbol" panose="05050102010706020507" pitchFamily="18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676400"/>
            <a:ext cx="1800012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752600"/>
            <a:ext cx="1863755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6394" y="3095238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Decision Tree with 50 nodes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448844" y="3048000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Decision Tree with 50 nodes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Reasons for Model Overfitting</a:t>
            </a:r>
            <a:endParaRPr lang="en-US" altLang="en-US"/>
          </a:p>
        </p:txBody>
      </p:sp>
      <p:sp>
        <p:nvSpPr>
          <p:cNvPr id="143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Limited Training Size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 smtClean="0"/>
              <a:t>High Model Complexity</a:t>
            </a:r>
            <a:endParaRPr lang="en-US" altLang="en-US" dirty="0" smtClean="0"/>
          </a:p>
          <a:p>
            <a:endParaRPr lang="en-US" altLang="en-US" sz="500" dirty="0" smtClean="0"/>
          </a:p>
          <a:p>
            <a:pPr lvl="1"/>
            <a:r>
              <a:rPr lang="en-US" altLang="en-US" sz="2400" dirty="0" smtClean="0"/>
              <a:t>Multiple Comparison Procedure</a:t>
            </a:r>
            <a:endParaRPr lang="en-US" altLang="en-US" sz="2400" dirty="0" smtClean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en-US"/>
              <a:t>Effect of Multiple Comparison Procedure</a:t>
            </a:r>
            <a:endParaRPr lang="en-US" altLang="en-US"/>
          </a:p>
        </p:txBody>
      </p:sp>
      <p:sp>
        <p:nvSpPr>
          <p:cNvPr id="1014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5989637" cy="5181600"/>
          </a:xfrm>
        </p:spPr>
        <p:txBody>
          <a:bodyPr/>
          <a:lstStyle/>
          <a:p>
            <a:r>
              <a:rPr lang="en-US" altLang="en-US" sz="2400"/>
              <a:t>Consider the task of predicting whether stock market will rise/fall in the next 10 trading days</a:t>
            </a:r>
            <a:endParaRPr lang="en-US" altLang="en-US" sz="2400"/>
          </a:p>
          <a:p>
            <a:pPr lvl="4"/>
            <a:endParaRPr lang="en-US" altLang="en-US" sz="1800">
              <a:latin typeface="Times New Roman" panose="02020603050405020304" pitchFamily="18" charset="0"/>
            </a:endParaRPr>
          </a:p>
          <a:p>
            <a:r>
              <a:rPr lang="en-US" altLang="en-US" sz="2400"/>
              <a:t>Random guessing: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 P</a:t>
            </a:r>
            <a:r>
              <a:rPr lang="en-US" altLang="en-US" sz="2400"/>
              <a:t>(</a:t>
            </a:r>
            <a:r>
              <a:rPr lang="en-US" altLang="en-US" sz="2400" i="1">
                <a:latin typeface="Times New Roman" panose="02020603050405020304" pitchFamily="18" charset="0"/>
              </a:rPr>
              <a:t>correct</a:t>
            </a:r>
            <a:r>
              <a:rPr lang="en-US" altLang="en-US" sz="2400"/>
              <a:t>) = 0.5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endParaRPr lang="en-US" altLang="en-US" sz="2400"/>
          </a:p>
          <a:p>
            <a:r>
              <a:rPr lang="en-US" altLang="en-US" sz="2400"/>
              <a:t>Make 10 random guesses in a row:</a:t>
            </a:r>
            <a:endParaRPr lang="en-US" altLang="en-US" sz="2400"/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400"/>
              <a:t> </a:t>
            </a:r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</p:txBody>
      </p:sp>
      <p:graphicFrame>
        <p:nvGraphicFramePr>
          <p:cNvPr id="1014829" name="Group 45"/>
          <p:cNvGraphicFramePr>
            <a:graphicFrameLocks noGrp="1"/>
          </p:cNvGraphicFramePr>
          <p:nvPr>
            <p:ph sz="quarter" idx="2"/>
          </p:nvPr>
        </p:nvGraphicFramePr>
        <p:xfrm>
          <a:off x="6781800" y="1295400"/>
          <a:ext cx="2100263" cy="3962400"/>
        </p:xfrm>
        <a:graphic>
          <a:graphicData uri="http://schemas.openxmlformats.org/drawingml/2006/table">
            <a:tbl>
              <a:tblPr/>
              <a:tblGrid>
                <a:gridCol w="1050925"/>
                <a:gridCol w="1049338"/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Down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Down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Down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6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Down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8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9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Up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Day 10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Down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825" name="Object 4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0600" y="4724400"/>
          <a:ext cx="54864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1" name="Equation" r:id="rId2" imgW="2908300" imgH="647700" progId="Equation.3">
                  <p:embed/>
                </p:oleObj>
              </mc:Choice>
              <mc:Fallback>
                <p:oleObj name="Equation" r:id="rId2" imgW="2908300" imgH="647700" progId="Equation.3">
                  <p:embed/>
                  <p:pic>
                    <p:nvPicPr>
                      <p:cNvPr id="0" name="Picture 6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724400"/>
                        <a:ext cx="5486400" cy="1220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en-US"/>
              <a:t>Effect of Multiple Comparison Procedure</a:t>
            </a:r>
            <a:endParaRPr lang="en-US" altLang="en-US"/>
          </a:p>
        </p:txBody>
      </p:sp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Approach:</a:t>
            </a:r>
            <a:endParaRPr lang="en-US" altLang="en-US"/>
          </a:p>
          <a:p>
            <a:pPr lvl="1"/>
            <a:r>
              <a:rPr lang="en-US" altLang="en-US"/>
              <a:t>Get 50 analysts</a:t>
            </a:r>
            <a:endParaRPr lang="en-US" altLang="en-US"/>
          </a:p>
          <a:p>
            <a:pPr lvl="1"/>
            <a:r>
              <a:rPr lang="en-US" altLang="en-US"/>
              <a:t>Each analyst makes 10 random guesses</a:t>
            </a:r>
            <a:endParaRPr lang="en-US" altLang="en-US"/>
          </a:p>
          <a:p>
            <a:pPr lvl="1"/>
            <a:r>
              <a:rPr lang="en-US" altLang="en-US"/>
              <a:t>Choose the analyst that makes the most number of correct predictions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Probability that at least one analyst makes at least 8 correct predictions</a:t>
            </a:r>
            <a:endParaRPr lang="en-US" altLang="en-US"/>
          </a:p>
        </p:txBody>
      </p:sp>
      <p:graphicFrame>
        <p:nvGraphicFramePr>
          <p:cNvPr id="1020932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47800" y="5257800"/>
          <a:ext cx="59436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Equation" r:id="rId2" imgW="2768600" imgH="228600" progId="Equation.3">
                  <p:embed/>
                </p:oleObj>
              </mc:Choice>
              <mc:Fallback>
                <p:oleObj name="Equation" r:id="rId2" imgW="2768600" imgH="228600" progId="Equation.3">
                  <p:embed/>
                  <p:pic>
                    <p:nvPicPr>
                      <p:cNvPr id="0" name="Picture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257800"/>
                        <a:ext cx="594360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en-US"/>
              <a:t>Effect of Multiple Comparison Procedure</a:t>
            </a:r>
            <a:endParaRPr lang="en-US" altLang="en-US"/>
          </a:p>
        </p:txBody>
      </p:sp>
      <p:sp>
        <p:nvSpPr>
          <p:cNvPr id="102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Many algorithms employ the following greedy strategy: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Initial model: M</a:t>
            </a:r>
            <a:endParaRPr lang="en-US" altLang="en-US" sz="2400"/>
          </a:p>
          <a:p>
            <a:pPr lvl="1">
              <a:lnSpc>
                <a:spcPct val="90000"/>
              </a:lnSpc>
            </a:pPr>
            <a:r>
              <a:rPr lang="en-US" altLang="en-US" sz="2400"/>
              <a:t>Alternative model: M’ = M </a:t>
            </a:r>
            <a:r>
              <a:rPr lang="en-US" altLang="en-US" sz="2400">
                <a:sym typeface="Symbol" panose="05050102010706020507" pitchFamily="18" charset="2"/>
              </a:rPr>
              <a:t></a:t>
            </a:r>
            <a:r>
              <a:rPr lang="en-US" altLang="en-US" sz="2400"/>
              <a:t> </a:t>
            </a:r>
            <a:r>
              <a:rPr lang="en-US" altLang="en-US" sz="2400">
                <a:sym typeface="Symbol" panose="05050102010706020507" pitchFamily="18" charset="2"/>
              </a:rPr>
              <a:t>,   </a:t>
            </a:r>
            <a:br>
              <a:rPr lang="en-US" altLang="en-US" sz="2400">
                <a:sym typeface="Symbol" panose="05050102010706020507" pitchFamily="18" charset="2"/>
              </a:rPr>
            </a:br>
            <a:r>
              <a:rPr lang="en-US" altLang="en-US" sz="2400">
                <a:sym typeface="Symbol" panose="05050102010706020507" pitchFamily="18" charset="2"/>
              </a:rPr>
              <a:t>where  is a component to be added to the model (e.g., a test condition of a decision tree)</a:t>
            </a:r>
            <a:endParaRPr lang="en-US" altLang="en-US" sz="240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/>
              <a:t>Keep M’ if improvement, </a:t>
            </a:r>
            <a:r>
              <a:rPr lang="en-US" altLang="en-US" sz="2400">
                <a:sym typeface="Symbol" panose="05050102010706020507" pitchFamily="18" charset="2"/>
              </a:rPr>
              <a:t>(M,M’) &gt; </a:t>
            </a:r>
            <a:endParaRPr lang="en-US" altLang="en-US" sz="24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Often times, </a:t>
            </a:r>
            <a:r>
              <a:rPr lang="en-US" altLang="en-US" sz="2400">
                <a:sym typeface="Symbol" panose="05050102010706020507" pitchFamily="18" charset="2"/>
              </a:rPr>
              <a:t> is chosen from a set of alternative components,  = {</a:t>
            </a:r>
            <a:r>
              <a:rPr lang="en-US" altLang="en-US" sz="2400" baseline="-25000">
                <a:sym typeface="Symbol" panose="05050102010706020507" pitchFamily="18" charset="2"/>
              </a:rPr>
              <a:t>1</a:t>
            </a:r>
            <a:r>
              <a:rPr lang="en-US" altLang="en-US" sz="2400">
                <a:sym typeface="Symbol" panose="05050102010706020507" pitchFamily="18" charset="2"/>
              </a:rPr>
              <a:t>, </a:t>
            </a:r>
            <a:r>
              <a:rPr lang="en-US" altLang="en-US" sz="2400" baseline="-25000">
                <a:sym typeface="Symbol" panose="05050102010706020507" pitchFamily="18" charset="2"/>
              </a:rPr>
              <a:t>2</a:t>
            </a:r>
            <a:r>
              <a:rPr lang="en-US" altLang="en-US" sz="2400">
                <a:sym typeface="Symbol" panose="05050102010706020507" pitchFamily="18" charset="2"/>
              </a:rPr>
              <a:t>, …, </a:t>
            </a:r>
            <a:r>
              <a:rPr lang="en-US" altLang="en-US" sz="2400" baseline="-25000">
                <a:sym typeface="Symbol" panose="05050102010706020507" pitchFamily="18" charset="2"/>
              </a:rPr>
              <a:t>k</a:t>
            </a:r>
            <a:r>
              <a:rPr lang="en-US" altLang="en-US" sz="2400">
                <a:sym typeface="Symbol" panose="05050102010706020507" pitchFamily="18" charset="2"/>
              </a:rPr>
              <a:t>}</a:t>
            </a:r>
            <a:endParaRPr lang="en-US" altLang="en-US" sz="24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If many alternatives are available, one may inadvertently add irrelevant components to the model, resulting in model overfitting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19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en-US"/>
              <a:t>Effect of Multiple Comparison - Example</a:t>
            </a:r>
            <a:endParaRPr lang="en-US" altLang="en-US"/>
          </a:p>
        </p:txBody>
      </p:sp>
      <p:pic>
        <p:nvPicPr>
          <p:cNvPr id="18434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838200"/>
            <a:ext cx="510063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2"/>
          <p:cNvSpPr txBox="1">
            <a:spLocks noChangeArrowheads="1"/>
          </p:cNvSpPr>
          <p:nvPr/>
        </p:nvSpPr>
        <p:spPr bwMode="auto">
          <a:xfrm>
            <a:off x="609600" y="4648200"/>
            <a:ext cx="3586163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Use additional 100 noisy variables generated from a uniform distribution along with X and Y as attributes.</a:t>
            </a: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b="0"/>
              <a:t>Use 30% of the data for training and 70% of the data for testing</a:t>
            </a:r>
            <a:endParaRPr lang="en-US" altLang="en-US" sz="1600" b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3436938"/>
            <a:ext cx="3970337" cy="287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830263"/>
            <a:ext cx="3960812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5029200" y="6138863"/>
            <a:ext cx="3586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Using only X and Y as attributes</a:t>
            </a:r>
            <a:endParaRPr lang="en-US" alt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Notes on Overfitting</a:t>
            </a:r>
            <a:endParaRPr lang="en-US" altLang="en-US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Overfitting results in decision trees that are </a:t>
            </a:r>
            <a:r>
              <a:rPr lang="en-US" altLang="en-US" u="sng"/>
              <a:t>more complex</a:t>
            </a:r>
            <a:r>
              <a:rPr lang="en-US" altLang="en-US"/>
              <a:t> than necessary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Training error does not provide a good estimate of how well the tree will perform on previously unseen records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Need ways for estimating generalization errors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Model Selection</a:t>
            </a:r>
            <a:endParaRPr lang="en-US" altLang="en-US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Performed during model </a:t>
            </a:r>
            <a:r>
              <a:rPr lang="en-US" altLang="en-US" dirty="0" smtClean="0">
                <a:solidFill>
                  <a:srgbClr val="000000"/>
                </a:solidFill>
              </a:rPr>
              <a:t>building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10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Purpose is to ensure that model is not overly complex (to avoid </a:t>
            </a:r>
            <a:r>
              <a:rPr lang="en-US" altLang="en-US" dirty="0" err="1">
                <a:solidFill>
                  <a:srgbClr val="000000"/>
                </a:solidFill>
              </a:rPr>
              <a:t>overfitting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1000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Need </a:t>
            </a:r>
            <a:r>
              <a:rPr lang="en-US" altLang="en-US" dirty="0">
                <a:solidFill>
                  <a:srgbClr val="000000"/>
                </a:solidFill>
              </a:rPr>
              <a:t>to estimate generalization error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smtClean="0"/>
              <a:t>Using Validation Set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lvl="1"/>
            <a:endParaRPr lang="en-US" altLang="en-US" sz="500" dirty="0" smtClean="0"/>
          </a:p>
          <a:p>
            <a:pPr lvl="1"/>
            <a:r>
              <a:rPr lang="en-US" altLang="en-US" dirty="0" smtClean="0"/>
              <a:t>Incorporating </a:t>
            </a:r>
            <a:r>
              <a:rPr lang="en-US" altLang="en-US" dirty="0"/>
              <a:t>Model </a:t>
            </a:r>
            <a:r>
              <a:rPr lang="en-US" altLang="en-US" dirty="0" smtClean="0"/>
              <a:t>Complexity</a:t>
            </a:r>
            <a:endParaRPr lang="en-US" altLang="en-US" dirty="0" smtClean="0"/>
          </a:p>
          <a:p>
            <a:pPr lvl="1"/>
            <a:endParaRPr lang="en-US" altLang="en-US" sz="500" dirty="0" smtClean="0"/>
          </a:p>
          <a:p>
            <a:pPr lvl="1"/>
            <a:r>
              <a:rPr lang="en-US" altLang="en-US" dirty="0" smtClean="0"/>
              <a:t>Estimating Statistical Bounds</a:t>
            </a:r>
            <a:endParaRPr lang="en-US" altLang="en-US" dirty="0" smtClean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80400" cy="533400"/>
          </a:xfrm>
        </p:spPr>
        <p:txBody>
          <a:bodyPr/>
          <a:lstStyle/>
          <a:p>
            <a:r>
              <a:rPr lang="en-US" altLang="en-US" sz="2000" dirty="0" smtClean="0"/>
              <a:t>Model Selection:</a:t>
            </a:r>
            <a:br>
              <a:rPr lang="en-US" altLang="en-US" sz="2000" dirty="0" smtClean="0"/>
            </a:br>
            <a:r>
              <a:rPr lang="en-US" altLang="en-US" dirty="0" smtClean="0"/>
              <a:t>Using </a:t>
            </a:r>
            <a:r>
              <a:rPr lang="en-US" altLang="en-US" dirty="0"/>
              <a:t>Validation Set</a:t>
            </a:r>
            <a:endParaRPr lang="en-US" altLang="en-US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Divide </a:t>
            </a:r>
            <a:r>
              <a:rPr lang="en-US" altLang="en-US" u="sng"/>
              <a:t>training</a:t>
            </a:r>
            <a:r>
              <a:rPr lang="en-US" altLang="en-US"/>
              <a:t> data into two parts:</a:t>
            </a:r>
            <a:endParaRPr lang="en-US" altLang="en-US"/>
          </a:p>
          <a:p>
            <a:pPr lvl="1"/>
            <a:r>
              <a:rPr lang="en-US" altLang="en-US"/>
              <a:t>Training set: </a:t>
            </a:r>
            <a:endParaRPr lang="en-US" altLang="en-US"/>
          </a:p>
          <a:p>
            <a:pPr lvl="2"/>
            <a:r>
              <a:rPr lang="en-US" altLang="en-US"/>
              <a:t> use for model building</a:t>
            </a:r>
            <a:endParaRPr lang="en-US" altLang="en-US"/>
          </a:p>
          <a:p>
            <a:pPr lvl="1"/>
            <a:r>
              <a:rPr lang="en-US" altLang="en-US"/>
              <a:t>Validation set: </a:t>
            </a:r>
            <a:endParaRPr lang="en-US" altLang="en-US"/>
          </a:p>
          <a:p>
            <a:pPr lvl="2"/>
            <a:r>
              <a:rPr lang="en-US" altLang="en-US"/>
              <a:t> use for estimating generalization error</a:t>
            </a:r>
            <a:endParaRPr lang="en-US" altLang="en-US"/>
          </a:p>
          <a:p>
            <a:pPr lvl="2"/>
            <a:r>
              <a:rPr lang="en-US" altLang="en-US"/>
              <a:t> Note: validation set is not the same as test set</a:t>
            </a:r>
            <a:endParaRPr lang="en-US" altLang="en-US"/>
          </a:p>
          <a:p>
            <a:pPr lvl="2"/>
            <a:endParaRPr lang="en-US" altLang="en-US"/>
          </a:p>
          <a:p>
            <a:r>
              <a:rPr lang="en-US" altLang="en-US"/>
              <a:t>Drawback:</a:t>
            </a:r>
            <a:endParaRPr lang="en-US" altLang="en-US"/>
          </a:p>
          <a:p>
            <a:pPr lvl="1"/>
            <a:r>
              <a:rPr lang="en-US" altLang="en-US"/>
              <a:t>Less data available for training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80400" cy="533400"/>
          </a:xfrm>
        </p:spPr>
        <p:txBody>
          <a:bodyPr/>
          <a:lstStyle/>
          <a:p>
            <a:r>
              <a:rPr lang="en-US" altLang="en-US" sz="2000">
                <a:solidFill>
                  <a:srgbClr val="000000"/>
                </a:solidFill>
              </a:rPr>
              <a:t>Model </a:t>
            </a:r>
            <a:r>
              <a:rPr lang="en-US" altLang="en-US" sz="2000" smtClean="0">
                <a:solidFill>
                  <a:srgbClr val="000000"/>
                </a:solidFill>
              </a:rPr>
              <a:t>Selection:</a:t>
            </a:r>
            <a:br>
              <a:rPr lang="en-US" altLang="en-US" sz="2000">
                <a:solidFill>
                  <a:srgbClr val="000000"/>
                </a:solidFill>
              </a:rPr>
            </a:br>
            <a:r>
              <a:rPr lang="en-US" altLang="en-US" smtClean="0"/>
              <a:t>Incorporating </a:t>
            </a:r>
            <a:r>
              <a:rPr lang="en-US" altLang="en-US"/>
              <a:t>Model Complexity</a:t>
            </a:r>
            <a:endParaRPr lang="en-US" altLang="en-US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 smtClean="0"/>
              <a:t>Rationale: Occam’s Razor</a:t>
            </a:r>
            <a:endParaRPr lang="en-US" altLang="en-US" sz="2400" dirty="0" smtClean="0"/>
          </a:p>
          <a:p>
            <a:pPr lvl="1"/>
            <a:r>
              <a:rPr lang="en-US" altLang="en-US" sz="2400" dirty="0"/>
              <a:t>Given two models of similar generalization errors,  one should prefer the simpler model over the more complex model</a:t>
            </a:r>
            <a:endParaRPr lang="en-US" altLang="en-US" sz="2400" dirty="0"/>
          </a:p>
          <a:p>
            <a:pPr lvl="4"/>
            <a:endParaRPr lang="en-US" altLang="en-US" sz="1800" dirty="0">
              <a:latin typeface="Times New Roman" panose="02020603050405020304" pitchFamily="18" charset="0"/>
            </a:endParaRPr>
          </a:p>
          <a:p>
            <a:pPr lvl="1"/>
            <a:r>
              <a:rPr lang="en-US" altLang="en-US" sz="2400" dirty="0"/>
              <a:t>A complex model has a greater chance of being fitted accidentally by errors in data</a:t>
            </a:r>
            <a:endParaRPr lang="en-US" altLang="en-US" sz="2400" dirty="0"/>
          </a:p>
          <a:p>
            <a:pPr lvl="4"/>
            <a:endParaRPr lang="en-US" altLang="en-US" sz="1800" dirty="0">
              <a:latin typeface="Times New Roman" panose="02020603050405020304" pitchFamily="18" charset="0"/>
            </a:endParaRPr>
          </a:p>
          <a:p>
            <a:pPr lvl="1"/>
            <a:r>
              <a:rPr lang="en-US" altLang="en-US" sz="2400" dirty="0"/>
              <a:t>Therefore, one should include model complexity when evaluating a </a:t>
            </a:r>
            <a:r>
              <a:rPr lang="en-US" altLang="en-US" sz="2400" dirty="0" smtClean="0"/>
              <a:t>model</a:t>
            </a:r>
            <a:endParaRPr lang="en-US" altLang="en-US" sz="2400" dirty="0" smtClean="0"/>
          </a:p>
          <a:p>
            <a:pPr marL="457200" lvl="1" indent="0">
              <a:buNone/>
            </a:pPr>
            <a:endParaRPr lang="en-US" altLang="en-US" sz="1200" dirty="0" smtClean="0">
              <a:solidFill>
                <a:srgbClr val="FF0000"/>
              </a:solidFill>
            </a:endParaRPr>
          </a:p>
          <a:p>
            <a:pPr lvl="1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529880" y="5257800"/>
            <a:ext cx="8229600" cy="919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</a:pPr>
            <a:r>
              <a:rPr lang="en-US" altLang="en-US" sz="2400" b="0" kern="0" dirty="0">
                <a:solidFill>
                  <a:srgbClr val="FF0000"/>
                </a:solidFill>
                <a:latin typeface="Arial" panose="020B0604020202020204"/>
              </a:rPr>
              <a:t>Gen. Error(Model) = Train. Error(Model, Train. Data) </a:t>
            </a:r>
            <a:r>
              <a:rPr lang="en-US" altLang="en-US" sz="2400" b="0" kern="0" dirty="0" smtClean="0">
                <a:solidFill>
                  <a:srgbClr val="FF0000"/>
                </a:solidFill>
                <a:latin typeface="Arial" panose="020B0604020202020204"/>
              </a:rPr>
              <a:t>+ </a:t>
            </a:r>
            <a:endParaRPr lang="en-US" altLang="en-US" sz="2400" b="0" kern="0" dirty="0" smtClean="0">
              <a:solidFill>
                <a:srgbClr val="FF0000"/>
              </a:solidFill>
              <a:latin typeface="Arial" panose="020B0604020202020204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</a:pPr>
            <a:r>
              <a:rPr lang="en-US" altLang="en-US" sz="2400" b="0" kern="0" dirty="0" smtClean="0">
                <a:solidFill>
                  <a:srgbClr val="FF0000"/>
                </a:solidFill>
                <a:latin typeface="Arial" panose="020B0604020202020204"/>
              </a:rPr>
              <a:t>				 	x Complexity(Model</a:t>
            </a:r>
            <a:r>
              <a:rPr lang="en-US" altLang="en-US" sz="2400" b="0" kern="0" dirty="0">
                <a:solidFill>
                  <a:srgbClr val="FF0000"/>
                </a:solidFill>
                <a:latin typeface="Arial" panose="020B0604020202020204"/>
              </a:rPr>
              <a:t>)</a:t>
            </a:r>
            <a:endParaRPr lang="en-US" altLang="en-US" sz="2400" b="0" kern="0" dirty="0">
              <a:solidFill>
                <a:srgbClr val="FF0000"/>
              </a:solidFill>
              <a:latin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496" y="5567856"/>
            <a:ext cx="652877" cy="756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rgbClr val="000000"/>
                </a:solidFill>
              </a:rPr>
              <a:t>Estimating the Complexity of Decision Trees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Pessimistic </a:t>
            </a:r>
            <a:r>
              <a:rPr lang="en-US" altLang="en-US" b="1" dirty="0"/>
              <a:t>Error Estimate</a:t>
            </a:r>
            <a:r>
              <a:rPr lang="en-US" altLang="en-US" dirty="0"/>
              <a:t> of decision tree </a:t>
            </a:r>
            <a:r>
              <a:rPr lang="en-US" altLang="en-US" i="1" dirty="0">
                <a:latin typeface="Times New Roman" panose="02020603050405020304" pitchFamily="18" charset="0"/>
              </a:rPr>
              <a:t>T </a:t>
            </a:r>
            <a:r>
              <a:rPr lang="en-US" altLang="en-US" dirty="0"/>
              <a:t>with k leaf nodes:</a:t>
            </a: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sz="2400" dirty="0" smtClean="0">
                <a:sym typeface="Symbol" panose="05050102010706020507" pitchFamily="18" charset="2"/>
              </a:rPr>
              <a:t>err(T): error rate on all training records </a:t>
            </a:r>
            <a:endParaRPr lang="en-US" altLang="en-US" sz="2400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 smtClean="0">
                <a:sym typeface="Symbol" panose="05050102010706020507" pitchFamily="18" charset="2"/>
              </a:rPr>
              <a:t></a:t>
            </a:r>
            <a:r>
              <a:rPr lang="en-US" altLang="en-US" sz="2400" dirty="0">
                <a:sym typeface="Symbol" panose="05050102010706020507" pitchFamily="18" charset="2"/>
              </a:rPr>
              <a:t>: </a:t>
            </a:r>
            <a:r>
              <a:rPr lang="en-US" altLang="en-US" sz="2400" dirty="0" smtClean="0">
                <a:sym typeface="Symbol" panose="05050102010706020507" pitchFamily="18" charset="2"/>
              </a:rPr>
              <a:t>trade-off hyper-parameter (similar to   )</a:t>
            </a:r>
            <a:endParaRPr lang="en-US" altLang="en-US" sz="2400" dirty="0" smtClean="0">
              <a:sym typeface="Symbol" panose="05050102010706020507" pitchFamily="18" charset="2"/>
            </a:endParaRPr>
          </a:p>
          <a:p>
            <a:pPr lvl="2"/>
            <a:r>
              <a:rPr lang="en-US" altLang="en-US" sz="2000" dirty="0" smtClean="0">
                <a:sym typeface="Symbol" panose="05050102010706020507" pitchFamily="18" charset="2"/>
              </a:rPr>
              <a:t>Relative cost of adding a leaf node</a:t>
            </a:r>
            <a:endParaRPr lang="en-US" altLang="en-US" sz="2000" dirty="0" smtClean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 smtClean="0">
                <a:sym typeface="Symbol" panose="05050102010706020507" pitchFamily="18" charset="2"/>
              </a:rPr>
              <a:t>k: number of leaf nodes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 smtClean="0">
                <a:sym typeface="Symbol" panose="05050102010706020507" pitchFamily="18" charset="2"/>
              </a:rPr>
              <a:t>N</a:t>
            </a:r>
            <a:r>
              <a:rPr lang="en-US" altLang="en-US" sz="2400" baseline="-25000" dirty="0" err="1" smtClean="0">
                <a:sym typeface="Symbol" panose="05050102010706020507" pitchFamily="18" charset="2"/>
              </a:rPr>
              <a:t>train</a:t>
            </a:r>
            <a:r>
              <a:rPr lang="en-US" altLang="en-US" sz="2400" dirty="0" smtClean="0">
                <a:sym typeface="Symbol" panose="05050102010706020507" pitchFamily="18" charset="2"/>
              </a:rPr>
              <a:t>: </a:t>
            </a:r>
            <a:r>
              <a:rPr lang="en-US" altLang="en-US" sz="2400" dirty="0">
                <a:sym typeface="Symbol" panose="05050102010706020507" pitchFamily="18" charset="2"/>
              </a:rPr>
              <a:t>total number of training records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362200"/>
            <a:ext cx="4343400" cy="10524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4114800"/>
            <a:ext cx="4699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01958"/>
            <a:ext cx="9220200" cy="533400"/>
          </a:xfrm>
        </p:spPr>
        <p:txBody>
          <a:bodyPr/>
          <a:lstStyle/>
          <a:p>
            <a:r>
              <a:rPr lang="en-US" altLang="en-US" sz="2400" dirty="0">
                <a:solidFill>
                  <a:srgbClr val="000000"/>
                </a:solidFill>
              </a:rPr>
              <a:t>Estimating the Complexity of </a:t>
            </a:r>
            <a:r>
              <a:rPr lang="en-US" altLang="en-US" sz="2400">
                <a:solidFill>
                  <a:srgbClr val="000000"/>
                </a:solidFill>
              </a:rPr>
              <a:t>Decision </a:t>
            </a:r>
            <a:r>
              <a:rPr lang="en-US" altLang="en-US" sz="2400" smtClean="0">
                <a:solidFill>
                  <a:srgbClr val="000000"/>
                </a:solidFill>
              </a:rPr>
              <a:t>Trees: Example</a:t>
            </a:r>
            <a:endParaRPr lang="en-US" altLang="en-US" sz="2800" dirty="0"/>
          </a:p>
        </p:txBody>
      </p:sp>
      <p:graphicFrame>
        <p:nvGraphicFramePr>
          <p:cNvPr id="25602" name="Object 4"/>
          <p:cNvGraphicFramePr>
            <a:graphicFrameLocks noChangeAspect="1"/>
          </p:cNvGraphicFramePr>
          <p:nvPr/>
        </p:nvGraphicFramePr>
        <p:xfrm>
          <a:off x="457200" y="1219200"/>
          <a:ext cx="6400800" cy="343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0" name="Visio" r:id="rId2" imgW="9797415" imgH="5255895" progId="Visio.Drawing.11">
                  <p:embed/>
                </p:oleObj>
              </mc:Choice>
              <mc:Fallback>
                <p:oleObj name="Visio" r:id="rId2" imgW="9797415" imgH="5255895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6400800" cy="343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125" name="Text Box 5"/>
          <p:cNvSpPr txBox="1">
            <a:spLocks noChangeArrowheads="1"/>
          </p:cNvSpPr>
          <p:nvPr/>
        </p:nvSpPr>
        <p:spPr bwMode="auto">
          <a:xfrm>
            <a:off x="7239000" y="1981200"/>
            <a:ext cx="16764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L</a:t>
            </a:r>
            <a:r>
              <a:rPr lang="en-US" altLang="en-US" sz="1800"/>
              <a:t>) = 4/24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R</a:t>
            </a:r>
            <a:r>
              <a:rPr lang="en-US" altLang="en-US" sz="1800"/>
              <a:t>) = 6/24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 = 1</a:t>
            </a:r>
            <a:endParaRPr lang="en-US" altLang="en-US" sz="1800">
              <a:sym typeface="Symbol" panose="05050102010706020507" pitchFamily="18" charset="2"/>
            </a:endParaRPr>
          </a:p>
        </p:txBody>
      </p:sp>
      <p:sp>
        <p:nvSpPr>
          <p:cNvPr id="1029126" name="Text Box 6"/>
          <p:cNvSpPr txBox="1">
            <a:spLocks noChangeArrowheads="1"/>
          </p:cNvSpPr>
          <p:nvPr/>
        </p:nvSpPr>
        <p:spPr bwMode="auto">
          <a:xfrm>
            <a:off x="1219200" y="5029200"/>
            <a:ext cx="52578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 smtClean="0"/>
              <a:t>e</a:t>
            </a:r>
            <a:r>
              <a:rPr lang="en-US" altLang="en-US" sz="1800" baseline="-25000" dirty="0" err="1" smtClean="0"/>
              <a:t>gen</a:t>
            </a:r>
            <a:r>
              <a:rPr lang="en-US" altLang="en-US" sz="1800" dirty="0" smtClean="0"/>
              <a:t>(T</a:t>
            </a:r>
            <a:r>
              <a:rPr lang="en-US" altLang="en-US" sz="1800" baseline="-25000" dirty="0" smtClean="0"/>
              <a:t>L</a:t>
            </a:r>
            <a:r>
              <a:rPr lang="en-US" altLang="en-US" sz="1800" dirty="0"/>
              <a:t>) = </a:t>
            </a:r>
            <a:r>
              <a:rPr lang="en-US" altLang="en-US" sz="1800" dirty="0" smtClean="0"/>
              <a:t>4/24 + 1*7/24 </a:t>
            </a:r>
            <a:r>
              <a:rPr lang="en-US" altLang="en-US" sz="1800" dirty="0"/>
              <a:t>= 11/24 = 0.458</a:t>
            </a:r>
            <a:endParaRPr lang="en-US" altLang="en-US" sz="1800" dirty="0"/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 err="1" smtClean="0"/>
              <a:t>e</a:t>
            </a:r>
            <a:r>
              <a:rPr lang="en-US" altLang="en-US" sz="1800" baseline="-25000" dirty="0" err="1" smtClean="0"/>
              <a:t>gen</a:t>
            </a:r>
            <a:r>
              <a:rPr lang="en-US" altLang="en-US" sz="1800" dirty="0" smtClean="0"/>
              <a:t>(T</a:t>
            </a:r>
            <a:r>
              <a:rPr lang="en-US" altLang="en-US" sz="1800" baseline="-25000" dirty="0" smtClean="0"/>
              <a:t>R</a:t>
            </a:r>
            <a:r>
              <a:rPr lang="en-US" altLang="en-US" sz="1800" dirty="0"/>
              <a:t>) = </a:t>
            </a:r>
            <a:r>
              <a:rPr lang="en-US" altLang="en-US" sz="1800" dirty="0" smtClean="0"/>
              <a:t>6/24 + 1*4/24 </a:t>
            </a:r>
            <a:r>
              <a:rPr lang="en-US" altLang="en-US" sz="1800" dirty="0"/>
              <a:t>= 10/24 = 0.417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125" grpId="0"/>
      <p:bldP spid="10291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 smtClean="0"/>
              <a:t>Estimating the Complexity of Decision Trees</a:t>
            </a:r>
            <a:endParaRPr lang="en-US" altLang="en-US" sz="28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 smtClean="0"/>
              <a:t>Resubstitution</a:t>
            </a:r>
            <a:r>
              <a:rPr lang="en-US" altLang="en-US" dirty="0" smtClean="0"/>
              <a:t> Estimate: </a:t>
            </a:r>
            <a:endParaRPr lang="en-US" altLang="en-US" dirty="0" smtClean="0"/>
          </a:p>
          <a:p>
            <a:pPr lvl="1"/>
            <a:r>
              <a:rPr lang="en-US" altLang="en-US" sz="2400" dirty="0" smtClean="0"/>
              <a:t>Using </a:t>
            </a:r>
            <a:r>
              <a:rPr lang="en-US" altLang="en-US" sz="2400" dirty="0"/>
              <a:t>training error as an optimistic estimate of generalization </a:t>
            </a:r>
            <a:r>
              <a:rPr lang="en-US" altLang="en-US" sz="2400" dirty="0" smtClean="0"/>
              <a:t>error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Referred to as optimistic error estimate</a:t>
            </a:r>
            <a:endParaRPr lang="en-US" altLang="en-US" dirty="0"/>
          </a:p>
        </p:txBody>
      </p:sp>
      <p:graphicFrame>
        <p:nvGraphicFramePr>
          <p:cNvPr id="2253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85800" y="3139071"/>
          <a:ext cx="5943600" cy="3188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Visio" r:id="rId2" imgW="9797415" imgH="5255895" progId="Visio.Drawing.11">
                  <p:embed/>
                </p:oleObj>
              </mc:Choice>
              <mc:Fallback>
                <p:oleObj name="Visio" r:id="rId2" imgW="9797415" imgH="5255895" progId="Visio.Drawing.11">
                  <p:embed/>
                  <p:pic>
                    <p:nvPicPr>
                      <p:cNvPr id="0" name="Picture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39071"/>
                        <a:ext cx="5943600" cy="31888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2982" name="Text Box 6"/>
          <p:cNvSpPr txBox="1">
            <a:spLocks noChangeArrowheads="1"/>
          </p:cNvSpPr>
          <p:nvPr/>
        </p:nvSpPr>
        <p:spPr bwMode="auto">
          <a:xfrm>
            <a:off x="7324587" y="3206750"/>
            <a:ext cx="16764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e(T</a:t>
            </a:r>
            <a:r>
              <a:rPr lang="en-US" altLang="en-US" sz="1800" baseline="-25000"/>
              <a:t>L</a:t>
            </a:r>
            <a:r>
              <a:rPr lang="en-US" altLang="en-US" sz="1800"/>
              <a:t>) = 4/24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 dirty="0"/>
              <a:t>e(T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) = 6/24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298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Minimum Description Length (MDL)</a:t>
            </a:r>
            <a:endParaRPr lang="en-US" altLang="en-US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714750"/>
            <a:ext cx="8229600" cy="25336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Cost(</a:t>
            </a:r>
            <a:r>
              <a:rPr lang="en-US" altLang="en-US" sz="2400" dirty="0" err="1">
                <a:solidFill>
                  <a:srgbClr val="FF0000"/>
                </a:solidFill>
              </a:rPr>
              <a:t>Model,Data</a:t>
            </a:r>
            <a:r>
              <a:rPr lang="en-US" altLang="en-US" sz="2400" dirty="0">
                <a:solidFill>
                  <a:srgbClr val="FF0000"/>
                </a:solidFill>
              </a:rPr>
              <a:t>) = Cost(</a:t>
            </a:r>
            <a:r>
              <a:rPr lang="en-US" altLang="en-US" sz="2400" dirty="0" err="1">
                <a:solidFill>
                  <a:srgbClr val="FF0000"/>
                </a:solidFill>
              </a:rPr>
              <a:t>Data|Model</a:t>
            </a:r>
            <a:r>
              <a:rPr lang="en-US" altLang="en-US" sz="2400" dirty="0">
                <a:solidFill>
                  <a:srgbClr val="FF0000"/>
                </a:solidFill>
              </a:rPr>
              <a:t>) + </a:t>
            </a:r>
            <a:r>
              <a:rPr lang="en-US" altLang="en-US" sz="2400" dirty="0" smtClean="0">
                <a:solidFill>
                  <a:srgbClr val="FF0000"/>
                </a:solidFill>
              </a:rPr>
              <a:t>   x Cost(Model</a:t>
            </a:r>
            <a:r>
              <a:rPr lang="en-US" altLang="en-US" sz="2400" dirty="0">
                <a:solidFill>
                  <a:srgbClr val="FF0000"/>
                </a:solidFill>
              </a:rPr>
              <a:t>)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dirty="0"/>
              <a:t>Cost is the number of bits needed for encoding.</a:t>
            </a:r>
            <a:endParaRPr lang="en-US" altLang="en-US" sz="2400" dirty="0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dirty="0"/>
              <a:t>Search for the least costly model.</a:t>
            </a:r>
            <a:endParaRPr lang="en-US" altLang="en-US" sz="2400" dirty="0"/>
          </a:p>
          <a:p>
            <a:pPr marL="342900" indent="-342900">
              <a:lnSpc>
                <a:spcPct val="90000"/>
              </a:lnSpc>
            </a:pPr>
            <a:r>
              <a:rPr lang="en-US" altLang="en-US" sz="2400" dirty="0"/>
              <a:t>Cost(</a:t>
            </a:r>
            <a:r>
              <a:rPr lang="en-US" altLang="en-US" sz="2400" dirty="0" err="1"/>
              <a:t>Data|Model</a:t>
            </a:r>
            <a:r>
              <a:rPr lang="en-US" altLang="en-US" sz="2400" dirty="0"/>
              <a:t>) encodes the misclassification errors.</a:t>
            </a:r>
            <a:endParaRPr lang="en-US" altLang="en-US" sz="2400" dirty="0"/>
          </a:p>
          <a:p>
            <a:pPr marL="342900" indent="-342900">
              <a:lnSpc>
                <a:spcPct val="90000"/>
              </a:lnSpc>
            </a:pPr>
            <a:r>
              <a:rPr lang="en-US" altLang="en-US" sz="2400" dirty="0"/>
              <a:t>Cost(Model) uses node encoding (number of children) plus splitting condition encoding.</a:t>
            </a:r>
            <a:endParaRPr lang="en-US" altLang="en-US" sz="2400" dirty="0"/>
          </a:p>
        </p:txBody>
      </p:sp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2209800" y="1143000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name="VISIO" r:id="rId2" imgW="6348730" imgH="3473450" progId="Visio.Drawing.11">
                  <p:embed/>
                </p:oleObj>
              </mc:Choice>
              <mc:Fallback>
                <p:oleObj name="VISIO" r:id="rId2" imgW="6348730" imgH="3473450" progId="Visio.Drawing.11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143000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5"/>
          <p:cNvGraphicFramePr>
            <a:graphicFrameLocks noChangeAspect="1"/>
          </p:cNvGraphicFramePr>
          <p:nvPr/>
        </p:nvGraphicFramePr>
        <p:xfrm>
          <a:off x="685800" y="12192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name="Worksheet" r:id="rId4" imgW="1165225" imgH="2187575" progId="Excel.Sheet.8">
                  <p:embed/>
                </p:oleObj>
              </mc:Choice>
              <mc:Fallback>
                <p:oleObj name="Worksheet" r:id="rId4" imgW="1165225" imgH="2187575" progId="Excel.Sheet.8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ChangeAspect="1"/>
          </p:cNvGraphicFramePr>
          <p:nvPr/>
        </p:nvGraphicFramePr>
        <p:xfrm>
          <a:off x="7239000" y="13716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4" name="Worksheet" r:id="rId6" imgW="1165225" imgH="2187575" progId="Excel.Sheet.8">
                  <p:embed/>
                </p:oleObj>
              </mc:Choice>
              <mc:Fallback>
                <p:oleObj name="Worksheet" r:id="rId6" imgW="1165225" imgH="2187575" progId="Excel.Sheet.8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3716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549650"/>
            <a:ext cx="652877" cy="756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Estimating Statistical Bounds</a:t>
            </a:r>
            <a:endParaRPr lang="en-US" altLang="en-US"/>
          </a:p>
        </p:txBody>
      </p:sp>
      <p:graphicFrame>
        <p:nvGraphicFramePr>
          <p:cNvPr id="28674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838200" y="1600200"/>
          <a:ext cx="160655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0" name="Visio" r:id="rId2" imgW="1628775" imgH="2266950" progId="Visio.Drawing.11">
                  <p:embed/>
                </p:oleObj>
              </mc:Choice>
              <mc:Fallback>
                <p:oleObj name="Visio" r:id="rId2" imgW="1628775" imgH="2266950" progId="Visio.Drawing.11">
                  <p:embed/>
                  <p:pic>
                    <p:nvPicPr>
                      <p:cNvPr id="0" name="Picture 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00200"/>
                        <a:ext cx="1606550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5" name="Text Box 7"/>
          <p:cNvSpPr txBox="1">
            <a:spLocks noChangeArrowheads="1"/>
          </p:cNvSpPr>
          <p:nvPr/>
        </p:nvSpPr>
        <p:spPr bwMode="auto">
          <a:xfrm>
            <a:off x="3048000" y="2387600"/>
            <a:ext cx="57150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Before splitting:   e = 2/7,   e’(7, 2/7, 0.25) = 0.503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/>
              <a:t>		e’(T) = 7 </a:t>
            </a:r>
            <a:r>
              <a:rPr lang="en-US" altLang="en-US" sz="1800">
                <a:sym typeface="Symbol" panose="05050102010706020507" pitchFamily="18" charset="2"/>
              </a:rPr>
              <a:t> 0.503 = 3.521</a:t>
            </a:r>
            <a:endParaRPr lang="en-US" altLang="en-US" sz="18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1800"/>
              <a:t>After splitting:   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/>
              <a:t>	e(T</a:t>
            </a:r>
            <a:r>
              <a:rPr lang="en-US" altLang="en-US" sz="1800" baseline="-25000"/>
              <a:t>L</a:t>
            </a:r>
            <a:r>
              <a:rPr lang="en-US" altLang="en-US" sz="1800"/>
              <a:t>) = 1/4,   e’(4, 1/4, 0.25) = 0.537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/>
              <a:t>	e(T</a:t>
            </a:r>
            <a:r>
              <a:rPr lang="en-US" altLang="en-US" sz="1800" baseline="-25000"/>
              <a:t>R</a:t>
            </a:r>
            <a:r>
              <a:rPr lang="en-US" altLang="en-US" sz="1800"/>
              <a:t>) = 1/3,   e’(3, 1/3, 0.25) = 0.650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/>
              <a:t>	e’(T) = 4 </a:t>
            </a:r>
            <a:r>
              <a:rPr lang="en-US" altLang="en-US" sz="1800">
                <a:sym typeface="Symbol" panose="05050102010706020507" pitchFamily="18" charset="2"/>
              </a:rPr>
              <a:t> 0.537 + 3  0.650 = 4.098 </a:t>
            </a:r>
            <a:endParaRPr lang="en-US" altLang="en-US" sz="1400">
              <a:sym typeface="Symbol" panose="05050102010706020507" pitchFamily="18" charset="2"/>
            </a:endParaRPr>
          </a:p>
        </p:txBody>
      </p:sp>
      <p:graphicFrame>
        <p:nvGraphicFramePr>
          <p:cNvPr id="28676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3352800" y="1066800"/>
          <a:ext cx="38862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name="Equation" r:id="rId4" imgW="2717800" imgH="838200" progId="Equation.3">
                  <p:embed/>
                </p:oleObj>
              </mc:Choice>
              <mc:Fallback>
                <p:oleObj name="Equation" r:id="rId4" imgW="2717800" imgH="838200" progId="Equation.3">
                  <p:embed/>
                  <p:pic>
                    <p:nvPicPr>
                      <p:cNvPr id="0" name="Picture 4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066800"/>
                        <a:ext cx="3886200" cy="1198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178" name="Text Box 10"/>
          <p:cNvSpPr txBox="1">
            <a:spLocks noChangeArrowheads="1"/>
          </p:cNvSpPr>
          <p:nvPr/>
        </p:nvSpPr>
        <p:spPr bwMode="auto">
          <a:xfrm>
            <a:off x="2971800" y="5867400"/>
            <a:ext cx="312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100000"/>
              </a:spcAft>
              <a:buClrTx/>
              <a:buSz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Therefore, do not split</a:t>
            </a:r>
            <a:endParaRPr lang="en-US" altLang="en-US" sz="20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175" grpId="0" build="p"/>
      <p:bldP spid="103117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Model Selection for Decision Trees</a:t>
            </a:r>
            <a:endParaRPr lang="en-US" altLang="en-US" dirty="0"/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763000" cy="5181600"/>
          </a:xfrm>
        </p:spPr>
        <p:txBody>
          <a:bodyPr/>
          <a:lstStyle/>
          <a:p>
            <a:r>
              <a:rPr lang="en-US" altLang="en-US" sz="2400">
                <a:solidFill>
                  <a:srgbClr val="FF0000"/>
                </a:solidFill>
              </a:rPr>
              <a:t>Pre-Pruning (Early Stopping Rule)</a:t>
            </a:r>
            <a:endParaRPr lang="en-US" altLang="en-US" sz="2400">
              <a:solidFill>
                <a:srgbClr val="FF0000"/>
              </a:solidFill>
            </a:endParaRPr>
          </a:p>
          <a:p>
            <a:pPr lvl="1"/>
            <a:r>
              <a:rPr lang="en-US" altLang="en-US" sz="2400"/>
              <a:t>Stop the algorithm before it becomes a fully-grown tree</a:t>
            </a:r>
            <a:endParaRPr lang="en-US" altLang="en-US" sz="2400"/>
          </a:p>
          <a:p>
            <a:pPr lvl="1"/>
            <a:r>
              <a:rPr lang="en-US" altLang="en-US" sz="2400"/>
              <a:t>Typical stopping conditions for a node:</a:t>
            </a:r>
            <a:endParaRPr lang="en-US" altLang="en-US" sz="2400"/>
          </a:p>
          <a:p>
            <a:pPr lvl="2"/>
            <a:r>
              <a:rPr lang="en-US" altLang="en-US" sz="2000"/>
              <a:t> Stop if all instances belong to the same class</a:t>
            </a:r>
            <a:endParaRPr lang="en-US" altLang="en-US" sz="2000"/>
          </a:p>
          <a:p>
            <a:pPr lvl="2"/>
            <a:r>
              <a:rPr lang="en-US" altLang="en-US" sz="2000"/>
              <a:t> Stop if all the attribute values are the same</a:t>
            </a:r>
            <a:endParaRPr lang="en-US" altLang="en-US" sz="2000"/>
          </a:p>
          <a:p>
            <a:pPr lvl="1"/>
            <a:r>
              <a:rPr lang="en-US" altLang="en-US" sz="2400"/>
              <a:t>More restrictive conditions:</a:t>
            </a:r>
            <a:endParaRPr lang="en-US" altLang="en-US" sz="2400"/>
          </a:p>
          <a:p>
            <a:pPr lvl="2"/>
            <a:r>
              <a:rPr lang="en-US" altLang="en-US" sz="2000"/>
              <a:t> Stop if number of instances is less than some user-specified threshold</a:t>
            </a:r>
            <a:endParaRPr lang="en-US" altLang="en-US" sz="2000"/>
          </a:p>
          <a:p>
            <a:pPr lvl="2"/>
            <a:r>
              <a:rPr lang="en-US" altLang="en-US" sz="2000"/>
              <a:t> Stop if class distribution of instances are independent of the available features (e.g., using </a:t>
            </a:r>
            <a:r>
              <a:rPr lang="en-US" altLang="en-US" sz="2000">
                <a:sym typeface="Symbol" panose="05050102010706020507" pitchFamily="18" charset="2"/>
              </a:rPr>
              <a:t></a:t>
            </a:r>
            <a:r>
              <a:rPr lang="en-US" altLang="en-US" sz="2000" baseline="30000">
                <a:sym typeface="Symbol" panose="05050102010706020507" pitchFamily="18" charset="2"/>
              </a:rPr>
              <a:t> 2</a:t>
            </a:r>
            <a:r>
              <a:rPr lang="en-US" altLang="en-US" sz="2000">
                <a:sym typeface="Symbol" panose="05050102010706020507" pitchFamily="18" charset="2"/>
              </a:rPr>
              <a:t> test)</a:t>
            </a:r>
            <a:endParaRPr lang="en-US" altLang="en-US" sz="2000" baseline="30000"/>
          </a:p>
          <a:p>
            <a:pPr lvl="2"/>
            <a:r>
              <a:rPr lang="en-US" altLang="en-US" sz="2000"/>
              <a:t> Stop if expanding the current node does not improve impurity</a:t>
            </a:r>
            <a:br>
              <a:rPr lang="en-US" altLang="en-US" sz="2000"/>
            </a:br>
            <a:r>
              <a:rPr lang="en-US" altLang="en-US" sz="2000"/>
              <a:t>    measures (e.g., Gini or information gain).</a:t>
            </a:r>
            <a:endParaRPr lang="en-US" altLang="en-US" sz="2000"/>
          </a:p>
          <a:p>
            <a:pPr lvl="2"/>
            <a:r>
              <a:rPr lang="en-US" altLang="en-US" sz="2000"/>
              <a:t> Stop if estimated generalization error falls below certain threshold</a:t>
            </a: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 Selection for Decision Trees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Post-pruning</a:t>
            </a:r>
            <a:endParaRPr lang="en-US" altLang="en-US">
              <a:solidFill>
                <a:srgbClr val="FF0000"/>
              </a:solidFill>
            </a:endParaRPr>
          </a:p>
          <a:p>
            <a:pPr lvl="1"/>
            <a:r>
              <a:rPr lang="en-US" altLang="en-US"/>
              <a:t>Grow decision tree to its entirety</a:t>
            </a:r>
            <a:endParaRPr lang="en-US" altLang="en-US"/>
          </a:p>
          <a:p>
            <a:pPr lvl="1"/>
            <a:r>
              <a:rPr lang="en-US" altLang="en-US"/>
              <a:t>Subtree replacement</a:t>
            </a:r>
            <a:endParaRPr lang="en-US" altLang="en-US"/>
          </a:p>
          <a:p>
            <a:pPr lvl="2"/>
            <a:r>
              <a:rPr lang="en-US" altLang="en-US"/>
              <a:t> Trim the nodes of the decision tree in a bottom-up fashion</a:t>
            </a:r>
            <a:endParaRPr lang="en-US" altLang="en-US"/>
          </a:p>
          <a:p>
            <a:pPr lvl="2"/>
            <a:r>
              <a:rPr lang="en-US" altLang="en-US"/>
              <a:t> If generalization error improves after trimming, replace sub-tree by a leaf node </a:t>
            </a:r>
            <a:endParaRPr lang="en-US" altLang="en-US"/>
          </a:p>
          <a:p>
            <a:pPr lvl="2"/>
            <a:r>
              <a:rPr lang="en-US" altLang="en-US"/>
              <a:t> Class label of leaf node is determined from majority class of instances in the sub-tree</a:t>
            </a:r>
            <a:endParaRPr lang="en-US" altLang="en-US"/>
          </a:p>
          <a:p>
            <a:pPr lvl="1"/>
            <a:r>
              <a:rPr lang="en-US" altLang="en-US"/>
              <a:t>Subtree raising</a:t>
            </a:r>
            <a:endParaRPr lang="en-US" altLang="en-US"/>
          </a:p>
          <a:p>
            <a:pPr lvl="2"/>
            <a:r>
              <a:rPr lang="en-US" altLang="en-US"/>
              <a:t> Replace subtree with most frequently used branch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Post-Pruning</a:t>
            </a:r>
            <a:endParaRPr lang="en-US" altLang="en-US"/>
          </a:p>
        </p:txBody>
      </p:sp>
      <p:graphicFrame>
        <p:nvGraphicFramePr>
          <p:cNvPr id="31746" name="Object 3"/>
          <p:cNvGraphicFramePr>
            <a:graphicFrameLocks noChangeAspect="1"/>
          </p:cNvGraphicFramePr>
          <p:nvPr/>
        </p:nvGraphicFramePr>
        <p:xfrm>
          <a:off x="1447800" y="3017838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7" name="VISIO" r:id="rId2" imgW="4689475" imgH="2395220" progId="Visio.Drawing.11">
                  <p:embed/>
                </p:oleObj>
              </mc:Choice>
              <mc:Fallback>
                <p:oleObj name="VISIO" r:id="rId2" imgW="4689475" imgH="2395220" progId="Visio.Drawing.11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17838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7204" name="Group 4"/>
          <p:cNvGraphicFramePr>
            <a:graphicFrameLocks noGrp="1"/>
          </p:cNvGraphicFramePr>
          <p:nvPr/>
        </p:nvGraphicFramePr>
        <p:xfrm>
          <a:off x="914400" y="15240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/>
                <a:gridCol w="457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Yes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No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Error = 10/30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1760" name="Text Box 17"/>
          <p:cNvSpPr txBox="1">
            <a:spLocks noChangeArrowheads="1"/>
          </p:cNvSpPr>
          <p:nvPr/>
        </p:nvSpPr>
        <p:spPr bwMode="auto">
          <a:xfrm>
            <a:off x="4495800" y="1066800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Training Error (Before splitting) = 10/30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Pessimistic error = (10 + 0.5)/30 = 10.5/30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Training Error (After splitting) = 9/30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Pessimistic error (After splitting)</a:t>
            </a:r>
            <a:endParaRPr lang="en-US" altLang="en-US" sz="18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	= (9 + 4 </a:t>
            </a:r>
            <a:r>
              <a:rPr lang="en-US" altLang="en-US" sz="1800">
                <a:sym typeface="Symbol" panose="05050102010706020507" pitchFamily="18" charset="2"/>
              </a:rPr>
              <a:t> 0.5)/30 = 11/30</a:t>
            </a:r>
            <a:endParaRPr lang="en-US" altLang="en-US" sz="1800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	</a:t>
            </a:r>
            <a:r>
              <a:rPr lang="en-US" altLang="en-US" sz="1800">
                <a:solidFill>
                  <a:srgbClr val="FF0000"/>
                </a:solidFill>
              </a:rPr>
              <a:t>PRUNE!</a:t>
            </a:r>
            <a:endParaRPr lang="en-US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947218" name="Group 18"/>
          <p:cNvGraphicFramePr>
            <a:graphicFrameLocks noGrp="1"/>
          </p:cNvGraphicFramePr>
          <p:nvPr/>
        </p:nvGraphicFramePr>
        <p:xfrm>
          <a:off x="1524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Yes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No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7229" name="Group 29"/>
          <p:cNvGraphicFramePr>
            <a:graphicFrameLocks noGrp="1"/>
          </p:cNvGraphicFramePr>
          <p:nvPr/>
        </p:nvGraphicFramePr>
        <p:xfrm>
          <a:off x="19812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Yes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No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7240" name="Group 40"/>
          <p:cNvGraphicFramePr>
            <a:graphicFrameLocks noGrp="1"/>
          </p:cNvGraphicFramePr>
          <p:nvPr/>
        </p:nvGraphicFramePr>
        <p:xfrm>
          <a:off x="38100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Yes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No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7251" name="Group 51"/>
          <p:cNvGraphicFramePr>
            <a:graphicFrameLocks noGrp="1"/>
          </p:cNvGraphicFramePr>
          <p:nvPr/>
        </p:nvGraphicFramePr>
        <p:xfrm>
          <a:off x="56388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335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Yes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= No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Post-pruning</a:t>
            </a:r>
            <a:endParaRPr lang="en-US" altLang="en-US"/>
          </a:p>
        </p:txBody>
      </p:sp>
      <p:graphicFrame>
        <p:nvGraphicFramePr>
          <p:cNvPr id="32770" name="Object 26"/>
          <p:cNvGraphicFramePr>
            <a:graphicFrameLocks noGrp="1" noChangeAspect="1"/>
          </p:cNvGraphicFramePr>
          <p:nvPr>
            <p:ph idx="1"/>
          </p:nvPr>
        </p:nvGraphicFramePr>
        <p:xfrm>
          <a:off x="1106488" y="1016000"/>
          <a:ext cx="7199312" cy="538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Visio" r:id="rId2" imgW="9874250" imgH="7384415" progId="Visio.Drawing.11">
                  <p:embed/>
                </p:oleObj>
              </mc:Choice>
              <mc:Fallback>
                <p:oleObj name="Visio" r:id="rId2" imgW="9874250" imgH="7384415" progId="Visio.Drawing.11">
                  <p:embed/>
                  <p:pic>
                    <p:nvPicPr>
                      <p:cNvPr id="0" name="Picture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1016000"/>
                        <a:ext cx="7199312" cy="538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Model Evaluation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981" y="1066800"/>
            <a:ext cx="8580438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 smtClean="0"/>
              <a:t>Purpose</a:t>
            </a:r>
            <a:r>
              <a:rPr lang="en-US" altLang="en-US" sz="2400" smtClean="0"/>
              <a:t>: </a:t>
            </a:r>
            <a:endParaRPr lang="en-US" altLang="en-US" sz="2400" smtClean="0"/>
          </a:p>
          <a:p>
            <a:pPr lvl="1">
              <a:lnSpc>
                <a:spcPct val="90000"/>
              </a:lnSpc>
            </a:pPr>
            <a:r>
              <a:rPr lang="en-US" altLang="en-US" sz="2400" dirty="0" smtClean="0"/>
              <a:t>To estimate performance of classifier on previously unseen data (test set)</a:t>
            </a:r>
            <a:endParaRPr lang="en-US" altLang="en-US" sz="2400" dirty="0" smtClean="0"/>
          </a:p>
          <a:p>
            <a:endParaRPr lang="en-US" altLang="en-US" sz="1000" dirty="0" smtClean="0"/>
          </a:p>
          <a:p>
            <a:r>
              <a:rPr lang="en-US" altLang="en-US" sz="2400" dirty="0" smtClean="0"/>
              <a:t>Holdout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Reserve k% for training and (100-k)% for testing 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Random subsampling: repeated holdout</a:t>
            </a:r>
            <a:endParaRPr lang="en-US" altLang="en-US" sz="2400" dirty="0" smtClean="0"/>
          </a:p>
          <a:p>
            <a:r>
              <a:rPr lang="en-US" altLang="en-US" sz="2400" dirty="0" smtClean="0"/>
              <a:t>Cross validation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Partition data into k disjoint subsets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k-fold: train on k-1 partitions, test on the remaining one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Leave-one-out:   k=n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Cross-validation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3-fold cross-validation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254250"/>
            <a:ext cx="5664200" cy="295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Issues with Naïve Bayes Classifier</a:t>
            </a:r>
            <a:endParaRPr lang="en-US" altLang="en-US" smtClean="0">
              <a:ea typeface="MS PGothic" panose="020B0600070205080204" pitchFamily="34" charset="-128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If one of the conditional probabilities is zero, then the entire expression becomes zero</a:t>
            </a:r>
            <a:endParaRPr lang="en-US" altLang="en-US" sz="2400" smtClean="0">
              <a:ea typeface="MS PGothic" panose="020B0600070205080204" pitchFamily="34" charset="-128"/>
            </a:endParaRPr>
          </a:p>
          <a:p>
            <a:r>
              <a:rPr lang="en-US" altLang="en-US" sz="2400" smtClean="0">
                <a:ea typeface="MS PGothic" panose="020B0600070205080204" pitchFamily="34" charset="-128"/>
              </a:rPr>
              <a:t>Need to use other estimates of conditional probabilities than simple fractions</a:t>
            </a:r>
            <a:endParaRPr lang="en-US" altLang="en-US" sz="2400" smtClean="0">
              <a:ea typeface="MS PGothic" panose="020B0600070205080204" pitchFamily="34" charset="-128"/>
            </a:endParaRPr>
          </a:p>
          <a:p>
            <a:r>
              <a:rPr lang="en-US" altLang="en-US" sz="2400" smtClean="0">
                <a:ea typeface="MS PGothic" panose="020B0600070205080204" pitchFamily="34" charset="-128"/>
              </a:rPr>
              <a:t>Probability estimation:</a:t>
            </a:r>
            <a:endParaRPr lang="en-US" altLang="en-US" sz="2400" smtClean="0">
              <a:ea typeface="MS PGothic" panose="020B0600070205080204" pitchFamily="34" charset="-128"/>
            </a:endParaRP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762000" y="3505200"/>
          <a:ext cx="4291013" cy="272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2" imgW="2095500" imgH="1333500" progId="Equation.3">
                  <p:embed/>
                </p:oleObj>
              </mc:Choice>
              <mc:Fallback>
                <p:oleObj name="Equation" r:id="rId2" imgW="2095500" imgH="1333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505200"/>
                        <a:ext cx="4291013" cy="272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5867400" y="2616200"/>
            <a:ext cx="2743200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>
                <a:latin typeface="Times New Roman" panose="02020603050405020304" pitchFamily="18" charset="0"/>
              </a:rPr>
              <a:t>c: number of classes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000" b="0">
                <a:latin typeface="Times New Roman" panose="02020603050405020304" pitchFamily="18" charset="0"/>
              </a:rPr>
              <a:t>p: prior probability of the class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000" b="0">
                <a:latin typeface="Times New Roman" panose="02020603050405020304" pitchFamily="18" charset="0"/>
              </a:rPr>
              <a:t>m: parameter</a:t>
            </a:r>
            <a:br>
              <a:rPr lang="en-US" altLang="en-US" sz="2000" b="0">
                <a:latin typeface="Times New Roman" panose="02020603050405020304" pitchFamily="18" charset="0"/>
              </a:rPr>
            </a:br>
            <a:br>
              <a:rPr lang="en-US" altLang="en-US" sz="2000" b="0">
                <a:latin typeface="Times New Roman" panose="02020603050405020304" pitchFamily="18" charset="0"/>
              </a:rPr>
            </a:br>
            <a:r>
              <a:rPr lang="en-US" altLang="en-US" sz="2000" b="0" i="1">
                <a:latin typeface="Times New Roman" panose="02020603050405020304" pitchFamily="18" charset="0"/>
              </a:rPr>
              <a:t>N</a:t>
            </a:r>
            <a:r>
              <a:rPr lang="en-US" altLang="en-US" sz="2000" b="0" i="1" baseline="-25000">
                <a:latin typeface="Times New Roman" panose="02020603050405020304" pitchFamily="18" charset="0"/>
              </a:rPr>
              <a:t>c</a:t>
            </a:r>
            <a:r>
              <a:rPr lang="en-US" altLang="en-US" sz="2000" b="0">
                <a:latin typeface="Times New Roman" panose="02020603050405020304" pitchFamily="18" charset="0"/>
              </a:rPr>
              <a:t>: number of instances in the class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br>
              <a:rPr lang="en-US" altLang="en-US" sz="2000" b="0">
                <a:latin typeface="Times New Roman" panose="02020603050405020304" pitchFamily="18" charset="0"/>
              </a:rPr>
            </a:br>
            <a:r>
              <a:rPr lang="en-US" altLang="en-US" sz="2000" b="0" i="1">
                <a:latin typeface="Times New Roman" panose="02020603050405020304" pitchFamily="18" charset="0"/>
              </a:rPr>
              <a:t>N</a:t>
            </a:r>
            <a:r>
              <a:rPr lang="en-US" altLang="en-US" sz="2000" b="0" i="1" baseline="-25000">
                <a:latin typeface="Times New Roman" panose="02020603050405020304" pitchFamily="18" charset="0"/>
              </a:rPr>
              <a:t>ic</a:t>
            </a:r>
            <a:r>
              <a:rPr lang="en-US" altLang="en-US" sz="2000" b="0">
                <a:latin typeface="Times New Roman" panose="02020603050405020304" pitchFamily="18" charset="0"/>
              </a:rPr>
              <a:t>: number of instances having attribute value </a:t>
            </a:r>
            <a:r>
              <a:rPr lang="en-US" altLang="en-US" sz="2000" b="0" i="1">
                <a:latin typeface="Times New Roman" panose="02020603050405020304" pitchFamily="18" charset="0"/>
              </a:rPr>
              <a:t>A</a:t>
            </a:r>
            <a:r>
              <a:rPr lang="en-US" altLang="en-US" sz="2000" b="0" i="1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 b="0">
                <a:latin typeface="Times New Roman" panose="02020603050405020304" pitchFamily="18" charset="0"/>
              </a:rPr>
              <a:t> in class </a:t>
            </a:r>
            <a:r>
              <a:rPr lang="en-US" altLang="en-US" sz="2000" b="0" i="1">
                <a:latin typeface="Times New Roman" panose="02020603050405020304" pitchFamily="18" charset="0"/>
              </a:rPr>
              <a:t>c</a:t>
            </a:r>
            <a:endParaRPr lang="en-US" altLang="en-US" sz="2000" b="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Example of Naïve Bayes Classifier</a:t>
            </a:r>
            <a:endParaRPr lang="en-US" altLang="en-US" smtClean="0">
              <a:ea typeface="MS PGothic" panose="020B0600070205080204" pitchFamily="34" charset="-128"/>
            </a:endParaRP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152400" y="1295400"/>
          <a:ext cx="51816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Worksheet" r:id="rId2" imgW="6033135" imgH="4509135" progId="Excel.Sheet.8">
                  <p:embed/>
                </p:oleObj>
              </mc:Choice>
              <mc:Fallback>
                <p:oleObj name="Worksheet" r:id="rId2" imgW="6033135" imgH="4509135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5181600" cy="373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304800" y="5410200"/>
          <a:ext cx="5153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Worksheet" r:id="rId4" imgW="4859020" imgH="421640" progId="Excel.Sheet.8">
                  <p:embed/>
                </p:oleObj>
              </mc:Choice>
              <mc:Fallback>
                <p:oleObj name="Worksheet" r:id="rId4" imgW="4859020" imgH="42164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0200"/>
                        <a:ext cx="51530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5487988" y="2362200"/>
          <a:ext cx="3656012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6" imgW="4457700" imgH="3149600" progId="Equation.3">
                  <p:embed/>
                </p:oleObj>
              </mc:Choice>
              <mc:Fallback>
                <p:oleObj name="Equation" r:id="rId6" imgW="4457700" imgH="314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2362200"/>
                        <a:ext cx="3656012" cy="258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5867400" y="1295400"/>
            <a:ext cx="2743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A: attributes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en-US" altLang="zh-CN"/>
              <a:t>M: mammals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en-US" altLang="zh-CN"/>
              <a:t>N: non-mammals</a:t>
            </a:r>
            <a:endParaRPr lang="en-US" altLang="zh-CN"/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5791200" y="5257800"/>
            <a:ext cx="27432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P(A|M)P(M) &gt; P(A|N)P(N)</a:t>
            </a:r>
            <a:endParaRPr lang="en-US" altLang="zh-CN"/>
          </a:p>
          <a:p>
            <a:pPr>
              <a:spcBef>
                <a:spcPct val="50000"/>
              </a:spcBef>
            </a:pPr>
            <a:r>
              <a:rPr lang="en-US" altLang="zh-CN"/>
              <a:t>=&gt; Mammals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Naïve Bayes (Summary)</a:t>
            </a:r>
            <a:endParaRPr lang="en-US" altLang="en-US" smtClean="0">
              <a:ea typeface="MS PGothic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Robust to isolated noise points</a:t>
            </a: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Handle missing values by ignoring the instance during probability estimate calculations</a:t>
            </a: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Robust to irrelevant attributes</a:t>
            </a: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Independence assumption may not hold for some attributes</a:t>
            </a:r>
            <a:endParaRPr lang="en-US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/>
              <a:t>Use other techniques such as Bayesian Belief Networks (BBN)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MS PGothic" panose="020B0600070205080204" pitchFamily="34" charset="-128"/>
              </a:rPr>
              <a:t>Naïve Bayes</a:t>
            </a:r>
            <a:endParaRPr lang="en-US" altLang="zh-CN" smtClean="0">
              <a:ea typeface="MS PGothic" panose="020B0600070205080204" pitchFamily="34" charset="-128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smtClean="0">
                <a:ea typeface="MS PGothic" panose="020B0600070205080204" pitchFamily="34" charset="-128"/>
              </a:rPr>
              <a:t>How does Naïve Bayes perform on the following dataset?</a:t>
            </a:r>
            <a:endParaRPr lang="en-US" altLang="zh-CN" sz="2000" smtClean="0">
              <a:ea typeface="MS PGothic" panose="020B0600070205080204" pitchFamily="34" charset="-128"/>
            </a:endParaRPr>
          </a:p>
        </p:txBody>
      </p:sp>
      <p:pic>
        <p:nvPicPr>
          <p:cNvPr id="30724" name="Content Placeholder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1858963" y="1676400"/>
            <a:ext cx="5334000" cy="407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858963" y="5822950"/>
            <a:ext cx="5211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Conditional independence of attributes is violated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MS PGothic" panose="020B0600070205080204" pitchFamily="34" charset="-128"/>
              </a:rPr>
              <a:t>Naïve Bayes</a:t>
            </a:r>
            <a:endParaRPr lang="en-US" altLang="zh-CN" smtClean="0">
              <a:ea typeface="MS PGothic" panose="020B0600070205080204" pitchFamily="34" charset="-128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smtClean="0">
                <a:ea typeface="MS PGothic" panose="020B0600070205080204" pitchFamily="34" charset="-128"/>
              </a:rPr>
              <a:t>How does Naïve Bayes perform on the following dataset?</a:t>
            </a:r>
            <a:endParaRPr lang="en-US" altLang="zh-CN" sz="2000" smtClean="0">
              <a:ea typeface="MS PGothic" panose="020B0600070205080204" pitchFamily="34" charset="-128"/>
            </a:endParaRPr>
          </a:p>
        </p:txBody>
      </p:sp>
      <p:pic>
        <p:nvPicPr>
          <p:cNvPr id="31748" name="Picture 2" descr="C:\Users\Ankush\Desktop\oblique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06538"/>
            <a:ext cx="5892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639888" y="5780088"/>
            <a:ext cx="5853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Naïve Bayes can construct oblique decision boundaries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MS PGothic" panose="020B0600070205080204" pitchFamily="34" charset="-128"/>
              </a:rPr>
              <a:t>Naïve Bayes</a:t>
            </a:r>
            <a:endParaRPr lang="en-US" altLang="zh-CN" smtClean="0">
              <a:ea typeface="MS PGothic" panose="020B0600070205080204" pitchFamily="34" charset="-128"/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smtClean="0">
                <a:ea typeface="MS PGothic" panose="020B0600070205080204" pitchFamily="34" charset="-128"/>
              </a:rPr>
              <a:t>How does Naïve Bayes perform on the following dataset?</a:t>
            </a:r>
            <a:endParaRPr lang="en-US" altLang="zh-CN" sz="2000" smtClean="0">
              <a:ea typeface="MS PGothic" panose="020B0600070205080204" pitchFamily="34" charset="-128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05000" y="2362200"/>
          <a:ext cx="4724400" cy="2516188"/>
        </p:xfrm>
        <a:graphic>
          <a:graphicData uri="http://schemas.openxmlformats.org/drawingml/2006/table">
            <a:tbl>
              <a:tblPr/>
              <a:tblGrid>
                <a:gridCol w="944563"/>
                <a:gridCol w="944562"/>
                <a:gridCol w="946150"/>
                <a:gridCol w="944563"/>
                <a:gridCol w="944562"/>
              </a:tblGrid>
              <a:tr h="496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2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3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4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2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3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4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905000" y="2362200"/>
          <a:ext cx="4724400" cy="2516188"/>
        </p:xfrm>
        <a:graphic>
          <a:graphicData uri="http://schemas.openxmlformats.org/drawingml/2006/table">
            <a:tbl>
              <a:tblPr/>
              <a:tblGrid>
                <a:gridCol w="944563"/>
                <a:gridCol w="944562"/>
                <a:gridCol w="946150"/>
                <a:gridCol w="944563"/>
                <a:gridCol w="944562"/>
              </a:tblGrid>
              <a:tr h="496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2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3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Y = 4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1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2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3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X = 4</a:t>
                      </a:r>
                      <a:endParaRPr kumimoji="0" lang="en-US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858963" y="5105400"/>
            <a:ext cx="5211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Conditional independence of attributes is violated</a:t>
            </a: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Bayesian Belief Networks</a:t>
            </a:r>
            <a:endParaRPr lang="en-US">
              <a:cs typeface="+mj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Provides graphical representation of probabilistic relationships among a set of random variables</a:t>
            </a:r>
            <a:endParaRPr lang="en-US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Consists of:</a:t>
            </a:r>
            <a:endParaRPr lang="en-US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/>
              <a:t>A directed acyclic graph (dag)</a:t>
            </a:r>
            <a:endParaRPr lang="en-US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/>
              <a:t> Node corresponds to a variable</a:t>
            </a:r>
            <a:endParaRPr lang="en-US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/>
              <a:t> Arc corresponds to dependence </a:t>
            </a:r>
            <a:br>
              <a:rPr lang="en-US"/>
            </a:br>
            <a:r>
              <a:rPr lang="en-US"/>
              <a:t>relationship between a pair of variables</a:t>
            </a:r>
            <a:endParaRPr lang="en-US"/>
          </a:p>
          <a:p>
            <a:pPr lvl="2">
              <a:buFont typeface="Wingdings" panose="05000000000000000000" charset="0"/>
              <a:buChar char="u"/>
              <a:defRPr/>
            </a:pPr>
            <a:endParaRPr lang="en-US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/>
              <a:t>A probability table associating each node to its immediate parent</a:t>
            </a:r>
            <a:endParaRPr lang="en-US"/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>
            <p:ph sz="half" idx="4294967295"/>
          </p:nvPr>
        </p:nvGraphicFramePr>
        <p:xfrm>
          <a:off x="6705600" y="2667000"/>
          <a:ext cx="2173288" cy="163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Visio" r:id="rId2" imgW="2197735" imgH="1659890" progId="Visio.Drawing.6">
                  <p:embed/>
                </p:oleObj>
              </mc:Choice>
              <mc:Fallback>
                <p:oleObj name="Visio" r:id="rId2" imgW="2197735" imgH="165989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2667000"/>
                        <a:ext cx="2173288" cy="163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  <a:endParaRPr lang="en-US">
              <a:cs typeface="+mj-cs"/>
            </a:endParaRPr>
          </a:p>
        </p:txBody>
      </p:sp>
      <p:sp>
        <p:nvSpPr>
          <p:cNvPr id="111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4953000"/>
            <a:ext cx="8318500" cy="137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 node in a Bayesian network is conditionally independent of all of its nondescendants, if its parents are known</a:t>
            </a:r>
            <a:endParaRPr lang="en-US">
              <a:cs typeface="+mn-cs"/>
            </a:endParaRP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>
            <p:ph sz="half" idx="4294967295"/>
          </p:nvPr>
        </p:nvGraphicFramePr>
        <p:xfrm>
          <a:off x="1143000" y="1219200"/>
          <a:ext cx="2649538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Visio" r:id="rId2" imgW="2228215" imgH="2820035" progId="Visio.Drawing.6">
                  <p:embed/>
                </p:oleObj>
              </mc:Choice>
              <mc:Fallback>
                <p:oleObj name="Visio" r:id="rId2" imgW="2228215" imgH="282003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219200"/>
                        <a:ext cx="2649538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4800600" y="1752600"/>
            <a:ext cx="36576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D is parent of C</a:t>
            </a:r>
            <a:endParaRPr lang="en-US" altLang="zh-CN" sz="2400"/>
          </a:p>
          <a:p>
            <a:pPr>
              <a:spcBef>
                <a:spcPct val="50000"/>
              </a:spcBef>
            </a:pPr>
            <a:r>
              <a:rPr lang="en-US" altLang="zh-CN" sz="2400"/>
              <a:t>A is child of C</a:t>
            </a:r>
            <a:endParaRPr lang="en-US" altLang="zh-CN" sz="2400"/>
          </a:p>
          <a:p>
            <a:pPr>
              <a:spcBef>
                <a:spcPct val="50000"/>
              </a:spcBef>
            </a:pPr>
            <a:r>
              <a:rPr lang="en-US" altLang="zh-CN" sz="2400"/>
              <a:t>B is descendant of D</a:t>
            </a:r>
            <a:endParaRPr lang="en-US" altLang="zh-CN" sz="2400"/>
          </a:p>
          <a:p>
            <a:pPr>
              <a:spcBef>
                <a:spcPct val="50000"/>
              </a:spcBef>
            </a:pPr>
            <a:r>
              <a:rPr lang="en-US" altLang="zh-CN" sz="2400"/>
              <a:t>D is ancestor of A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513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Conditional Independence</a:t>
            </a:r>
            <a:endParaRPr lang="en-US">
              <a:cs typeface="+mj-cs"/>
            </a:endParaRPr>
          </a:p>
        </p:txBody>
      </p:sp>
      <p:sp>
        <p:nvSpPr>
          <p:cNvPr id="163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Naïve Bayes assumption:</a:t>
            </a:r>
            <a:endParaRPr lang="en-US" altLang="en-US" smtClean="0">
              <a:ea typeface="MS PGothic" panose="020B0600070205080204" pitchFamily="34" charset="-128"/>
            </a:endParaRPr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>
            <p:ph sz="half" idx="4294967295"/>
          </p:nvPr>
        </p:nvGraphicFramePr>
        <p:xfrm>
          <a:off x="1524000" y="2362200"/>
          <a:ext cx="5486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Visio" r:id="rId2" imgW="4425950" imgH="1736725" progId="Visio.Drawing.6">
                  <p:embed/>
                </p:oleObj>
              </mc:Choice>
              <mc:Fallback>
                <p:oleObj name="Visio" r:id="rId2" imgW="4425950" imgH="1736725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62200"/>
                        <a:ext cx="5486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Probability Tables</a:t>
            </a:r>
            <a:endParaRPr lang="en-US">
              <a:cs typeface="+mj-cs"/>
            </a:endParaRPr>
          </a:p>
        </p:txBody>
      </p:sp>
      <p:sp>
        <p:nvSpPr>
          <p:cNvPr id="1741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>
                <a:ea typeface="MS PGothic" panose="020B0600070205080204" pitchFamily="34" charset="-128"/>
              </a:rPr>
              <a:t>If X does not have any parents, table contains prior probability P(X)</a:t>
            </a:r>
            <a:endParaRPr lang="en-US" altLang="en-US" smtClean="0">
              <a:ea typeface="MS PGothic" panose="020B0600070205080204" pitchFamily="34" charset="-128"/>
            </a:endParaRPr>
          </a:p>
          <a:p>
            <a:endParaRPr lang="en-US" altLang="en-US" smtClean="0">
              <a:ea typeface="MS PGothic" panose="020B0600070205080204" pitchFamily="34" charset="-128"/>
            </a:endParaRPr>
          </a:p>
          <a:p>
            <a:r>
              <a:rPr lang="en-US" altLang="en-US" smtClean="0">
                <a:ea typeface="MS PGothic" panose="020B0600070205080204" pitchFamily="34" charset="-128"/>
              </a:rPr>
              <a:t>If X has only one parent (Y), table contains conditional probability P(X|Y)</a:t>
            </a:r>
            <a:endParaRPr lang="en-US" altLang="en-US" smtClean="0">
              <a:ea typeface="MS PGothic" panose="020B0600070205080204" pitchFamily="34" charset="-128"/>
            </a:endParaRPr>
          </a:p>
          <a:p>
            <a:endParaRPr lang="en-US" altLang="en-US" smtClean="0">
              <a:ea typeface="MS PGothic" panose="020B0600070205080204" pitchFamily="34" charset="-128"/>
            </a:endParaRPr>
          </a:p>
          <a:p>
            <a:r>
              <a:rPr lang="en-US" altLang="en-US" smtClean="0">
                <a:ea typeface="MS PGothic" panose="020B0600070205080204" pitchFamily="34" charset="-128"/>
              </a:rPr>
              <a:t>If X has multiple parents (Y</a:t>
            </a:r>
            <a:r>
              <a:rPr lang="en-US" altLang="en-US" baseline="-25000" smtClean="0">
                <a:ea typeface="MS PGothic" panose="020B0600070205080204" pitchFamily="34" charset="-128"/>
              </a:rPr>
              <a:t>1</a:t>
            </a:r>
            <a:r>
              <a:rPr lang="en-US" altLang="en-US" smtClean="0">
                <a:ea typeface="MS PGothic" panose="020B0600070205080204" pitchFamily="34" charset="-128"/>
              </a:rPr>
              <a:t>, Y</a:t>
            </a:r>
            <a:r>
              <a:rPr lang="en-US" altLang="en-US" baseline="-25000" smtClean="0">
                <a:ea typeface="MS PGothic" panose="020B0600070205080204" pitchFamily="34" charset="-128"/>
              </a:rPr>
              <a:t>2</a:t>
            </a:r>
            <a:r>
              <a:rPr lang="en-US" altLang="en-US" smtClean="0">
                <a:ea typeface="MS PGothic" panose="020B0600070205080204" pitchFamily="34" charset="-128"/>
              </a:rPr>
              <a:t>,…, Y</a:t>
            </a:r>
            <a:r>
              <a:rPr lang="en-US" altLang="en-US" baseline="-25000" smtClean="0">
                <a:ea typeface="MS PGothic" panose="020B0600070205080204" pitchFamily="34" charset="-128"/>
              </a:rPr>
              <a:t>k</a:t>
            </a:r>
            <a:r>
              <a:rPr lang="en-US" altLang="en-US" smtClean="0">
                <a:ea typeface="MS PGothic" panose="020B0600070205080204" pitchFamily="34" charset="-128"/>
              </a:rPr>
              <a:t>), table contains conditional probability P(X|Y</a:t>
            </a:r>
            <a:r>
              <a:rPr lang="en-US" altLang="en-US" baseline="-25000" smtClean="0">
                <a:ea typeface="MS PGothic" panose="020B0600070205080204" pitchFamily="34" charset="-128"/>
              </a:rPr>
              <a:t>1</a:t>
            </a:r>
            <a:r>
              <a:rPr lang="en-US" altLang="en-US" smtClean="0">
                <a:ea typeface="MS PGothic" panose="020B0600070205080204" pitchFamily="34" charset="-128"/>
              </a:rPr>
              <a:t>, Y</a:t>
            </a:r>
            <a:r>
              <a:rPr lang="en-US" altLang="en-US" baseline="-25000" smtClean="0">
                <a:ea typeface="MS PGothic" panose="020B0600070205080204" pitchFamily="34" charset="-128"/>
              </a:rPr>
              <a:t>2</a:t>
            </a:r>
            <a:r>
              <a:rPr lang="en-US" altLang="en-US" smtClean="0">
                <a:ea typeface="MS PGothic" panose="020B0600070205080204" pitchFamily="34" charset="-128"/>
              </a:rPr>
              <a:t>,…, Y</a:t>
            </a:r>
            <a:r>
              <a:rPr lang="en-US" altLang="en-US" baseline="-25000" smtClean="0">
                <a:ea typeface="MS PGothic" panose="020B0600070205080204" pitchFamily="34" charset="-128"/>
              </a:rPr>
              <a:t>k</a:t>
            </a:r>
            <a:r>
              <a:rPr lang="en-US" altLang="en-US" smtClean="0">
                <a:ea typeface="MS PGothic" panose="020B0600070205080204" pitchFamily="34" charset="-128"/>
              </a:rPr>
              <a:t>)</a:t>
            </a:r>
            <a:endParaRPr lang="en-US" altLang="en-US" smtClean="0">
              <a:ea typeface="MS PGothic" panose="020B0600070205080204" pitchFamily="34" charset="-128"/>
            </a:endParaRP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>
            <p:ph idx="4294967295"/>
          </p:nvPr>
        </p:nvGraphicFramePr>
        <p:xfrm>
          <a:off x="7772400" y="1905000"/>
          <a:ext cx="51752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Visio" r:id="rId2" imgW="530225" imgH="1736725" progId="Visio.Drawing.6">
                  <p:embed/>
                </p:oleObj>
              </mc:Choice>
              <mc:Fallback>
                <p:oleObj name="Visio" r:id="rId2" imgW="530225" imgH="173672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905000"/>
                        <a:ext cx="517525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Bayesian Belief Network</a:t>
            </a:r>
            <a:endParaRPr lang="en-US">
              <a:cs typeface="+mj-cs"/>
            </a:endParaRPr>
          </a:p>
        </p:txBody>
      </p:sp>
      <p:graphicFrame>
        <p:nvGraphicFramePr>
          <p:cNvPr id="18434" name="Object 5"/>
          <p:cNvGraphicFramePr>
            <a:graphicFrameLocks noChangeAspect="1"/>
          </p:cNvGraphicFramePr>
          <p:nvPr>
            <p:ph idx="1"/>
          </p:nvPr>
        </p:nvGraphicFramePr>
        <p:xfrm>
          <a:off x="503238" y="1152525"/>
          <a:ext cx="8134350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Visio" r:id="rId2" imgW="9850755" imgH="6247130" progId="Visio.Drawing.6">
                  <p:embed/>
                </p:oleObj>
              </mc:Choice>
              <mc:Fallback>
                <p:oleObj name="Visio" r:id="rId2" imgW="9850755" imgH="624713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1152525"/>
                        <a:ext cx="8134350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Inferencing using BBN</a:t>
            </a:r>
            <a:endParaRPr lang="en-US">
              <a:cs typeface="+mj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2"/>
              <a:buChar char="l"/>
              <a:defRPr/>
            </a:pPr>
            <a:r>
              <a:rPr lang="en-US" sz="2400" dirty="0">
                <a:cs typeface="+mn-cs"/>
              </a:rPr>
              <a:t>Given: X = (E=No, D=Yes, CP=Yes, BP=High)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400" dirty="0"/>
              <a:t>Compute P(HD|E,D,CP,BP)?</a:t>
            </a:r>
            <a:endParaRPr lang="en-US" sz="2400" dirty="0"/>
          </a:p>
          <a:p>
            <a:pPr lvl="4">
              <a:defRPr/>
            </a:pPr>
            <a:endParaRPr lang="en-US" sz="700" dirty="0">
              <a:latin typeface="Times New Roman" panose="02020603050405020304" pitchFamily="18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P(HD=Yes| E=No,D=Yes) = 0.55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HD=Yes) = 0.8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HD=Yes) = 0.85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P(HD=Yes|E=No,D=Yes,CP=Yes,BP=High) </a:t>
            </a:r>
            <a:br>
              <a:rPr lang="en-US" sz="2000" dirty="0"/>
            </a:br>
            <a:r>
              <a:rPr lang="en-US" sz="2000" dirty="0">
                <a:sym typeface="Symbol" panose="05050102010706020507" charset="0"/>
              </a:rPr>
              <a:t> 0.55  0.8  0.85 = 0.374</a:t>
            </a:r>
            <a:endParaRPr lang="en-US" sz="2000" dirty="0">
              <a:sym typeface="Symbol" panose="05050102010706020507" charset="0"/>
            </a:endParaRPr>
          </a:p>
          <a:p>
            <a:pPr lvl="4">
              <a:defRPr/>
            </a:pPr>
            <a:endParaRPr lang="en-US" sz="700" dirty="0">
              <a:latin typeface="Times New Roman" panose="02020603050405020304" pitchFamily="18" charset="0"/>
              <a:sym typeface="Symbol" panose="05050102010706020507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P(HD=No| E=No,D=Yes) = 0.45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P(CP=Yes| HD=No) = 0.01</a:t>
            </a:r>
            <a:br>
              <a:rPr lang="en-US" sz="2400" dirty="0">
                <a:cs typeface="+mn-cs"/>
              </a:rPr>
            </a:br>
            <a:r>
              <a:rPr lang="en-US" sz="2400" dirty="0">
                <a:cs typeface="+mn-cs"/>
              </a:rPr>
              <a:t>P(BP=High| HD=No) = 0.2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P(HD=No|E=No,D=Yes,CP=Yes,BP=High) </a:t>
            </a:r>
            <a:br>
              <a:rPr lang="en-US" sz="2000" dirty="0"/>
            </a:br>
            <a:r>
              <a:rPr lang="en-US" sz="2000" dirty="0">
                <a:sym typeface="Symbol" panose="05050102010706020507" charset="0"/>
              </a:rPr>
              <a:t> 0.45  0.01  0.2 = 0.0009</a:t>
            </a:r>
            <a:endParaRPr lang="en-US" sz="2000" dirty="0">
              <a:sym typeface="Symbol" panose="05050102010706020507" charset="0"/>
            </a:endParaRPr>
          </a:p>
        </p:txBody>
      </p:sp>
      <p:sp>
        <p:nvSpPr>
          <p:cNvPr id="33796" name="AutoShape 4"/>
          <p:cNvSpPr/>
          <p:nvPr/>
        </p:nvSpPr>
        <p:spPr bwMode="auto">
          <a:xfrm>
            <a:off x="6324600" y="2362200"/>
            <a:ext cx="609600" cy="3657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7086600" y="3749675"/>
            <a:ext cx="182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/>
              <a:t>Classify X as Yes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</a:t>
            </a:r>
            <a:r>
              <a:rPr lang="zh-CN" altLang="en-US" smtClean="0">
                <a:ea typeface="宋体" panose="02010600030101010101" pitchFamily="2" charset="-122"/>
              </a:rPr>
              <a:t>、</a:t>
            </a:r>
            <a:r>
              <a:rPr lang="en-US" altLang="zh-CN" smtClean="0">
                <a:ea typeface="宋体" panose="02010600030101010101" pitchFamily="2" charset="-122"/>
              </a:rPr>
              <a:t>Underfitting and Overfitting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6096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Line 4"/>
          <p:cNvSpPr>
            <a:spLocks noChangeShapeType="1"/>
          </p:cNvSpPr>
          <p:nvPr/>
        </p:nvSpPr>
        <p:spPr bwMode="auto">
          <a:xfrm>
            <a:off x="4267200" y="1219200"/>
            <a:ext cx="0" cy="41148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4343400" y="1447800"/>
            <a:ext cx="160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Overfitting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457200" y="5881688"/>
            <a:ext cx="845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Underfitting</a:t>
            </a:r>
            <a:r>
              <a:rPr lang="en-US" altLang="zh-CN" sz="1800" b="0">
                <a:ea typeface="宋体" panose="02010600030101010101" pitchFamily="2" charset="-122"/>
              </a:rPr>
              <a:t>: when model is too simple, both training and test errors are large </a:t>
            </a:r>
            <a:endParaRPr lang="en-US" altLang="zh-CN" sz="1800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Overfitting due to Noise 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788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9" b="3615"/>
          <a:stretch>
            <a:fillRect/>
          </a:stretch>
        </p:blipFill>
        <p:spPr bwMode="auto">
          <a:xfrm>
            <a:off x="1295400" y="1066800"/>
            <a:ext cx="6324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1676400" y="5715000"/>
            <a:ext cx="579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Decision boundary is distorted by noise point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Overfitting due to Insufficient Examples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609600" y="4724400"/>
            <a:ext cx="76200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Lack of data points in the lower half of the diagram makes it difficult to predict correctly the class labels of that region 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- Insufficient number of training records in the region causes the decision tree to predict the test examples using other training records that are irrelevant to the classification task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79876" name="Picture 4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2" t="4857" r="5357" b="4857"/>
          <a:stretch>
            <a:fillRect/>
          </a:stretch>
        </p:blipFill>
        <p:spPr>
          <a:xfrm>
            <a:off x="1828800" y="1117600"/>
            <a:ext cx="4470400" cy="34544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Notes on Overfitting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事实：</a:t>
            </a:r>
            <a:r>
              <a:rPr lang="en-US" altLang="zh-CN" smtClean="0">
                <a:ea typeface="宋体" panose="02010600030101010101" pitchFamily="2" charset="-122"/>
              </a:rPr>
              <a:t>Overfitting results in decision trees that are more complex than necessary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结果：</a:t>
            </a:r>
            <a:r>
              <a:rPr lang="en-US" altLang="zh-CN" smtClean="0">
                <a:ea typeface="宋体" panose="02010600030101010101" pitchFamily="2" charset="-122"/>
              </a:rPr>
              <a:t>Training error no longer provides a good estimate of how well the tree will perform on previously unseen records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结论：</a:t>
            </a:r>
            <a:r>
              <a:rPr lang="en-US" altLang="zh-CN" smtClean="0">
                <a:ea typeface="宋体" panose="02010600030101010101" pitchFamily="2" charset="-122"/>
              </a:rPr>
              <a:t>Need new ways for estimating errors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Estimating Generalization Errors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Re-substitution errors:</a:t>
            </a:r>
            <a:r>
              <a:rPr lang="en-US" altLang="zh-CN" sz="2400" smtClean="0">
                <a:ea typeface="宋体" panose="02010600030101010101" pitchFamily="2" charset="-122"/>
              </a:rPr>
              <a:t> error on training (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 </a:t>
            </a:r>
            <a:r>
              <a:rPr lang="en-US" altLang="zh-CN" sz="2400" smtClean="0">
                <a:ea typeface="宋体" panose="02010600030101010101" pitchFamily="2" charset="-122"/>
              </a:rPr>
              <a:t>e(t) )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Generalization errors:</a:t>
            </a:r>
            <a:r>
              <a:rPr lang="en-US" altLang="zh-CN" sz="2400" smtClean="0">
                <a:ea typeface="宋体" panose="02010600030101010101" pitchFamily="2" charset="-122"/>
              </a:rPr>
              <a:t> error on testing (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lang="en-US" altLang="zh-CN" sz="2400" smtClean="0">
                <a:ea typeface="宋体" panose="02010600030101010101" pitchFamily="2" charset="-122"/>
              </a:rPr>
              <a:t> e’(t))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4">
              <a:lnSpc>
                <a:spcPct val="80000"/>
              </a:lnSpc>
            </a:pPr>
            <a:endParaRPr lang="en-US" altLang="zh-CN" sz="6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Methods for estimating generalization errors: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Optimistic approach:</a:t>
            </a:r>
            <a:r>
              <a:rPr lang="en-US" altLang="zh-CN" sz="2400" smtClean="0">
                <a:ea typeface="宋体" panose="02010600030101010101" pitchFamily="2" charset="-122"/>
              </a:rPr>
              <a:t>  e’(t) = e(t)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Pessimistic approach:</a:t>
            </a:r>
            <a:r>
              <a:rPr lang="en-US" altLang="zh-CN" sz="2400" smtClean="0">
                <a:ea typeface="宋体" panose="02010600030101010101" pitchFamily="2" charset="-122"/>
              </a:rPr>
              <a:t> 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  For each leaf node: e’(t) = (e(t)+0.5) 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  Total errors: e’(T) =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e(T) + N  0.5 (N: number of leaf nodes)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For a tree with 30 leaf nodes and 10 errors on training </a:t>
            </a:r>
            <a:b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(out of 1000 instances):</a:t>
            </a:r>
            <a:b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 Training error = 10/1000 = 1%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        Generalization error = (10 + 300.5)/1000 = 2.5%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Occam’s Razor</a:t>
            </a:r>
            <a:r>
              <a:rPr lang="zh-CN" altLang="en-US" smtClean="0">
                <a:ea typeface="宋体" panose="02010600030101010101" pitchFamily="2" charset="-122"/>
              </a:rPr>
              <a:t>（奥卡姆剃刀）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原则：</a:t>
            </a:r>
            <a:r>
              <a:rPr lang="en-US" altLang="zh-CN" smtClean="0">
                <a:ea typeface="宋体" panose="02010600030101010101" pitchFamily="2" charset="-122"/>
              </a:rPr>
              <a:t>Given two models of similar generalization errors,  </a:t>
            </a:r>
            <a:r>
              <a:rPr lang="en-US" altLang="zh-CN" b="1" u="sng" smtClean="0">
                <a:ea typeface="宋体" panose="02010600030101010101" pitchFamily="2" charset="-122"/>
              </a:rPr>
              <a:t>one should prefer the simpler model over the more complex model</a:t>
            </a:r>
            <a:endParaRPr lang="en-US" altLang="zh-CN" b="1" u="sng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原因：</a:t>
            </a:r>
            <a:r>
              <a:rPr lang="en-US" altLang="zh-CN" smtClean="0">
                <a:ea typeface="宋体" panose="02010600030101010101" pitchFamily="2" charset="-122"/>
              </a:rPr>
              <a:t>For complex models, </a:t>
            </a:r>
            <a:r>
              <a:rPr lang="en-US" altLang="zh-CN" b="1" u="sng" smtClean="0">
                <a:ea typeface="宋体" panose="02010600030101010101" pitchFamily="2" charset="-122"/>
              </a:rPr>
              <a:t>there is a greater chance that it was fitted accidentally by errors in data</a:t>
            </a:r>
            <a:endParaRPr lang="en-US" altLang="zh-CN" b="1" u="sng" smtClean="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b="1" smtClean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smtClean="0">
                <a:ea typeface="宋体" panose="02010600030101010101" pitchFamily="2" charset="-122"/>
              </a:rPr>
              <a:t>Therefore, </a:t>
            </a:r>
            <a:r>
              <a:rPr lang="en-US" altLang="zh-CN" b="1" u="sng" smtClean="0">
                <a:ea typeface="宋体" panose="02010600030101010101" pitchFamily="2" charset="-122"/>
              </a:rPr>
              <a:t>one should include model complexity when evaluating a model</a:t>
            </a:r>
            <a:endParaRPr lang="en-US" altLang="zh-CN" b="1" u="sng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zh-CN" smtClean="0">
                <a:ea typeface="宋体" panose="02010600030101010101" pitchFamily="2" charset="-122"/>
              </a:rPr>
              <a:t>Minimum Description Length (MDL)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最小描述长度</a:t>
            </a:r>
            <a:endParaRPr lang="en-US" altLang="zh-CN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714750"/>
            <a:ext cx="8686800" cy="25336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Cost(Model,Data) = Cost(Data|Model) + Cost(Model)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742950" lvl="1" indent="-285750">
              <a:lnSpc>
                <a:spcPct val="90000"/>
              </a:lnSpc>
            </a:pPr>
            <a:r>
              <a:rPr lang="en-US" altLang="zh-CN" sz="2400" b="1" smtClean="0">
                <a:ea typeface="宋体" panose="02010600030101010101" pitchFamily="2" charset="-122"/>
              </a:rPr>
              <a:t>Cost is the number of bits needed for encoding</a:t>
            </a:r>
            <a:r>
              <a:rPr lang="en-US" altLang="zh-CN" sz="2400" smtClean="0">
                <a:ea typeface="宋体" panose="02010600030101010101" pitchFamily="2" charset="-122"/>
              </a:rPr>
              <a:t>.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marL="742950" lvl="1" indent="-285750">
              <a:lnSpc>
                <a:spcPct val="90000"/>
              </a:lnSpc>
            </a:pPr>
            <a:r>
              <a:rPr lang="en-US" altLang="zh-CN" sz="2400" b="1" smtClean="0">
                <a:ea typeface="宋体" panose="02010600030101010101" pitchFamily="2" charset="-122"/>
              </a:rPr>
              <a:t>Search for the least costly model.</a:t>
            </a:r>
            <a:endParaRPr lang="en-US" altLang="zh-CN" sz="2400" b="1" smtClean="0"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Cost(Data|Model) encodes the misclassification errors.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Cost(Model) uses node encoding (number of children) plus splitting condition encoding.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2209800" y="1143000"/>
          <a:ext cx="4392613" cy="240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VISIO" r:id="rId2" imgW="6348730" imgH="3473450" progId="Visio.Drawing.6">
                  <p:embed/>
                </p:oleObj>
              </mc:Choice>
              <mc:Fallback>
                <p:oleObj name="VISIO" r:id="rId2" imgW="6348730" imgH="347345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143000"/>
                        <a:ext cx="4392613" cy="240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5"/>
          <p:cNvGraphicFramePr>
            <a:graphicFrameLocks noChangeAspect="1"/>
          </p:cNvGraphicFramePr>
          <p:nvPr/>
        </p:nvGraphicFramePr>
        <p:xfrm>
          <a:off x="685800" y="12192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Worksheet" r:id="rId4" imgW="1165225" imgH="2187575" progId="Excel.Sheet.8">
                  <p:embed/>
                </p:oleObj>
              </mc:Choice>
              <mc:Fallback>
                <p:oleObj name="Worksheet" r:id="rId4" imgW="1165225" imgH="218757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2192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6"/>
          <p:cNvGraphicFramePr>
            <a:graphicFrameLocks noChangeAspect="1"/>
          </p:cNvGraphicFramePr>
          <p:nvPr/>
        </p:nvGraphicFramePr>
        <p:xfrm>
          <a:off x="7239000" y="1371600"/>
          <a:ext cx="1131888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Worksheet" r:id="rId6" imgW="1165225" imgH="2187575" progId="Excel.Sheet.8">
                  <p:embed/>
                </p:oleObj>
              </mc:Choice>
              <mc:Fallback>
                <p:oleObj name="Worksheet" r:id="rId6" imgW="1165225" imgH="2187575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371600"/>
                        <a:ext cx="1131888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Address Overfitting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Pre-Pruning (Early Stopping Rule)</a:t>
            </a:r>
            <a:r>
              <a:rPr lang="zh-CN" altLang="en-US" sz="2400" b="1" u="sng" smtClean="0">
                <a:solidFill>
                  <a:srgbClr val="0617B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先剪枝（提前终止规则）</a:t>
            </a:r>
            <a:endParaRPr lang="en-US" altLang="zh-CN" sz="2400" b="1" u="sng" smtClean="0">
              <a:solidFill>
                <a:srgbClr val="0617B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Stop the algorithm before it becomes a fully-grown tree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Typical stopping conditions for a node: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Stop if all instances belong to the same class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Stop if all the attribute values are the same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More restrictive conditions: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Stop if </a:t>
            </a:r>
            <a:r>
              <a:rPr lang="en-US" altLang="zh-CN" sz="2000" b="1" u="sng" smtClean="0">
                <a:solidFill>
                  <a:srgbClr val="0070C0"/>
                </a:solidFill>
                <a:ea typeface="宋体" panose="02010600030101010101" pitchFamily="2" charset="-122"/>
              </a:rPr>
              <a:t>number of instances </a:t>
            </a:r>
            <a:r>
              <a:rPr lang="en-US" altLang="zh-CN" sz="2000" smtClean="0">
                <a:ea typeface="宋体" panose="02010600030101010101" pitchFamily="2" charset="-122"/>
              </a:rPr>
              <a:t>is less than some user-specified threshold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Stop if </a:t>
            </a:r>
            <a:r>
              <a:rPr lang="en-US" altLang="zh-CN" sz="2000" b="1" u="sng" smtClean="0">
                <a:solidFill>
                  <a:srgbClr val="0070C0"/>
                </a:solidFill>
                <a:ea typeface="宋体" panose="02010600030101010101" pitchFamily="2" charset="-122"/>
              </a:rPr>
              <a:t>class distribution of instances </a:t>
            </a:r>
            <a:r>
              <a:rPr lang="en-US" altLang="zh-CN" sz="2000" smtClean="0">
                <a:ea typeface="宋体" panose="02010600030101010101" pitchFamily="2" charset="-122"/>
              </a:rPr>
              <a:t>are independent of the available features (e.g., using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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 2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test)</a:t>
            </a:r>
            <a:endParaRPr lang="en-US" altLang="zh-CN" sz="2000" baseline="30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Stop if expanding the current node does not improve </a:t>
            </a:r>
            <a:r>
              <a:rPr lang="en-US" altLang="zh-CN" sz="2000" b="1" u="sng" smtClean="0">
                <a:solidFill>
                  <a:srgbClr val="0070C0"/>
                </a:solidFill>
                <a:ea typeface="宋体" panose="02010600030101010101" pitchFamily="2" charset="-122"/>
              </a:rPr>
              <a:t>impurity</a:t>
            </a:r>
            <a:br>
              <a:rPr lang="en-US" altLang="zh-CN" sz="2000" b="1" u="sng" smtClean="0">
                <a:solidFill>
                  <a:srgbClr val="0070C0"/>
                </a:solidFill>
                <a:ea typeface="宋体" panose="02010600030101010101" pitchFamily="2" charset="-122"/>
              </a:rPr>
            </a:br>
            <a:r>
              <a:rPr lang="en-US" altLang="zh-CN" sz="2000" b="1" u="sng" smtClean="0">
                <a:solidFill>
                  <a:srgbClr val="0070C0"/>
                </a:solidFill>
                <a:ea typeface="宋体" panose="02010600030101010101" pitchFamily="2" charset="-122"/>
              </a:rPr>
              <a:t>measures</a:t>
            </a:r>
            <a:r>
              <a:rPr lang="en-US" altLang="zh-CN" sz="2000" smtClean="0">
                <a:ea typeface="宋体" panose="02010600030101010101" pitchFamily="2" charset="-122"/>
              </a:rPr>
              <a:t> (e.g., Gini or information gain)</a:t>
            </a:r>
            <a:endParaRPr lang="en-US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Address Overfitting…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Post-pruning</a:t>
            </a:r>
            <a:r>
              <a:rPr lang="zh-CN" altLang="en-US" sz="2400" b="1" u="sng" smtClean="0">
                <a:solidFill>
                  <a:srgbClr val="0617B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（后剪枝）</a:t>
            </a:r>
            <a:endParaRPr lang="en-US" altLang="zh-CN" sz="2400" b="1" u="sng" smtClean="0">
              <a:solidFill>
                <a:srgbClr val="0617B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Grow decision tree to its entirety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b="1" smtClean="0">
                <a:ea typeface="宋体" panose="02010600030101010101" pitchFamily="2" charset="-122"/>
              </a:rPr>
              <a:t>Trim the nodes of the decision tree in a bottom-up fashion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If generalization error improves after trimming, replace sub-tree by a leaf node.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Class label of leaf node is determined from majority class of instances in the sub-tree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Can use MDL for post-pruning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 of Post-Pruning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4818" name="Object 3"/>
          <p:cNvGraphicFramePr>
            <a:graphicFrameLocks noChangeAspect="1"/>
          </p:cNvGraphicFramePr>
          <p:nvPr/>
        </p:nvGraphicFramePr>
        <p:xfrm>
          <a:off x="1447800" y="3017838"/>
          <a:ext cx="46894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VISIO" r:id="rId2" imgW="4689475" imgH="2395220" progId="Visio.Drawing.6">
                  <p:embed/>
                </p:oleObj>
              </mc:Choice>
              <mc:Fallback>
                <p:oleObj name="VISIO" r:id="rId2" imgW="4689475" imgH="239522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17838"/>
                        <a:ext cx="4689475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8228" name="Group 4"/>
          <p:cNvGraphicFramePr>
            <a:graphicFrameLocks noGrp="1"/>
          </p:cNvGraphicFramePr>
          <p:nvPr/>
        </p:nvGraphicFramePr>
        <p:xfrm>
          <a:off x="914400" y="1524000"/>
          <a:ext cx="1905000" cy="1219200"/>
        </p:xfrm>
        <a:graphic>
          <a:graphicData uri="http://schemas.openxmlformats.org/drawingml/2006/table">
            <a:tbl>
              <a:tblPr/>
              <a:tblGrid>
                <a:gridCol w="1447800"/>
                <a:gridCol w="457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Yes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No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Error = 10/30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4495800" y="1066800"/>
            <a:ext cx="46482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Training Error (Before splitting) = 10/30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Pessimistic error = (10 + 0.5)/30 = 10.5/30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Training Error (After splitting) = 9/30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Pessimistic error (After splitting)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	= (9 + 4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 0.5)/30 = 11/30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	</a:t>
            </a: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PRUNE!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48242" name="Group 18"/>
          <p:cNvGraphicFramePr>
            <a:graphicFrameLocks noGrp="1"/>
          </p:cNvGraphicFramePr>
          <p:nvPr/>
        </p:nvGraphicFramePr>
        <p:xfrm>
          <a:off x="1524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Yes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No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8253" name="Group 29"/>
          <p:cNvGraphicFramePr>
            <a:graphicFrameLocks noGrp="1"/>
          </p:cNvGraphicFramePr>
          <p:nvPr/>
        </p:nvGraphicFramePr>
        <p:xfrm>
          <a:off x="19812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Yes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No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8264" name="Group 40"/>
          <p:cNvGraphicFramePr>
            <a:graphicFrameLocks noGrp="1"/>
          </p:cNvGraphicFramePr>
          <p:nvPr/>
        </p:nvGraphicFramePr>
        <p:xfrm>
          <a:off x="38100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Yes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No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48275" name="Group 51"/>
          <p:cNvGraphicFramePr>
            <a:graphicFrameLocks noGrp="1"/>
          </p:cNvGraphicFramePr>
          <p:nvPr/>
        </p:nvGraphicFramePr>
        <p:xfrm>
          <a:off x="5638800" y="5456238"/>
          <a:ext cx="1752600" cy="715962"/>
        </p:xfrm>
        <a:graphic>
          <a:graphicData uri="http://schemas.openxmlformats.org/drawingml/2006/table">
            <a:tbl>
              <a:tblPr/>
              <a:tblGrid>
                <a:gridCol w="1295400"/>
                <a:gridCol w="457200"/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Yes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 = No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Examples of Post-pruning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4618037" cy="5181600"/>
          </a:xfrm>
        </p:spPr>
        <p:txBody>
          <a:bodyPr/>
          <a:lstStyle/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Optimistic error?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Pessimistic error?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z="1800" smtClean="0">
              <a:ea typeface="宋体" panose="02010600030101010101" pitchFamily="2" charset="-122"/>
            </a:endParaRPr>
          </a:p>
        </p:txBody>
      </p:sp>
      <p:grpSp>
        <p:nvGrpSpPr>
          <p:cNvPr id="86020" name="Group 4"/>
          <p:cNvGrpSpPr/>
          <p:nvPr/>
        </p:nvGrpSpPr>
        <p:grpSpPr bwMode="auto">
          <a:xfrm>
            <a:off x="5867400" y="1143000"/>
            <a:ext cx="2743200" cy="1752600"/>
            <a:chOff x="3312" y="720"/>
            <a:chExt cx="2112" cy="1584"/>
          </a:xfrm>
        </p:grpSpPr>
        <p:sp>
          <p:nvSpPr>
            <p:cNvPr id="86031" name="Oval 5"/>
            <p:cNvSpPr>
              <a:spLocks noChangeArrowheads="1"/>
            </p:cNvSpPr>
            <p:nvPr/>
          </p:nvSpPr>
          <p:spPr bwMode="auto">
            <a:xfrm>
              <a:off x="4176" y="720"/>
              <a:ext cx="384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6032" name="Line 6"/>
            <p:cNvSpPr>
              <a:spLocks noChangeShapeType="1"/>
            </p:cNvSpPr>
            <p:nvPr/>
          </p:nvSpPr>
          <p:spPr bwMode="auto">
            <a:xfrm flipH="1">
              <a:off x="3792" y="1056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3" name="Line 7"/>
            <p:cNvSpPr>
              <a:spLocks noChangeShapeType="1"/>
            </p:cNvSpPr>
            <p:nvPr/>
          </p:nvSpPr>
          <p:spPr bwMode="auto">
            <a:xfrm>
              <a:off x="4368" y="1056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4" name="Rectangle 8"/>
            <p:cNvSpPr>
              <a:spLocks noChangeArrowheads="1"/>
            </p:cNvSpPr>
            <p:nvPr/>
          </p:nvSpPr>
          <p:spPr bwMode="auto">
            <a:xfrm>
              <a:off x="3312" y="1584"/>
              <a:ext cx="912" cy="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C0: 11</a:t>
              </a:r>
              <a:endParaRPr lang="en-US" altLang="zh-CN" sz="1800"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C1: 3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86035" name="Rectangle 9"/>
            <p:cNvSpPr>
              <a:spLocks noChangeArrowheads="1"/>
            </p:cNvSpPr>
            <p:nvPr/>
          </p:nvSpPr>
          <p:spPr bwMode="auto">
            <a:xfrm>
              <a:off x="4512" y="1584"/>
              <a:ext cx="912" cy="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C0: 2</a:t>
              </a:r>
              <a:endParaRPr lang="en-US" altLang="zh-CN" sz="2000"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C1: 4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</p:grpSp>
      <p:grpSp>
        <p:nvGrpSpPr>
          <p:cNvPr id="86021" name="Group 10"/>
          <p:cNvGrpSpPr/>
          <p:nvPr/>
        </p:nvGrpSpPr>
        <p:grpSpPr bwMode="auto">
          <a:xfrm>
            <a:off x="5867400" y="4191000"/>
            <a:ext cx="2743200" cy="1752600"/>
            <a:chOff x="3312" y="720"/>
            <a:chExt cx="2112" cy="1584"/>
          </a:xfrm>
        </p:grpSpPr>
        <p:sp>
          <p:nvSpPr>
            <p:cNvPr id="86026" name="Oval 11"/>
            <p:cNvSpPr>
              <a:spLocks noChangeArrowheads="1"/>
            </p:cNvSpPr>
            <p:nvPr/>
          </p:nvSpPr>
          <p:spPr bwMode="auto">
            <a:xfrm>
              <a:off x="4176" y="720"/>
              <a:ext cx="384" cy="33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86027" name="Line 12"/>
            <p:cNvSpPr>
              <a:spLocks noChangeShapeType="1"/>
            </p:cNvSpPr>
            <p:nvPr/>
          </p:nvSpPr>
          <p:spPr bwMode="auto">
            <a:xfrm flipH="1">
              <a:off x="3792" y="1056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8" name="Line 13"/>
            <p:cNvSpPr>
              <a:spLocks noChangeShapeType="1"/>
            </p:cNvSpPr>
            <p:nvPr/>
          </p:nvSpPr>
          <p:spPr bwMode="auto">
            <a:xfrm>
              <a:off x="4368" y="1056"/>
              <a:ext cx="576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9" name="Rectangle 14"/>
            <p:cNvSpPr>
              <a:spLocks noChangeArrowheads="1"/>
            </p:cNvSpPr>
            <p:nvPr/>
          </p:nvSpPr>
          <p:spPr bwMode="auto">
            <a:xfrm>
              <a:off x="3312" y="1584"/>
              <a:ext cx="912" cy="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C0: 14</a:t>
              </a:r>
              <a:endParaRPr lang="en-US" altLang="zh-CN" sz="1800"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C1: 3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86030" name="Rectangle 15"/>
            <p:cNvSpPr>
              <a:spLocks noChangeArrowheads="1"/>
            </p:cNvSpPr>
            <p:nvPr/>
          </p:nvSpPr>
          <p:spPr bwMode="auto">
            <a:xfrm>
              <a:off x="4512" y="1584"/>
              <a:ext cx="912" cy="7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C0: 2</a:t>
              </a:r>
              <a:endParaRPr lang="en-US" altLang="zh-CN" sz="2000"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C1: 2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</p:grpSp>
      <p:sp>
        <p:nvSpPr>
          <p:cNvPr id="949264" name="Text Box 16"/>
          <p:cNvSpPr txBox="1">
            <a:spLocks noChangeArrowheads="1"/>
          </p:cNvSpPr>
          <p:nvPr/>
        </p:nvSpPr>
        <p:spPr bwMode="auto">
          <a:xfrm>
            <a:off x="1371600" y="1828800"/>
            <a:ext cx="2819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Don’t prune for both cases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49265" name="Text Box 17"/>
          <p:cNvSpPr txBox="1">
            <a:spLocks noChangeArrowheads="1"/>
          </p:cNvSpPr>
          <p:nvPr/>
        </p:nvSpPr>
        <p:spPr bwMode="auto">
          <a:xfrm>
            <a:off x="1371600" y="3200400"/>
            <a:ext cx="3276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Don’t prune case 1, prune case 2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86024" name="Text Box 18"/>
          <p:cNvSpPr txBox="1">
            <a:spLocks noChangeArrowheads="1"/>
          </p:cNvSpPr>
          <p:nvPr/>
        </p:nvSpPr>
        <p:spPr bwMode="auto">
          <a:xfrm>
            <a:off x="5181600" y="11430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Case 1: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86025" name="Text Box 19"/>
          <p:cNvSpPr txBox="1">
            <a:spLocks noChangeArrowheads="1"/>
          </p:cNvSpPr>
          <p:nvPr/>
        </p:nvSpPr>
        <p:spPr bwMode="auto">
          <a:xfrm>
            <a:off x="5181600" y="4205288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Case 2: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64" grpId="0" autoUpdateAnimBg="0"/>
      <p:bldP spid="949265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Handling Missing Attribute Values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52578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Missing values affect decision tree construction in three different ways: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Affects how impurity measures are computed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zh-CN" altLang="en-US" sz="2400" b="1" smtClean="0">
                <a:solidFill>
                  <a:srgbClr val="0070C0"/>
                </a:solidFill>
                <a:ea typeface="宋体" panose="02010600030101010101" pitchFamily="2" charset="-122"/>
              </a:rPr>
              <a:t>树节点中包括缺失特征值的记录，影响其不纯性计算</a:t>
            </a:r>
            <a:endParaRPr lang="en-US" altLang="zh-CN" sz="2400" b="1" smtClean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Affects how to distribute instance with missing value to child nodes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zh-CN" altLang="en-US" sz="2400" b="1" smtClean="0">
                <a:solidFill>
                  <a:srgbClr val="0070C0"/>
                </a:solidFill>
                <a:ea typeface="宋体" panose="02010600030101010101" pitchFamily="2" charset="-122"/>
              </a:rPr>
              <a:t>父节点中包括缺失特征值的记录，影响该记录如何分配到孩子节点</a:t>
            </a:r>
            <a:endParaRPr lang="en-US" altLang="zh-CN" sz="2400" b="1" smtClean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Affects how a test instance with missing value is classified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r>
              <a:rPr lang="zh-CN" altLang="en-US" sz="2400" b="1" smtClean="0">
                <a:solidFill>
                  <a:srgbClr val="0070C0"/>
                </a:solidFill>
                <a:ea typeface="宋体" panose="02010600030101010101" pitchFamily="2" charset="-122"/>
              </a:rPr>
              <a:t>测试记录中包括缺失特征值的记录，影响测试记录的分类</a:t>
            </a:r>
            <a:endParaRPr lang="en-US" altLang="zh-CN" sz="2400" b="1" smtClean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Computing Impurity Measure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5842" name="Object 3"/>
          <p:cNvGraphicFramePr>
            <a:graphicFrameLocks noChangeAspect="1"/>
          </p:cNvGraphicFramePr>
          <p:nvPr/>
        </p:nvGraphicFramePr>
        <p:xfrm>
          <a:off x="457200" y="1219200"/>
          <a:ext cx="3894138" cy="417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Document" r:id="rId2" imgW="5416550" imgH="5767705" progId="Word.Document.8">
                  <p:embed/>
                </p:oleObj>
              </mc:Choice>
              <mc:Fallback>
                <p:oleObj name="Document" r:id="rId2" imgW="5416550" imgH="576770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3894138" cy="417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4"/>
          <p:cNvGraphicFramePr>
            <a:graphicFrameLocks noChangeAspect="1"/>
          </p:cNvGraphicFramePr>
          <p:nvPr/>
        </p:nvGraphicFramePr>
        <p:xfrm>
          <a:off x="5334000" y="2209800"/>
          <a:ext cx="3200400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Document" r:id="rId4" imgW="6365875" imgH="3406140" progId="Word.Document.8">
                  <p:embed/>
                </p:oleObj>
              </mc:Choice>
              <mc:Fallback>
                <p:oleObj name="Document" r:id="rId4" imgW="6365875" imgH="34061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209800"/>
                        <a:ext cx="3200400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1301" name="Text Box 5"/>
          <p:cNvSpPr txBox="1">
            <a:spLocks noChangeArrowheads="1"/>
          </p:cNvSpPr>
          <p:nvPr/>
        </p:nvSpPr>
        <p:spPr bwMode="auto">
          <a:xfrm>
            <a:off x="4343400" y="3733800"/>
            <a:ext cx="46482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Split on Refund: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Entropy(Refund=Yes) = 0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Entropy(Refund=No) 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    = -(2/6)log(2/6) – (4/6)log(4/6) = 0.9183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Entropy(Children) 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    = 0.3 (0) + 0.6 (0.9183) = 0.551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Gain = </a:t>
            </a:r>
            <a:r>
              <a:rPr lang="en-US" altLang="zh-CN" sz="1800" u="sng">
                <a:solidFill>
                  <a:srgbClr val="FF0000"/>
                </a:solidFill>
                <a:ea typeface="宋体" panose="02010600030101010101" pitchFamily="2" charset="-122"/>
              </a:rPr>
              <a:t>0.9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 (0.8813 – 0.551) = 0.3303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1143000" y="5181600"/>
            <a:ext cx="457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676400" y="5410200"/>
            <a:ext cx="114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Missing value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4419600" y="1066800"/>
            <a:ext cx="44958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Before Splitting:</a:t>
            </a:r>
            <a:b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</a:b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    </a:t>
            </a:r>
            <a:r>
              <a:rPr lang="en-US" altLang="zh-CN" sz="1800">
                <a:ea typeface="宋体" panose="02010600030101010101" pitchFamily="2" charset="-122"/>
              </a:rPr>
              <a:t>Entropy(Parent) 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    = -0.3 log(0.3)-(0.7)log(0.7) = 0.8813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301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Distribute Instances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6866" name="Object 1027"/>
          <p:cNvGraphicFramePr>
            <a:graphicFrameLocks noChangeAspect="1"/>
          </p:cNvGraphicFramePr>
          <p:nvPr/>
        </p:nvGraphicFramePr>
        <p:xfrm>
          <a:off x="381000" y="1219200"/>
          <a:ext cx="3511550" cy="338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Document" r:id="rId2" imgW="5434965" imgH="5288915" progId="Word.Document.8">
                  <p:embed/>
                </p:oleObj>
              </mc:Choice>
              <mc:Fallback>
                <p:oleObj name="Document" r:id="rId2" imgW="5434965" imgH="5288915" progId="Word.Document.8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3511550" cy="338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Line 1028"/>
          <p:cNvSpPr>
            <a:spLocks noChangeShapeType="1"/>
          </p:cNvSpPr>
          <p:nvPr/>
        </p:nvSpPr>
        <p:spPr bwMode="auto">
          <a:xfrm>
            <a:off x="2689225" y="4911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Line 1029"/>
          <p:cNvSpPr>
            <a:spLocks noChangeShapeType="1"/>
          </p:cNvSpPr>
          <p:nvPr/>
        </p:nvSpPr>
        <p:spPr bwMode="auto">
          <a:xfrm flipH="1">
            <a:off x="1316038" y="4911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Text Box 1030"/>
          <p:cNvSpPr txBox="1">
            <a:spLocks noChangeArrowheads="1"/>
          </p:cNvSpPr>
          <p:nvPr/>
        </p:nvSpPr>
        <p:spPr bwMode="auto">
          <a:xfrm>
            <a:off x="1833563" y="4648200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2D1993"/>
                </a:solidFill>
                <a:ea typeface="宋体" panose="02010600030101010101" pitchFamily="2" charset="-122"/>
              </a:rPr>
              <a:t>Refund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76" name="Text Box 1031"/>
          <p:cNvSpPr txBox="1">
            <a:spLocks noChangeArrowheads="1"/>
          </p:cNvSpPr>
          <p:nvPr/>
        </p:nvSpPr>
        <p:spPr bwMode="auto">
          <a:xfrm>
            <a:off x="1069975" y="48768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Yes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77" name="Text Box 1032"/>
          <p:cNvSpPr txBox="1">
            <a:spLocks noChangeArrowheads="1"/>
          </p:cNvSpPr>
          <p:nvPr/>
        </p:nvSpPr>
        <p:spPr bwMode="auto">
          <a:xfrm>
            <a:off x="3051175" y="48768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0">
                <a:ea typeface="宋体" panose="02010600030101010101" pitchFamily="2" charset="-122"/>
              </a:rPr>
              <a:t>No</a:t>
            </a:r>
            <a:endParaRPr lang="en-US" altLang="zh-CN" sz="1600" b="0">
              <a:ea typeface="宋体" panose="02010600030101010101" pitchFamily="2" charset="-122"/>
            </a:endParaRPr>
          </a:p>
        </p:txBody>
      </p:sp>
      <p:graphicFrame>
        <p:nvGraphicFramePr>
          <p:cNvPr id="36867" name="Object 1033"/>
          <p:cNvGraphicFramePr>
            <a:graphicFrameLocks noChangeAspect="1"/>
          </p:cNvGraphicFramePr>
          <p:nvPr/>
        </p:nvGraphicFramePr>
        <p:xfrm>
          <a:off x="0" y="5495925"/>
          <a:ext cx="18081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Document" r:id="rId4" imgW="4401820" imgH="1652270" progId="Word.Document.8">
                  <p:embed/>
                </p:oleObj>
              </mc:Choice>
              <mc:Fallback>
                <p:oleObj name="Document" r:id="rId4" imgW="4401820" imgH="1652270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495925"/>
                        <a:ext cx="18081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1034"/>
          <p:cNvGraphicFramePr>
            <a:graphicFrameLocks noChangeAspect="1"/>
          </p:cNvGraphicFramePr>
          <p:nvPr/>
        </p:nvGraphicFramePr>
        <p:xfrm>
          <a:off x="2062163" y="5486400"/>
          <a:ext cx="19304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Document" r:id="rId6" imgW="4681855" imgH="1652270" progId="Word.Document.8">
                  <p:embed/>
                </p:oleObj>
              </mc:Choice>
              <mc:Fallback>
                <p:oleObj name="Document" r:id="rId6" imgW="4681855" imgH="1652270" progId="Word.Document.8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5486400"/>
                        <a:ext cx="19304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Line 1035"/>
          <p:cNvSpPr>
            <a:spLocks noChangeShapeType="1"/>
          </p:cNvSpPr>
          <p:nvPr/>
        </p:nvSpPr>
        <p:spPr bwMode="auto">
          <a:xfrm>
            <a:off x="6875463" y="3006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Line 1036"/>
          <p:cNvSpPr>
            <a:spLocks noChangeShapeType="1"/>
          </p:cNvSpPr>
          <p:nvPr/>
        </p:nvSpPr>
        <p:spPr bwMode="auto">
          <a:xfrm flipH="1">
            <a:off x="5502275" y="3006725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037"/>
          <p:cNvSpPr txBox="1">
            <a:spLocks noChangeArrowheads="1"/>
          </p:cNvSpPr>
          <p:nvPr/>
        </p:nvSpPr>
        <p:spPr bwMode="auto">
          <a:xfrm>
            <a:off x="6019800" y="2743200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2D1993"/>
                </a:solidFill>
                <a:ea typeface="宋体" panose="02010600030101010101" pitchFamily="2" charset="-122"/>
              </a:rPr>
              <a:t>Refund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81" name="Text Box 1038"/>
          <p:cNvSpPr txBox="1">
            <a:spLocks noChangeArrowheads="1"/>
          </p:cNvSpPr>
          <p:nvPr/>
        </p:nvSpPr>
        <p:spPr bwMode="auto">
          <a:xfrm>
            <a:off x="5256213" y="29718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Yes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6869" name="Object 1039"/>
          <p:cNvGraphicFramePr>
            <a:graphicFrameLocks noChangeAspect="1"/>
          </p:cNvGraphicFramePr>
          <p:nvPr/>
        </p:nvGraphicFramePr>
        <p:xfrm>
          <a:off x="4800600" y="1600200"/>
          <a:ext cx="36512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Document" r:id="rId8" imgW="5095240" imgH="1449705" progId="Word.Document.8">
                  <p:embed/>
                </p:oleObj>
              </mc:Choice>
              <mc:Fallback>
                <p:oleObj name="Document" r:id="rId8" imgW="5095240" imgH="1449705" progId="Word.Document.8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0200"/>
                        <a:ext cx="36512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2" name="Text Box 1040"/>
          <p:cNvSpPr txBox="1">
            <a:spLocks noChangeArrowheads="1"/>
          </p:cNvSpPr>
          <p:nvPr/>
        </p:nvSpPr>
        <p:spPr bwMode="auto">
          <a:xfrm>
            <a:off x="7237413" y="29718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 b="0">
                <a:ea typeface="宋体" panose="02010600030101010101" pitchFamily="2" charset="-122"/>
              </a:rPr>
              <a:t>No</a:t>
            </a:r>
            <a:endParaRPr lang="en-US" altLang="zh-CN" sz="1600" b="0">
              <a:ea typeface="宋体" panose="02010600030101010101" pitchFamily="2" charset="-122"/>
            </a:endParaRPr>
          </a:p>
        </p:txBody>
      </p:sp>
      <p:graphicFrame>
        <p:nvGraphicFramePr>
          <p:cNvPr id="36870" name="Object 1041"/>
          <p:cNvGraphicFramePr>
            <a:graphicFrameLocks noChangeAspect="1"/>
          </p:cNvGraphicFramePr>
          <p:nvPr/>
        </p:nvGraphicFramePr>
        <p:xfrm>
          <a:off x="6629400" y="3505200"/>
          <a:ext cx="198913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0" name="Document" r:id="rId10" imgW="4783455" imgH="1652270" progId="Word.Document.8">
                  <p:embed/>
                </p:oleObj>
              </mc:Choice>
              <mc:Fallback>
                <p:oleObj name="Document" r:id="rId10" imgW="4783455" imgH="1652270" progId="Word.Document.8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505200"/>
                        <a:ext cx="1989138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3" name="Text Box 1042"/>
          <p:cNvSpPr txBox="1">
            <a:spLocks noChangeArrowheads="1"/>
          </p:cNvSpPr>
          <p:nvPr/>
        </p:nvSpPr>
        <p:spPr bwMode="auto">
          <a:xfrm>
            <a:off x="4572000" y="4343400"/>
            <a:ext cx="4038600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Probability that Refund=Yes is </a:t>
            </a: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3/9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Probability that Refund=No is </a:t>
            </a: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6/9</a:t>
            </a:r>
            <a:endParaRPr lang="en-US" altLang="zh-CN" sz="18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Assign record to the left child with weight = 3/9 and to the right child with weight = 6/9</a:t>
            </a:r>
            <a:endParaRPr lang="en-US" altLang="zh-CN" sz="1800">
              <a:ea typeface="宋体" panose="02010600030101010101" pitchFamily="2" charset="-122"/>
            </a:endParaRPr>
          </a:p>
        </p:txBody>
      </p:sp>
      <p:graphicFrame>
        <p:nvGraphicFramePr>
          <p:cNvPr id="36871" name="Object 1043"/>
          <p:cNvGraphicFramePr>
            <a:graphicFrameLocks noChangeAspect="1"/>
          </p:cNvGraphicFramePr>
          <p:nvPr>
            <p:ph idx="1"/>
          </p:nvPr>
        </p:nvGraphicFramePr>
        <p:xfrm>
          <a:off x="4572000" y="3505200"/>
          <a:ext cx="190976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1" name="Document" r:id="rId12" imgW="4783455" imgH="1652270" progId="Word.Document.8">
                  <p:embed/>
                </p:oleObj>
              </mc:Choice>
              <mc:Fallback>
                <p:oleObj name="Document" r:id="rId12" imgW="4783455" imgH="1652270" progId="Word.Document.8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05200"/>
                        <a:ext cx="190976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Classify Instances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7892" name="Line 3"/>
          <p:cNvSpPr>
            <a:spLocks noChangeShapeType="1"/>
          </p:cNvSpPr>
          <p:nvPr/>
        </p:nvSpPr>
        <p:spPr bwMode="auto">
          <a:xfrm>
            <a:off x="2187575" y="491807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Line 4"/>
          <p:cNvSpPr>
            <a:spLocks noChangeShapeType="1"/>
          </p:cNvSpPr>
          <p:nvPr/>
        </p:nvSpPr>
        <p:spPr bwMode="auto">
          <a:xfrm flipH="1">
            <a:off x="1057275" y="491807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4" name="Line 5"/>
          <p:cNvSpPr>
            <a:spLocks noChangeShapeType="1"/>
          </p:cNvSpPr>
          <p:nvPr/>
        </p:nvSpPr>
        <p:spPr bwMode="auto">
          <a:xfrm flipH="1">
            <a:off x="1703388" y="412432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Line 6"/>
          <p:cNvSpPr>
            <a:spLocks noChangeShapeType="1"/>
          </p:cNvSpPr>
          <p:nvPr/>
        </p:nvSpPr>
        <p:spPr bwMode="auto">
          <a:xfrm>
            <a:off x="2914650" y="412432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Line 7"/>
          <p:cNvSpPr>
            <a:spLocks noChangeShapeType="1"/>
          </p:cNvSpPr>
          <p:nvPr/>
        </p:nvSpPr>
        <p:spPr bwMode="auto">
          <a:xfrm>
            <a:off x="1865313" y="33972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7" name="Line 8"/>
          <p:cNvSpPr>
            <a:spLocks noChangeShapeType="1"/>
          </p:cNvSpPr>
          <p:nvPr/>
        </p:nvSpPr>
        <p:spPr bwMode="auto">
          <a:xfrm flipH="1">
            <a:off x="492125" y="339725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1009650" y="313372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2D1993"/>
                </a:solidFill>
                <a:ea typeface="宋体" panose="02010600030101010101" pitchFamily="2" charset="-122"/>
              </a:rPr>
              <a:t>Refund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899" name="Text Box 10"/>
          <p:cNvSpPr txBox="1">
            <a:spLocks noChangeArrowheads="1"/>
          </p:cNvSpPr>
          <p:nvPr/>
        </p:nvSpPr>
        <p:spPr bwMode="auto">
          <a:xfrm>
            <a:off x="2025650" y="386080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2D1993"/>
                </a:solidFill>
                <a:ea typeface="宋体" panose="02010600030101010101" pitchFamily="2" charset="-122"/>
              </a:rPr>
              <a:t>MarSt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1300163" y="465296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2D1993"/>
                </a:solidFill>
                <a:ea typeface="宋体" panose="02010600030101010101" pitchFamily="2" charset="-122"/>
              </a:rPr>
              <a:t>TaxInc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01" name="AutoShape 12"/>
          <p:cNvSpPr>
            <a:spLocks noChangeArrowheads="1"/>
          </p:cNvSpPr>
          <p:nvPr/>
        </p:nvSpPr>
        <p:spPr bwMode="auto">
          <a:xfrm>
            <a:off x="2227263" y="544195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2" name="Text Box 13"/>
          <p:cNvSpPr txBox="1">
            <a:spLocks noChangeArrowheads="1"/>
          </p:cNvSpPr>
          <p:nvPr/>
        </p:nvSpPr>
        <p:spPr bwMode="auto">
          <a:xfrm>
            <a:off x="2151063" y="544195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800000"/>
                </a:solidFill>
                <a:ea typeface="宋体" panose="02010600030101010101" pitchFamily="2" charset="-122"/>
              </a:rPr>
              <a:t>YES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03" name="AutoShape 14"/>
          <p:cNvSpPr>
            <a:spLocks noChangeArrowheads="1"/>
          </p:cNvSpPr>
          <p:nvPr/>
        </p:nvSpPr>
        <p:spPr bwMode="auto">
          <a:xfrm>
            <a:off x="735013" y="545941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4" name="Text Box 15"/>
          <p:cNvSpPr txBox="1">
            <a:spLocks noChangeArrowheads="1"/>
          </p:cNvSpPr>
          <p:nvPr/>
        </p:nvSpPr>
        <p:spPr bwMode="auto">
          <a:xfrm>
            <a:off x="831850" y="544512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800000"/>
                </a:solidFill>
                <a:ea typeface="宋体" panose="02010600030101010101" pitchFamily="2" charset="-122"/>
              </a:rPr>
              <a:t>NO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05" name="AutoShape 16"/>
          <p:cNvSpPr>
            <a:spLocks noChangeArrowheads="1"/>
          </p:cNvSpPr>
          <p:nvPr/>
        </p:nvSpPr>
        <p:spPr bwMode="auto">
          <a:xfrm>
            <a:off x="169863" y="387508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6" name="Text Box 17"/>
          <p:cNvSpPr txBox="1">
            <a:spLocks noChangeArrowheads="1"/>
          </p:cNvSpPr>
          <p:nvPr/>
        </p:nvSpPr>
        <p:spPr bwMode="auto">
          <a:xfrm>
            <a:off x="265113" y="38608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800000"/>
                </a:solidFill>
                <a:ea typeface="宋体" panose="02010600030101010101" pitchFamily="2" charset="-122"/>
              </a:rPr>
              <a:t>NO</a:t>
            </a:r>
            <a:endParaRPr lang="en-US" altLang="zh-CN" sz="1600" b="0">
              <a:solidFill>
                <a:srgbClr val="00FFFF"/>
              </a:solidFill>
              <a:ea typeface="宋体" panose="02010600030101010101" pitchFamily="2" charset="-122"/>
            </a:endParaRPr>
          </a:p>
        </p:txBody>
      </p:sp>
      <p:sp>
        <p:nvSpPr>
          <p:cNvPr id="37907" name="AutoShape 18"/>
          <p:cNvSpPr>
            <a:spLocks noChangeArrowheads="1"/>
          </p:cNvSpPr>
          <p:nvPr/>
        </p:nvSpPr>
        <p:spPr bwMode="auto">
          <a:xfrm>
            <a:off x="3065463" y="467995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08" name="Text Box 19"/>
          <p:cNvSpPr txBox="1">
            <a:spLocks noChangeArrowheads="1"/>
          </p:cNvSpPr>
          <p:nvPr/>
        </p:nvSpPr>
        <p:spPr bwMode="auto">
          <a:xfrm>
            <a:off x="3141663" y="46799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>
                <a:solidFill>
                  <a:srgbClr val="800000"/>
                </a:solidFill>
                <a:ea typeface="宋体" panose="02010600030101010101" pitchFamily="2" charset="-122"/>
              </a:rPr>
              <a:t>NO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09" name="Text Box 20"/>
          <p:cNvSpPr txBox="1">
            <a:spLocks noChangeArrowheads="1"/>
          </p:cNvSpPr>
          <p:nvPr/>
        </p:nvSpPr>
        <p:spPr bwMode="auto">
          <a:xfrm>
            <a:off x="282575" y="33972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Yes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10" name="Text Box 21"/>
          <p:cNvSpPr txBox="1">
            <a:spLocks noChangeArrowheads="1"/>
          </p:cNvSpPr>
          <p:nvPr/>
        </p:nvSpPr>
        <p:spPr bwMode="auto">
          <a:xfrm>
            <a:off x="1676400" y="350520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No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11" name="Text Box 22"/>
          <p:cNvSpPr txBox="1">
            <a:spLocks noChangeArrowheads="1"/>
          </p:cNvSpPr>
          <p:nvPr/>
        </p:nvSpPr>
        <p:spPr bwMode="auto">
          <a:xfrm>
            <a:off x="3130550" y="416242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Married</a:t>
            </a:r>
            <a:r>
              <a:rPr lang="en-US" altLang="zh-CN" sz="1600" b="0">
                <a:solidFill>
                  <a:schemeClr val="bg2"/>
                </a:solidFill>
                <a:ea typeface="宋体" panose="02010600030101010101" pitchFamily="2" charset="-122"/>
              </a:rPr>
              <a:t> 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12" name="Text Box 23"/>
          <p:cNvSpPr txBox="1">
            <a:spLocks noChangeArrowheads="1"/>
          </p:cNvSpPr>
          <p:nvPr/>
        </p:nvSpPr>
        <p:spPr bwMode="auto">
          <a:xfrm>
            <a:off x="457200" y="4038600"/>
            <a:ext cx="1355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Single, </a:t>
            </a:r>
            <a:br>
              <a:rPr lang="en-US" altLang="zh-CN" sz="1600" b="0">
                <a:ea typeface="宋体" panose="02010600030101010101" pitchFamily="2" charset="-122"/>
              </a:rPr>
            </a:br>
            <a:r>
              <a:rPr lang="en-US" altLang="zh-CN" sz="1600" b="0">
                <a:ea typeface="宋体" panose="02010600030101010101" pitchFamily="2" charset="-122"/>
              </a:rPr>
              <a:t>Divorced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13" name="Text Box 24"/>
          <p:cNvSpPr txBox="1">
            <a:spLocks noChangeArrowheads="1"/>
          </p:cNvSpPr>
          <p:nvPr/>
        </p:nvSpPr>
        <p:spPr bwMode="auto">
          <a:xfrm>
            <a:off x="534988" y="498316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&lt; 80K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914" name="Text Box 25"/>
          <p:cNvSpPr txBox="1">
            <a:spLocks noChangeArrowheads="1"/>
          </p:cNvSpPr>
          <p:nvPr/>
        </p:nvSpPr>
        <p:spPr bwMode="auto">
          <a:xfrm>
            <a:off x="2309813" y="498316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sz="1600" b="0">
                <a:ea typeface="宋体" panose="02010600030101010101" pitchFamily="2" charset="-122"/>
              </a:rPr>
              <a:t>&gt; 80K</a:t>
            </a:r>
            <a:endParaRPr lang="en-US" altLang="zh-CN" sz="1600" b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3370" name="Group 26"/>
          <p:cNvGraphicFramePr>
            <a:graphicFrameLocks noGrp="1"/>
          </p:cNvGraphicFramePr>
          <p:nvPr/>
        </p:nvGraphicFramePr>
        <p:xfrm>
          <a:off x="4114800" y="1295400"/>
          <a:ext cx="4724400" cy="2286000"/>
        </p:xfrm>
        <a:graphic>
          <a:graphicData uri="http://schemas.openxmlformats.org/drawingml/2006/table">
            <a:tbl>
              <a:tblPr/>
              <a:tblGrid>
                <a:gridCol w="1219200"/>
                <a:gridCol w="914400"/>
                <a:gridCol w="914400"/>
                <a:gridCol w="990600"/>
                <a:gridCol w="685800"/>
              </a:tblGrid>
              <a:tr h="5715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Married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Single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Divorced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Total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6/9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2.67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Total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3.67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6.67</a:t>
                      </a: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7890" name="Object 58"/>
          <p:cNvGraphicFramePr>
            <a:graphicFrameLocks noChangeAspect="1"/>
          </p:cNvGraphicFramePr>
          <p:nvPr/>
        </p:nvGraphicFramePr>
        <p:xfrm>
          <a:off x="228600" y="1676400"/>
          <a:ext cx="367188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Document" r:id="rId2" imgW="5095240" imgH="1449705" progId="Word.Document.8">
                  <p:embed/>
                </p:oleObj>
              </mc:Choice>
              <mc:Fallback>
                <p:oleObj name="Document" r:id="rId2" imgW="5095240" imgH="1449705" progId="Word.Document.8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76400"/>
                        <a:ext cx="367188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47" name="Text Box 59"/>
          <p:cNvSpPr txBox="1">
            <a:spLocks noChangeArrowheads="1"/>
          </p:cNvSpPr>
          <p:nvPr/>
        </p:nvSpPr>
        <p:spPr bwMode="auto">
          <a:xfrm>
            <a:off x="228600" y="12192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New record: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37948" name="Line 60"/>
          <p:cNvSpPr>
            <a:spLocks noChangeShapeType="1"/>
          </p:cNvSpPr>
          <p:nvPr/>
        </p:nvSpPr>
        <p:spPr bwMode="auto">
          <a:xfrm>
            <a:off x="1219200" y="2667000"/>
            <a:ext cx="228600" cy="4572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9" name="Line 61"/>
          <p:cNvSpPr>
            <a:spLocks noChangeShapeType="1"/>
          </p:cNvSpPr>
          <p:nvPr/>
        </p:nvSpPr>
        <p:spPr bwMode="auto">
          <a:xfrm>
            <a:off x="1905000" y="2667000"/>
            <a:ext cx="609600" cy="11430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0" name="Oval 62"/>
          <p:cNvSpPr>
            <a:spLocks noChangeArrowheads="1"/>
          </p:cNvSpPr>
          <p:nvPr/>
        </p:nvSpPr>
        <p:spPr bwMode="auto">
          <a:xfrm>
            <a:off x="5410200" y="2895600"/>
            <a:ext cx="762000" cy="6858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51" name="Oval 63"/>
          <p:cNvSpPr>
            <a:spLocks noChangeArrowheads="1"/>
          </p:cNvSpPr>
          <p:nvPr/>
        </p:nvSpPr>
        <p:spPr bwMode="auto">
          <a:xfrm>
            <a:off x="6400800" y="2895600"/>
            <a:ext cx="1676400" cy="685800"/>
          </a:xfrm>
          <a:prstGeom prst="ellipse">
            <a:avLst/>
          </a:prstGeom>
          <a:noFill/>
          <a:ln w="31750">
            <a:solidFill>
              <a:srgbClr val="0C6D9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952" name="Line 64"/>
          <p:cNvSpPr>
            <a:spLocks noChangeShapeType="1"/>
          </p:cNvSpPr>
          <p:nvPr/>
        </p:nvSpPr>
        <p:spPr bwMode="auto">
          <a:xfrm flipH="1">
            <a:off x="4038600" y="3352800"/>
            <a:ext cx="1676400" cy="9906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3" name="Line 65"/>
          <p:cNvSpPr>
            <a:spLocks noChangeShapeType="1"/>
          </p:cNvSpPr>
          <p:nvPr/>
        </p:nvSpPr>
        <p:spPr bwMode="auto">
          <a:xfrm flipH="1">
            <a:off x="1981200" y="3429000"/>
            <a:ext cx="5029200" cy="990600"/>
          </a:xfrm>
          <a:prstGeom prst="line">
            <a:avLst/>
          </a:prstGeom>
          <a:noFill/>
          <a:ln w="25400">
            <a:solidFill>
              <a:srgbClr val="800000"/>
            </a:solidFill>
            <a:prstDash val="sysDot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4" name="Text Box 66"/>
          <p:cNvSpPr txBox="1">
            <a:spLocks noChangeArrowheads="1"/>
          </p:cNvSpPr>
          <p:nvPr/>
        </p:nvSpPr>
        <p:spPr bwMode="auto">
          <a:xfrm>
            <a:off x="5181600" y="4191000"/>
            <a:ext cx="35052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Probability that Marital Status </a:t>
            </a:r>
            <a:br>
              <a:rPr lang="en-US" altLang="zh-CN" sz="1800">
                <a:ea typeface="宋体" panose="02010600030101010101" pitchFamily="2" charset="-122"/>
              </a:rPr>
            </a:br>
            <a:r>
              <a:rPr lang="en-US" altLang="zh-CN" sz="1800">
                <a:ea typeface="宋体" panose="02010600030101010101" pitchFamily="2" charset="-122"/>
              </a:rPr>
              <a:t>= Married is 3.67/6.67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Probability that Marital Status ={Single,Divorced} is 3/6.67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Other Issues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Data Fragmentation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Search Strategy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u="sng" smtClean="0">
                <a:solidFill>
                  <a:srgbClr val="FF0000"/>
                </a:solidFill>
                <a:ea typeface="宋体" panose="02010600030101010101" pitchFamily="2" charset="-122"/>
              </a:rPr>
              <a:t>Expressiveness</a:t>
            </a:r>
            <a:endParaRPr lang="en-US" altLang="zh-CN" u="sng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Tree Replication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Data Fragmentation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Number of instances gets smaller as you traverse down the tree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Number of instances at the leaf nodes could be too small to make any statistically significant decision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Search Strategy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Finding an optimal decision tree is NP-hard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4"/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The algorithm presented so far uses a greedy, top-down, recursive partitioning strategy to induce a reasonable solution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4"/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Other strategies?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Bottom-up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Bi-directional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Expressiveness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Decision tree provides expressive representation for learning discrete-valued function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But they do not generalize well to certain types of Boolean functions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 Example: parity function: 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3">
              <a:lnSpc>
                <a:spcPct val="90000"/>
              </a:lnSpc>
            </a:pPr>
            <a:r>
              <a:rPr lang="en-US" altLang="zh-CN" sz="1800" smtClean="0">
                <a:latin typeface="Times New Roman" panose="02020603050405020304" pitchFamily="18" charset="0"/>
                <a:ea typeface="宋体" panose="02010600030101010101" pitchFamily="2" charset="-122"/>
              </a:rPr>
              <a:t>Class = 1 if there is an even number of Boolean attributes with truth value = True</a:t>
            </a:r>
            <a:endParaRPr lang="en-US" altLang="zh-CN" sz="18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3">
              <a:lnSpc>
                <a:spcPct val="90000"/>
              </a:lnSpc>
            </a:pPr>
            <a:r>
              <a:rPr lang="en-US" altLang="zh-CN" sz="1800" smtClean="0">
                <a:latin typeface="Times New Roman" panose="02020603050405020304" pitchFamily="18" charset="0"/>
                <a:ea typeface="宋体" panose="02010600030101010101" pitchFamily="2" charset="-122"/>
              </a:rPr>
              <a:t>Class = 0 if there is an odd number of Boolean attributes with truth value = True</a:t>
            </a:r>
            <a:endParaRPr lang="en-US" altLang="zh-CN" sz="18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 For accurate modeling, must have a complete tree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4">
              <a:lnSpc>
                <a:spcPct val="90000"/>
              </a:lnSpc>
            </a:pPr>
            <a:endParaRPr lang="en-US" altLang="zh-CN" sz="18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Not expressive enough for modeling continuous variables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Particularly when test condition involves only a single attribute at-a-time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Decision Boundary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8914" name="Object 3"/>
          <p:cNvGraphicFramePr>
            <a:graphicFrameLocks noChangeAspect="1"/>
          </p:cNvGraphicFramePr>
          <p:nvPr>
            <p:ph idx="1"/>
          </p:nvPr>
        </p:nvGraphicFramePr>
        <p:xfrm>
          <a:off x="457200" y="1143000"/>
          <a:ext cx="8318500" cy="357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Visio" r:id="rId2" imgW="8990330" imgH="3865245" progId="Visio.Drawing.6">
                  <p:embed/>
                </p:oleObj>
              </mc:Choice>
              <mc:Fallback>
                <p:oleObj name="Visio" r:id="rId2" imgW="8990330" imgH="386524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8318500" cy="357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533400" y="4876800"/>
            <a:ext cx="80010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Border line between two neighboring regions of different classes is known as decision boundary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Decision boundary is parallel to axes because test condition involves a single attribute at-a-time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Oblique Decision Trees </a:t>
            </a:r>
            <a:r>
              <a:rPr lang="zh-CN" altLang="en-US" smtClean="0">
                <a:solidFill>
                  <a:srgbClr val="0000FF"/>
                </a:solidFill>
                <a:ea typeface="宋体" panose="02010600030101010101" pitchFamily="2" charset="-122"/>
              </a:rPr>
              <a:t>斜决策树</a:t>
            </a:r>
            <a:endParaRPr lang="en-US" altLang="zh-CN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6654" r="7353" b="5882"/>
          <a:stretch>
            <a:fillRect/>
          </a:stretch>
        </p:blipFill>
        <p:spPr bwMode="auto">
          <a:xfrm>
            <a:off x="228600" y="1066800"/>
            <a:ext cx="4953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/>
          <p:nvPr/>
        </p:nvGrpSpPr>
        <p:grpSpPr bwMode="auto">
          <a:xfrm>
            <a:off x="5638800" y="1981200"/>
            <a:ext cx="3200400" cy="2286000"/>
            <a:chOff x="3552" y="1248"/>
            <a:chExt cx="2016" cy="1440"/>
          </a:xfrm>
        </p:grpSpPr>
        <p:sp>
          <p:nvSpPr>
            <p:cNvPr id="92166" name="Oval 5"/>
            <p:cNvSpPr>
              <a:spLocks noChangeArrowheads="1"/>
            </p:cNvSpPr>
            <p:nvPr/>
          </p:nvSpPr>
          <p:spPr bwMode="auto">
            <a:xfrm>
              <a:off x="4080" y="1248"/>
              <a:ext cx="1008" cy="4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x + y &lt; 1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92167" name="Line 6"/>
            <p:cNvSpPr>
              <a:spLocks noChangeShapeType="1"/>
            </p:cNvSpPr>
            <p:nvPr/>
          </p:nvSpPr>
          <p:spPr bwMode="auto">
            <a:xfrm flipH="1">
              <a:off x="4032" y="1728"/>
              <a:ext cx="528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68" name="Line 7"/>
            <p:cNvSpPr>
              <a:spLocks noChangeShapeType="1"/>
            </p:cNvSpPr>
            <p:nvPr/>
          </p:nvSpPr>
          <p:spPr bwMode="auto">
            <a:xfrm>
              <a:off x="4560" y="1728"/>
              <a:ext cx="62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69" name="Rectangle 8"/>
            <p:cNvSpPr>
              <a:spLocks noChangeArrowheads="1"/>
            </p:cNvSpPr>
            <p:nvPr/>
          </p:nvSpPr>
          <p:spPr bwMode="auto">
            <a:xfrm>
              <a:off x="35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Class = </a:t>
              </a:r>
              <a:r>
                <a:rPr lang="en-US" altLang="zh-CN" sz="2400">
                  <a:solidFill>
                    <a:srgbClr val="FF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sz="1800">
                  <a:ea typeface="宋体" panose="02010600030101010101" pitchFamily="2" charset="-122"/>
                </a:rPr>
                <a:t> 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92170" name="Rectangle 9"/>
            <p:cNvSpPr>
              <a:spLocks noChangeArrowheads="1"/>
            </p:cNvSpPr>
            <p:nvPr/>
          </p:nvSpPr>
          <p:spPr bwMode="auto">
            <a:xfrm>
              <a:off x="4752" y="2208"/>
              <a:ext cx="816" cy="480"/>
            </a:xfrm>
            <a:prstGeom prst="rect">
              <a:avLst/>
            </a:prstGeom>
            <a:noFill/>
            <a:ln w="25400">
              <a:solidFill>
                <a:srgbClr val="1C5A6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>
                  <a:ea typeface="宋体" panose="02010600030101010101" pitchFamily="2" charset="-122"/>
                </a:rPr>
                <a:t>Class =     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92171" name="Oval 10"/>
            <p:cNvSpPr>
              <a:spLocks noChangeArrowheads="1"/>
            </p:cNvSpPr>
            <p:nvPr/>
          </p:nvSpPr>
          <p:spPr bwMode="auto">
            <a:xfrm>
              <a:off x="5376" y="2400"/>
              <a:ext cx="96" cy="96"/>
            </a:xfrm>
            <a:prstGeom prst="ellipse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959499" name="Text Box 11"/>
          <p:cNvSpPr txBox="1">
            <a:spLocks noChangeArrowheads="1"/>
          </p:cNvSpPr>
          <p:nvPr/>
        </p:nvSpPr>
        <p:spPr bwMode="auto">
          <a:xfrm>
            <a:off x="533400" y="5056188"/>
            <a:ext cx="80010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Test condition may involve multiple attributes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More expressive representation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Finding optimal test condition is computationally expensive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49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Tree Replication </a:t>
            </a:r>
            <a:r>
              <a:rPr lang="zh-CN" altLang="en-US" smtClean="0">
                <a:solidFill>
                  <a:srgbClr val="0000FF"/>
                </a:solidFill>
                <a:ea typeface="宋体" panose="02010600030101010101" pitchFamily="2" charset="-122"/>
              </a:rPr>
              <a:t>树的复制</a:t>
            </a:r>
            <a:endParaRPr lang="en-US" altLang="zh-CN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9938" name="Object 3"/>
          <p:cNvGraphicFramePr>
            <a:graphicFrameLocks noChangeAspect="1"/>
          </p:cNvGraphicFramePr>
          <p:nvPr/>
        </p:nvGraphicFramePr>
        <p:xfrm>
          <a:off x="914400" y="1128713"/>
          <a:ext cx="5867400" cy="431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VISIO" r:id="rId2" imgW="9538970" imgH="7009130" progId="Visio.Drawing.6">
                  <p:embed/>
                </p:oleObj>
              </mc:Choice>
              <mc:Fallback>
                <p:oleObj name="VISIO" r:id="rId2" imgW="9538970" imgH="7009130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28713"/>
                        <a:ext cx="5867400" cy="431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533400" y="5805488"/>
            <a:ext cx="800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1800">
                <a:ea typeface="宋体" panose="02010600030101010101" pitchFamily="2" charset="-122"/>
              </a:rPr>
              <a:t> Same subtree appears in multiple branches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二、分类模型的评估 </a:t>
            </a:r>
            <a:r>
              <a:rPr lang="en-US" altLang="zh-CN" smtClean="0">
                <a:ea typeface="宋体" panose="02010600030101010101" pitchFamily="2" charset="-122"/>
              </a:rPr>
              <a:t>Model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smtClean="0">
                <a:ea typeface="宋体" panose="02010600030101010101" pitchFamily="2" charset="-122"/>
              </a:rPr>
              <a:t>Metrics for Performance Evaluation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evaluate the performance of a model?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Methods for Performance Evaluation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obtain reliable estimates?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Methods for Model Comparison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compare the relative performance among competing models?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Model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Metrics for Performance Evaluation</a:t>
            </a:r>
            <a:endParaRPr lang="en-US" altLang="zh-CN" b="1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evaluate the performance of a model?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Methods for Performance Evaluation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obtain reliable estimates?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Methods for Model Comparison</a:t>
            </a:r>
            <a:endParaRPr lang="en-US" altLang="zh-CN" b="1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compare the relative performance among competing models?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Metrics for Performance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Focus on the predictive capability of a model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Rather than how fast it takes to classify or build models, scalability, etc.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Confusion Matrix</a:t>
            </a:r>
            <a:r>
              <a:rPr lang="zh-CN" altLang="en-US" b="1" smtClean="0">
                <a:solidFill>
                  <a:srgbClr val="0000FF"/>
                </a:solidFill>
                <a:ea typeface="宋体" panose="02010600030101010101" pitchFamily="2" charset="-122"/>
              </a:rPr>
              <a:t>混淆矩阵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63588" name="Group 4"/>
          <p:cNvGraphicFramePr>
            <a:graphicFrameLocks noGrp="1"/>
          </p:cNvGraphicFramePr>
          <p:nvPr/>
        </p:nvGraphicFramePr>
        <p:xfrm>
          <a:off x="381000" y="33782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8580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5259" name="Text Box 27"/>
          <p:cNvSpPr txBox="1">
            <a:spLocks noChangeArrowheads="1"/>
          </p:cNvSpPr>
          <p:nvPr/>
        </p:nvSpPr>
        <p:spPr bwMode="auto">
          <a:xfrm>
            <a:off x="6629400" y="4292600"/>
            <a:ext cx="2209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a: TP (true positive)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b: FN (false negative)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c: FP (false positive)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d: TN (true negative)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Metrics for Performance Evaluation…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Most widely-used metric: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64612" name="Group 4"/>
          <p:cNvGraphicFramePr>
            <a:graphicFrameLocks noGrp="1"/>
          </p:cNvGraphicFramePr>
          <p:nvPr/>
        </p:nvGraphicFramePr>
        <p:xfrm>
          <a:off x="1524000" y="1219200"/>
          <a:ext cx="6096000" cy="2822575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8580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(TP)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(FN)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(FP)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(TN)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962" name="Object 27"/>
          <p:cNvGraphicFramePr>
            <a:graphicFrameLocks noChangeAspect="1"/>
          </p:cNvGraphicFramePr>
          <p:nvPr/>
        </p:nvGraphicFramePr>
        <p:xfrm>
          <a:off x="609600" y="5105400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tion" r:id="rId2" imgW="5664200" imgH="723900" progId="Equation.3">
                  <p:embed/>
                </p:oleObj>
              </mc:Choice>
              <mc:Fallback>
                <p:oleObj name="Equation" r:id="rId2" imgW="5664200" imgH="7239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105400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Limitation of Accuracy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Consider a 2-class problem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Number of Class 0 examples = 9990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Number of Class 1 examples = 10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If model predicts everything to be class 0, accuracy is 9990/10000 = 99.9 %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Accuracy is misleading because model does not detect any class 1 example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Cost Matrix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66659" name="Group 3"/>
          <p:cNvGraphicFramePr>
            <a:graphicFrameLocks noGrp="1"/>
          </p:cNvGraphicFramePr>
          <p:nvPr/>
        </p:nvGraphicFramePr>
        <p:xfrm>
          <a:off x="1447800" y="1625600"/>
          <a:ext cx="6096000" cy="2794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60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PREDICTED 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C(i|j)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6731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C(Yes|Yes)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C(No|Yes)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47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C(Yes|No)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C(No|No)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306" name="Rectangle 26"/>
          <p:cNvSpPr>
            <a:spLocks noChangeArrowheads="1"/>
          </p:cNvSpPr>
          <p:nvPr/>
        </p:nvSpPr>
        <p:spPr bwMode="auto">
          <a:xfrm>
            <a:off x="685800" y="5105400"/>
            <a:ext cx="7848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0">
                <a:ea typeface="宋体" panose="02010600030101010101" pitchFamily="2" charset="-122"/>
              </a:rPr>
              <a:t>C(i|j): Cost of misclassifying class j example as class i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Computing Cost of Classification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/>
        </p:nvGraphicFramePr>
        <p:xfrm>
          <a:off x="2895600" y="1143000"/>
          <a:ext cx="3581400" cy="1830388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Cost Matrix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0838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C(i|j)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685800" y="3276600"/>
          <a:ext cx="3581400" cy="1830388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Model M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0838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4953000" y="3276600"/>
          <a:ext cx="3581400" cy="1830388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Model M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50838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8376" name="Rectangle 1096"/>
          <p:cNvSpPr>
            <a:spLocks noChangeArrowheads="1"/>
          </p:cNvSpPr>
          <p:nvPr/>
        </p:nvSpPr>
        <p:spPr bwMode="auto">
          <a:xfrm>
            <a:off x="762000" y="5334000"/>
            <a:ext cx="3048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Accuracy = 80%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Cost = 3910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sp>
        <p:nvSpPr>
          <p:cNvPr id="98377" name="Rectangle 1097"/>
          <p:cNvSpPr>
            <a:spLocks noChangeArrowheads="1"/>
          </p:cNvSpPr>
          <p:nvPr/>
        </p:nvSpPr>
        <p:spPr bwMode="auto">
          <a:xfrm>
            <a:off x="5181600" y="5334000"/>
            <a:ext cx="3048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Accuracy = 90%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altLang="zh-CN" sz="2400" b="0">
                <a:ea typeface="宋体" panose="02010600030101010101" pitchFamily="2" charset="-122"/>
              </a:rPr>
              <a:t>Cost = 4255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Cost vs Accuracy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68707" name="Group 3"/>
          <p:cNvGraphicFramePr>
            <a:graphicFrameLocks noGrp="1"/>
          </p:cNvGraphicFramePr>
          <p:nvPr>
            <p:ph idx="1"/>
          </p:nvPr>
        </p:nvGraphicFramePr>
        <p:xfrm>
          <a:off x="411163" y="1143000"/>
          <a:ext cx="4389437" cy="2243138"/>
        </p:xfrm>
        <a:graphic>
          <a:graphicData uri="http://schemas.openxmlformats.org/drawingml/2006/table">
            <a:tbl>
              <a:tblPr/>
              <a:tblGrid>
                <a:gridCol w="1096962"/>
                <a:gridCol w="1098550"/>
                <a:gridCol w="1096963"/>
                <a:gridCol w="1096962"/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Count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6515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8730" name="Group 26"/>
          <p:cNvGraphicFramePr>
            <a:graphicFrameLocks noGrp="1"/>
          </p:cNvGraphicFramePr>
          <p:nvPr/>
        </p:nvGraphicFramePr>
        <p:xfrm>
          <a:off x="381000" y="3886200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/>
                <a:gridCol w="1098550"/>
                <a:gridCol w="1096962"/>
                <a:gridCol w="1096963"/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Cost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PREDICTED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65150">
                <a:tc rowSpan="3"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ACTUAL</a:t>
                      </a:r>
                      <a:b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Class=Yes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Class=No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9"/>
          <p:cNvGrpSpPr/>
          <p:nvPr/>
        </p:nvGrpSpPr>
        <p:grpSpPr bwMode="auto">
          <a:xfrm>
            <a:off x="5105400" y="1143000"/>
            <a:ext cx="3733800" cy="4964113"/>
            <a:chOff x="3216" y="720"/>
            <a:chExt cx="2352" cy="3127"/>
          </a:xfrm>
        </p:grpSpPr>
        <p:sp>
          <p:nvSpPr>
            <p:cNvPr id="99378" name="Text Box 50"/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N = a + b + c + d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Accuracy = (a + d)/N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Cost = p (a + d) + q (b + c)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        = p (a + d) + q (N – a – d)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        = q N – (q – p)(a + d)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        = N [q – (q-p)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 </a:t>
              </a:r>
              <a:r>
                <a:rPr lang="en-US" altLang="zh-CN" sz="1800" b="0">
                  <a:ea typeface="宋体" panose="02010600030101010101" pitchFamily="2" charset="-122"/>
                </a:rPr>
                <a:t>Accuracy] </a:t>
              </a:r>
              <a:endParaRPr lang="en-US" altLang="zh-CN" sz="1800" b="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99379" name="Rectangle 51"/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0">
                  <a:ea typeface="宋体" panose="02010600030101010101" pitchFamily="2" charset="-122"/>
                </a:rPr>
                <a:t>Accuracy is proportional to cost if</a:t>
              </a:r>
              <a:br>
                <a:rPr lang="en-US" altLang="zh-CN" sz="1800" b="0">
                  <a:ea typeface="宋体" panose="02010600030101010101" pitchFamily="2" charset="-122"/>
                </a:rPr>
              </a:br>
              <a:r>
                <a:rPr lang="en-US" altLang="zh-CN" sz="1800" b="0">
                  <a:ea typeface="宋体" panose="02010600030101010101" pitchFamily="2" charset="-122"/>
                </a:rPr>
                <a:t>1. C(Yes|No)=C(No|Yes) = q </a:t>
              </a:r>
              <a:br>
                <a:rPr lang="en-US" altLang="zh-CN" sz="1800" b="0">
                  <a:ea typeface="宋体" panose="02010600030101010101" pitchFamily="2" charset="-122"/>
                </a:rPr>
              </a:br>
              <a:r>
                <a:rPr lang="en-US" altLang="zh-CN" sz="1800" b="0">
                  <a:ea typeface="宋体" panose="02010600030101010101" pitchFamily="2" charset="-122"/>
                </a:rPr>
                <a:t>2. C(Yes|Yes)=C(No|No) = p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Cost-Sensitive Measures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1986" name="Object 3"/>
          <p:cNvGraphicFramePr>
            <a:graphicFrameLocks noChangeAspect="1"/>
          </p:cNvGraphicFramePr>
          <p:nvPr/>
        </p:nvGraphicFramePr>
        <p:xfrm>
          <a:off x="2133600" y="990600"/>
          <a:ext cx="4800600" cy="271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Equation" r:id="rId2" imgW="4241800" imgH="2400300" progId="Equation.3">
                  <p:embed/>
                </p:oleObj>
              </mc:Choice>
              <mc:Fallback>
                <p:oleObj name="Equation" r:id="rId2" imgW="4241800" imgH="2400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990600"/>
                        <a:ext cx="4800600" cy="271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152400" y="3962400"/>
            <a:ext cx="8839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Precision is biased towards C(Yes|Yes) &amp; C(Yes|No)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Recall is biased towards C(Yes|Yes) &amp; C(No|Yes)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F-measure is biased towards all except C(No|No)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  <p:graphicFrame>
        <p:nvGraphicFramePr>
          <p:cNvPr id="41987" name="Object 5"/>
          <p:cNvGraphicFramePr>
            <a:graphicFrameLocks noChangeAspect="1"/>
          </p:cNvGraphicFramePr>
          <p:nvPr/>
        </p:nvGraphicFramePr>
        <p:xfrm>
          <a:off x="1371600" y="5410200"/>
          <a:ext cx="601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4" imgW="5270500" imgH="800100" progId="Equation.3">
                  <p:embed/>
                </p:oleObj>
              </mc:Choice>
              <mc:Fallback>
                <p:oleObj name="Equation" r:id="rId4" imgW="5270500" imgH="800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410200"/>
                        <a:ext cx="6019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云形标注 5"/>
          <p:cNvSpPr>
            <a:spLocks noChangeArrowheads="1"/>
          </p:cNvSpPr>
          <p:nvPr/>
        </p:nvSpPr>
        <p:spPr bwMode="auto">
          <a:xfrm>
            <a:off x="6934200" y="1752600"/>
            <a:ext cx="1600200" cy="917575"/>
          </a:xfrm>
          <a:prstGeom prst="cloudCallout">
            <a:avLst>
              <a:gd name="adj1" fmla="val -48903"/>
              <a:gd name="adj2" fmla="val 72190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r</a:t>
            </a:r>
            <a:r>
              <a:rPr lang="zh-CN" altLang="en-US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的调和平均值</a:t>
            </a:r>
            <a:r>
              <a:rPr lang="en-US" altLang="zh-CN">
                <a:ea typeface="宋体" panose="02010600030101010101" pitchFamily="2" charset="-122"/>
              </a:rPr>
              <a:t>2/(1/r+1/p)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991" name="TextBox 6"/>
          <p:cNvSpPr txBox="1">
            <a:spLocks noChangeArrowheads="1"/>
          </p:cNvSpPr>
          <p:nvPr/>
        </p:nvSpPr>
        <p:spPr bwMode="auto">
          <a:xfrm>
            <a:off x="5181600" y="220980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ea typeface="宋体" panose="02010600030101010101" pitchFamily="2" charset="-122"/>
              </a:rPr>
              <a:t>查全率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41992" name="TextBox 8"/>
          <p:cNvSpPr txBox="1">
            <a:spLocks noChangeArrowheads="1"/>
          </p:cNvSpPr>
          <p:nvPr/>
        </p:nvSpPr>
        <p:spPr bwMode="auto">
          <a:xfrm>
            <a:off x="5334000" y="1219200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ea typeface="宋体" panose="02010600030101010101" pitchFamily="2" charset="-122"/>
              </a:rPr>
              <a:t>查准率</a:t>
            </a:r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Model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Metrics for Performance Evaluation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evaluate the performance of a model?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Methods for Performance Evaluation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obtain reliable estimates?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Methods for Model Comparison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compare the relative performance among competing models?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Methods for Performance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obtain a reliable estimate of performance?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Performance of a model may depend on other factors besides the learning algorithm: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Class distribution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Cost of misclassification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Size of training and test sets</a:t>
            </a:r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Learning Curve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pSp>
        <p:nvGrpSpPr>
          <p:cNvPr id="102403" name="Group 3"/>
          <p:cNvGrpSpPr/>
          <p:nvPr/>
        </p:nvGrpSpPr>
        <p:grpSpPr bwMode="auto">
          <a:xfrm>
            <a:off x="76200" y="1219200"/>
            <a:ext cx="5715000" cy="4857750"/>
            <a:chOff x="48" y="768"/>
            <a:chExt cx="3600" cy="3060"/>
          </a:xfrm>
        </p:grpSpPr>
        <p:pic>
          <p:nvPicPr>
            <p:cNvPr id="102405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2" r="5882"/>
            <a:stretch>
              <a:fillRect/>
            </a:stretch>
          </p:blipFill>
          <p:spPr bwMode="auto">
            <a:xfrm>
              <a:off x="48" y="768"/>
              <a:ext cx="360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06" name="Line 5"/>
            <p:cNvSpPr>
              <a:spLocks noChangeShapeType="1"/>
            </p:cNvSpPr>
            <p:nvPr/>
          </p:nvSpPr>
          <p:spPr bwMode="auto">
            <a:xfrm>
              <a:off x="336" y="1214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04" name="Rectangle 6"/>
          <p:cNvSpPr>
            <a:spLocks noChangeArrowheads="1"/>
          </p:cNvSpPr>
          <p:nvPr/>
        </p:nvSpPr>
        <p:spPr bwMode="auto">
          <a:xfrm>
            <a:off x="5638800" y="1143000"/>
            <a:ext cx="3352800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000" b="0">
                <a:ea typeface="宋体" panose="02010600030101010101" pitchFamily="2" charset="-122"/>
              </a:rPr>
              <a:t>Learning curve shows how accuracy changes with varying sample size</a:t>
            </a:r>
            <a:endParaRPr lang="en-US" altLang="zh-CN" sz="20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000" b="0">
                <a:ea typeface="宋体" panose="02010600030101010101" pitchFamily="2" charset="-122"/>
              </a:rPr>
              <a:t>Requires a sampling schedule for creating learning curve:</a:t>
            </a:r>
            <a:endParaRPr lang="en-US" altLang="zh-CN" sz="20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000" b="0">
                <a:ea typeface="宋体" panose="02010600030101010101" pitchFamily="2" charset="-122"/>
              </a:rPr>
              <a:t>Arithmetic sampling</a:t>
            </a:r>
            <a:br>
              <a:rPr lang="en-US" altLang="zh-CN" sz="2000" b="0">
                <a:ea typeface="宋体" panose="02010600030101010101" pitchFamily="2" charset="-122"/>
              </a:rPr>
            </a:br>
            <a:r>
              <a:rPr lang="en-US" altLang="zh-CN" sz="2000" b="0">
                <a:ea typeface="宋体" panose="02010600030101010101" pitchFamily="2" charset="-122"/>
              </a:rPr>
              <a:t>(Langley, et al)</a:t>
            </a:r>
            <a:endParaRPr lang="en-US" altLang="zh-CN" sz="20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000" b="0">
                <a:ea typeface="宋体" panose="02010600030101010101" pitchFamily="2" charset="-122"/>
              </a:rPr>
              <a:t>Geometric sampling</a:t>
            </a:r>
            <a:br>
              <a:rPr lang="en-US" altLang="zh-CN" sz="2000" b="0">
                <a:ea typeface="宋体" panose="02010600030101010101" pitchFamily="2" charset="-122"/>
              </a:rPr>
            </a:br>
            <a:r>
              <a:rPr lang="en-US" altLang="zh-CN" sz="2000" b="0">
                <a:ea typeface="宋体" panose="02010600030101010101" pitchFamily="2" charset="-122"/>
              </a:rPr>
              <a:t>(Provost et al)</a:t>
            </a:r>
            <a:endParaRPr lang="en-US" altLang="zh-CN" sz="20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endParaRPr lang="en-US" altLang="zh-CN" sz="20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altLang="zh-CN" sz="2000" b="0">
                <a:ea typeface="宋体" panose="02010600030101010101" pitchFamily="2" charset="-122"/>
              </a:rPr>
              <a:t>Effect of small sample size:</a:t>
            </a:r>
            <a:endParaRPr lang="en-US" altLang="zh-CN" sz="20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altLang="zh-CN" sz="2000" b="0">
                <a:ea typeface="宋体" panose="02010600030101010101" pitchFamily="2" charset="-122"/>
              </a:rPr>
              <a:t>Bias in the estimate</a:t>
            </a:r>
            <a:endParaRPr lang="en-US" altLang="zh-CN" sz="20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Tx/>
              <a:buChar char="-"/>
            </a:pPr>
            <a:r>
              <a:rPr lang="en-US" altLang="zh-CN" sz="2000" b="0">
                <a:ea typeface="宋体" panose="02010600030101010101" pitchFamily="2" charset="-122"/>
              </a:rPr>
              <a:t>Variance of estimate</a:t>
            </a:r>
            <a:endParaRPr lang="en-US" altLang="zh-CN" sz="20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Methods of Estimation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80438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Holdout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Reserve 2/3 for training and 1/3 for testing 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Random subsampling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Repeated holdout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Cross validation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Partition data into k disjoint subsets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k-fold: train on k-1 partitions, test on the remaining one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Leave-one-out:   k=n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Stratified sampling 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oversampling vs undersampling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Bootstrap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Sampling with replacement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Model Evaluation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Metrics for Performance Evaluation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evaluate the performance of a model?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Methods for Performance Evaluation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obtain reliable estimates?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Methods for Model Comparison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How to compare the relative performance among competing models?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ROC (Receiver Operating Characteristic)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Developed in 1950s for signal detection theory to analyze noisy signals 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Characterize the trade-off between positive hits and false alarms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ROC curve plots TP (on the y-axis) against FP (on the x-axis)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Performance of each classifier represented as a point on the ROC curve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changing the threshold of algorithm, sample distribution or cost matrix changes the location of the point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ROC Curve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" r="5714"/>
          <a:stretch>
            <a:fillRect/>
          </a:stretch>
        </p:blipFill>
        <p:spPr bwMode="auto">
          <a:xfrm>
            <a:off x="0" y="1828800"/>
            <a:ext cx="434340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0" name="Oval 4"/>
          <p:cNvSpPr>
            <a:spLocks noChangeArrowheads="1"/>
          </p:cNvSpPr>
          <p:nvPr/>
        </p:nvSpPr>
        <p:spPr bwMode="auto">
          <a:xfrm>
            <a:off x="5273675" y="3886200"/>
            <a:ext cx="76200" cy="76200"/>
          </a:xfrm>
          <a:prstGeom prst="ellipse">
            <a:avLst/>
          </a:prstGeom>
          <a:solidFill>
            <a:srgbClr val="000000"/>
          </a:solidFill>
          <a:ln w="127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457200" y="1676400"/>
            <a:ext cx="8534400" cy="4648200"/>
            <a:chOff x="288" y="1056"/>
            <a:chExt cx="5376" cy="2928"/>
          </a:xfrm>
        </p:grpSpPr>
        <p:pic>
          <p:nvPicPr>
            <p:cNvPr id="106503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9" r="6557"/>
            <a:stretch>
              <a:fillRect/>
            </a:stretch>
          </p:blipFill>
          <p:spPr bwMode="auto">
            <a:xfrm>
              <a:off x="2736" y="1056"/>
              <a:ext cx="2928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04" name="Text Box 7"/>
            <p:cNvSpPr txBox="1">
              <a:spLocks noChangeArrowheads="1"/>
            </p:cNvSpPr>
            <p:nvPr/>
          </p:nvSpPr>
          <p:spPr bwMode="auto">
            <a:xfrm>
              <a:off x="288" y="3408"/>
              <a:ext cx="3360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At threshold t:</a:t>
              </a:r>
              <a:endParaRPr lang="en-US" altLang="zh-CN" sz="200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TP=0.5, FN=0.5, FP=0.12, TN=0.88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106505" name="Line 8"/>
            <p:cNvSpPr>
              <a:spLocks noChangeShapeType="1"/>
            </p:cNvSpPr>
            <p:nvPr/>
          </p:nvSpPr>
          <p:spPr bwMode="auto">
            <a:xfrm flipV="1">
              <a:off x="2160" y="2544"/>
              <a:ext cx="110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02" name="Text Box 9"/>
          <p:cNvSpPr txBox="1">
            <a:spLocks noChangeArrowheads="1"/>
          </p:cNvSpPr>
          <p:nvPr/>
        </p:nvSpPr>
        <p:spPr bwMode="auto">
          <a:xfrm>
            <a:off x="228600" y="1066800"/>
            <a:ext cx="8229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- 1-dimensional data set containing 2 classes (positive and negative)</a:t>
            </a:r>
            <a:endParaRPr lang="en-US" altLang="zh-CN" sz="18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- any points located at x &gt; t is classified as positive</a:t>
            </a:r>
            <a:endParaRPr lang="en-US" altLang="zh-CN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ROC Curve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4343400" cy="518160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(TP,FP):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400" smtClean="0">
                <a:ea typeface="宋体" panose="02010600030101010101" pitchFamily="2" charset="-122"/>
              </a:rPr>
              <a:t>(0,0): declare everything</a:t>
            </a:r>
            <a:br>
              <a:rPr lang="en-US" altLang="zh-CN" sz="2400" smtClean="0">
                <a:ea typeface="宋体" panose="02010600030101010101" pitchFamily="2" charset="-122"/>
              </a:rPr>
            </a:br>
            <a:r>
              <a:rPr lang="en-US" altLang="zh-CN" sz="2400" smtClean="0">
                <a:ea typeface="宋体" panose="02010600030101010101" pitchFamily="2" charset="-122"/>
              </a:rPr>
              <a:t>          to be negative class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400" smtClean="0">
                <a:ea typeface="宋体" panose="02010600030101010101" pitchFamily="2" charset="-122"/>
              </a:rPr>
              <a:t>(1,1): declare everything</a:t>
            </a:r>
            <a:br>
              <a:rPr lang="en-US" altLang="zh-CN" sz="2400" smtClean="0">
                <a:ea typeface="宋体" panose="02010600030101010101" pitchFamily="2" charset="-122"/>
              </a:rPr>
            </a:br>
            <a:r>
              <a:rPr lang="en-US" altLang="zh-CN" sz="2400" smtClean="0">
                <a:ea typeface="宋体" panose="02010600030101010101" pitchFamily="2" charset="-122"/>
              </a:rPr>
              <a:t>         to be positive class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400" smtClean="0">
                <a:ea typeface="宋体" panose="02010600030101010101" pitchFamily="2" charset="-122"/>
              </a:rPr>
              <a:t>(1,0): ideal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buFont typeface="Monotype Sorts" charset="2"/>
              <a:buNone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400" smtClean="0">
                <a:ea typeface="宋体" panose="02010600030101010101" pitchFamily="2" charset="-122"/>
              </a:rPr>
              <a:t>Diagonal line: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Random guessing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Below diagonal line: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prediction is opposite of the true class</a:t>
            </a:r>
            <a:endParaRPr lang="en-US" altLang="zh-CN" sz="2000" smtClean="0">
              <a:ea typeface="宋体" panose="02010600030101010101" pitchFamily="2" charset="-122"/>
            </a:endParaRPr>
          </a:p>
        </p:txBody>
      </p:sp>
      <p:pic>
        <p:nvPicPr>
          <p:cNvPr id="1075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r="6557"/>
          <a:stretch>
            <a:fillRect/>
          </a:stretch>
        </p:blipFill>
        <p:spPr bwMode="auto">
          <a:xfrm>
            <a:off x="4267200" y="1143000"/>
            <a:ext cx="480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Using ROC for Model Comparison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8220"/>
          <a:stretch>
            <a:fillRect/>
          </a:stretch>
        </p:blipFill>
        <p:spPr bwMode="auto">
          <a:xfrm>
            <a:off x="76200" y="1219200"/>
            <a:ext cx="52578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5410200" y="1143000"/>
            <a:ext cx="3581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No model consistently outperform the other</a:t>
            </a:r>
            <a:endParaRPr lang="en-US" altLang="zh-CN" sz="24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M</a:t>
            </a:r>
            <a:r>
              <a:rPr lang="en-US" altLang="zh-CN" sz="2400" b="0" baseline="-25000">
                <a:ea typeface="宋体" panose="02010600030101010101" pitchFamily="2" charset="-122"/>
              </a:rPr>
              <a:t>1</a:t>
            </a:r>
            <a:r>
              <a:rPr lang="en-US" altLang="zh-CN" sz="2400" b="0">
                <a:ea typeface="宋体" panose="02010600030101010101" pitchFamily="2" charset="-122"/>
              </a:rPr>
              <a:t> is better for small FPR</a:t>
            </a:r>
            <a:endParaRPr lang="en-US" altLang="zh-CN" sz="24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M</a:t>
            </a:r>
            <a:r>
              <a:rPr lang="en-US" altLang="zh-CN" sz="2400" b="0" baseline="-25000">
                <a:ea typeface="宋体" panose="02010600030101010101" pitchFamily="2" charset="-122"/>
              </a:rPr>
              <a:t>2</a:t>
            </a:r>
            <a:r>
              <a:rPr lang="en-US" altLang="zh-CN" sz="2400" b="0">
                <a:ea typeface="宋体" panose="02010600030101010101" pitchFamily="2" charset="-122"/>
              </a:rPr>
              <a:t> is better for large FPR</a:t>
            </a:r>
            <a:endParaRPr lang="en-US" altLang="zh-CN" sz="24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endParaRPr lang="en-US" altLang="zh-CN" sz="1000" b="0"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2400" b="0">
                <a:ea typeface="宋体" panose="02010600030101010101" pitchFamily="2" charset="-122"/>
              </a:rPr>
              <a:t>Area Under the ROC curve</a:t>
            </a:r>
            <a:endParaRPr lang="en-US" altLang="zh-CN" sz="24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1800" b="0">
                <a:ea typeface="宋体" panose="02010600030101010101" pitchFamily="2" charset="-122"/>
              </a:rPr>
              <a:t>Ideal: </a:t>
            </a:r>
            <a:endParaRPr lang="en-US" altLang="zh-CN" sz="1800" b="0">
              <a:ea typeface="宋体" panose="02010600030101010101" pitchFamily="2" charset="-122"/>
            </a:endParaRPr>
          </a:p>
          <a:p>
            <a:pPr lvl="2">
              <a:spcBef>
                <a:spcPct val="10000"/>
              </a:spcBef>
              <a:spcAft>
                <a:spcPts val="4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zh-CN" sz="1800" b="0">
                <a:ea typeface="宋体" panose="02010600030101010101" pitchFamily="2" charset="-122"/>
              </a:rPr>
              <a:t> Area = 1</a:t>
            </a:r>
            <a:endParaRPr lang="en-US" altLang="zh-CN" sz="1800" b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altLang="zh-CN" sz="1800" b="0">
                <a:ea typeface="宋体" panose="02010600030101010101" pitchFamily="2" charset="-122"/>
              </a:rPr>
              <a:t>Random guess:</a:t>
            </a:r>
            <a:endParaRPr lang="en-US" altLang="zh-CN" sz="1800" b="0">
              <a:ea typeface="宋体" panose="02010600030101010101" pitchFamily="2" charset="-122"/>
            </a:endParaRPr>
          </a:p>
          <a:p>
            <a:pPr lvl="2">
              <a:spcBef>
                <a:spcPct val="10000"/>
              </a:spcBef>
              <a:spcAft>
                <a:spcPts val="40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altLang="zh-CN" sz="1800" b="0">
                <a:ea typeface="宋体" panose="02010600030101010101" pitchFamily="2" charset="-122"/>
              </a:rPr>
              <a:t> Area = 0.5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Construct an ROC curve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79971" name="Group 3"/>
          <p:cNvGraphicFramePr>
            <a:graphicFrameLocks noGrp="1"/>
          </p:cNvGraphicFramePr>
          <p:nvPr/>
        </p:nvGraphicFramePr>
        <p:xfrm>
          <a:off x="381000" y="1371600"/>
          <a:ext cx="3886200" cy="4064004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Instance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P(+|A)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 Class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0.93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0.87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0.76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0.53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0.43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0.25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+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9621" name="Text Box 53"/>
          <p:cNvSpPr txBox="1">
            <a:spLocks noChangeArrowheads="1"/>
          </p:cNvSpPr>
          <p:nvPr/>
        </p:nvSpPr>
        <p:spPr bwMode="auto">
          <a:xfrm>
            <a:off x="4572000" y="1066800"/>
            <a:ext cx="434340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Use classifier that produces posterior probability for each test instance P(+|A)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Sort the instances according to P(+|A) in decreasing order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Apply threshold at each unique value of P(+|A)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Count the number of TP, FP, </a:t>
            </a:r>
            <a:br>
              <a:rPr lang="en-US" altLang="zh-CN" sz="2400" b="0">
                <a:ea typeface="宋体" panose="02010600030101010101" pitchFamily="2" charset="-122"/>
              </a:rPr>
            </a:br>
            <a:r>
              <a:rPr lang="en-US" altLang="zh-CN" sz="2400" b="0">
                <a:ea typeface="宋体" panose="02010600030101010101" pitchFamily="2" charset="-122"/>
              </a:rPr>
              <a:t>  TN, FN at each threshold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TP rate, TPR = TP/(TP+FN)</a:t>
            </a:r>
            <a:endParaRPr lang="en-US" altLang="zh-CN" sz="2400" b="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400" b="0">
                <a:ea typeface="宋体" panose="02010600030101010101" pitchFamily="2" charset="-122"/>
              </a:rPr>
              <a:t> FP rate, FPR = FP/(FP + TN)</a:t>
            </a:r>
            <a:endParaRPr lang="en-US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construct an ROC curve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1447800" y="1066800"/>
          <a:ext cx="6457950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Document" r:id="rId2" imgW="10594975" imgH="3913505" progId="Word.Document.8">
                  <p:embed/>
                </p:oleObj>
              </mc:Choice>
              <mc:Fallback>
                <p:oleObj name="Document" r:id="rId2" imgW="10594975" imgH="391350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66800"/>
                        <a:ext cx="6457950" cy="238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9" t="5128" r="3847" b="5128"/>
          <a:stretch>
            <a:fillRect/>
          </a:stretch>
        </p:blipFill>
        <p:spPr bwMode="auto">
          <a:xfrm>
            <a:off x="2819400" y="3449638"/>
            <a:ext cx="39624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762000" y="13716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Threshold &gt;=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990600" y="4572000"/>
            <a:ext cx="182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ROC Curve: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43015" name="Line 7"/>
          <p:cNvSpPr>
            <a:spLocks noChangeShapeType="1"/>
          </p:cNvSpPr>
          <p:nvPr/>
        </p:nvSpPr>
        <p:spPr bwMode="auto">
          <a:xfrm>
            <a:off x="1219200" y="2895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>
            <a:off x="1219200" y="32004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Test of Significance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82000" cy="5181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Given two models: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Model M1: accuracy = 85%, tested on 30 instances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Model M2: accuracy = 75%, tested on 5000 instances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4"/>
            <a:endParaRPr lang="en-US" altLang="zh-CN" sz="24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Can we say M1 is better than M2?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How much confidence can we place on accuracy of M1 and M2?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Can the difference in performance measure be explained as a result of random fluctuations in the test set?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Confidence Interval for Accuracy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86800" cy="5181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Prediction can be regarded as a Bernoulli trial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A Bernoulli trial has 2 possible outcomes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Possible outcomes for prediction: correct or wrong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Collection of Bernoulli trials has a Binomial distribution: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 x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 Bin(N, p)      x: number of correct predictions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e.g:   Toss a fair coin 50 times, how many heads would turn up?</a:t>
            </a:r>
            <a:b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	   </a:t>
            </a:r>
            <a:r>
              <a:rPr lang="en-US" altLang="zh-CN" sz="2000" smtClean="0">
                <a:ea typeface="宋体" panose="02010600030101010101" pitchFamily="2" charset="-122"/>
              </a:rPr>
              <a:t>Expected number of heads = N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000" smtClean="0">
                <a:ea typeface="宋体" panose="02010600030101010101" pitchFamily="2" charset="-122"/>
              </a:rPr>
              <a:t>p = 50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 0.5 = 25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3">
              <a:buFontTx/>
              <a:buNone/>
            </a:pPr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Given x (# of correct predictions) or equivalently, acc=x/N, and N (# of test instances),</a:t>
            </a:r>
            <a:br>
              <a:rPr lang="en-US" altLang="zh-CN" smtClean="0">
                <a:ea typeface="宋体" panose="02010600030101010101" pitchFamily="2" charset="-122"/>
              </a:rPr>
            </a:b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>	Can we predict p (true accuracy of model)?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Confidence Interval for Accuracy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143000"/>
            <a:ext cx="8318500" cy="5181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For large test sets (N &gt; 30), 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acc has a normal distribution </a:t>
            </a:r>
            <a:br>
              <a:rPr lang="en-US" altLang="zh-CN" sz="2400" smtClean="0">
                <a:ea typeface="宋体" panose="02010600030101010101" pitchFamily="2" charset="-122"/>
              </a:rPr>
            </a:br>
            <a:r>
              <a:rPr lang="en-US" altLang="zh-CN" sz="2400" smtClean="0">
                <a:ea typeface="宋体" panose="02010600030101010101" pitchFamily="2" charset="-122"/>
              </a:rPr>
              <a:t>with mean p and variance </a:t>
            </a:r>
            <a:br>
              <a:rPr lang="en-US" altLang="zh-CN" sz="2400" smtClean="0">
                <a:ea typeface="宋体" panose="02010600030101010101" pitchFamily="2" charset="-122"/>
              </a:rPr>
            </a:br>
            <a:r>
              <a:rPr lang="en-US" altLang="zh-CN" sz="2400" smtClean="0">
                <a:ea typeface="宋体" panose="02010600030101010101" pitchFamily="2" charset="-122"/>
              </a:rPr>
              <a:t>p(1-p)/N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3"/>
            <a:endParaRPr lang="en-US" altLang="zh-CN" smtClean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Confidence Interval for p: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4034" name="Object 4"/>
          <p:cNvGraphicFramePr>
            <a:graphicFrameLocks noChangeAspect="1"/>
          </p:cNvGraphicFramePr>
          <p:nvPr/>
        </p:nvGraphicFramePr>
        <p:xfrm>
          <a:off x="609600" y="3048000"/>
          <a:ext cx="411003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Equation" r:id="rId2" imgW="3619500" imgH="1193800" progId="Equation.3">
                  <p:embed/>
                </p:oleObj>
              </mc:Choice>
              <mc:Fallback>
                <p:oleObj name="Equation" r:id="rId2" imgW="3619500" imgH="119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48000"/>
                        <a:ext cx="4110038" cy="135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8" name="Picture 5" descr="norm_con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8" t="6569" b="12234"/>
          <a:stretch>
            <a:fillRect/>
          </a:stretch>
        </p:blipFill>
        <p:spPr bwMode="auto">
          <a:xfrm>
            <a:off x="5105400" y="1600200"/>
            <a:ext cx="38862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Line 6"/>
          <p:cNvSpPr>
            <a:spLocks noChangeShapeType="1"/>
          </p:cNvSpPr>
          <p:nvPr/>
        </p:nvSpPr>
        <p:spPr bwMode="auto">
          <a:xfrm flipH="1">
            <a:off x="7162800" y="1447800"/>
            <a:ext cx="762000" cy="1066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6858000" y="1066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Area = 1 -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 flipV="1">
            <a:off x="6172200" y="3505200"/>
            <a:ext cx="2286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Text Box 9"/>
          <p:cNvSpPr txBox="1">
            <a:spLocks noChangeArrowheads="1"/>
          </p:cNvSpPr>
          <p:nvPr/>
        </p:nvSpPr>
        <p:spPr bwMode="auto">
          <a:xfrm>
            <a:off x="5791200" y="3962400"/>
            <a:ext cx="7620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en-US" altLang="zh-CN" sz="2400">
                <a:ea typeface="宋体" panose="02010600030101010101" pitchFamily="2" charset="-122"/>
              </a:rPr>
              <a:t>Z</a:t>
            </a:r>
            <a:r>
              <a:rPr lang="en-US" altLang="zh-CN" sz="2400" baseline="-25000">
                <a:ea typeface="宋体" panose="02010600030101010101" pitchFamily="2" charset="-122"/>
                <a:sym typeface="Symbol" panose="05050102010706020507" pitchFamily="18" charset="2"/>
              </a:rPr>
              <a:t>/2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44043" name="Text Box 10"/>
          <p:cNvSpPr txBox="1">
            <a:spLocks noChangeArrowheads="1"/>
          </p:cNvSpPr>
          <p:nvPr/>
        </p:nvSpPr>
        <p:spPr bwMode="auto">
          <a:xfrm>
            <a:off x="7848600" y="3962400"/>
            <a:ext cx="10668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en-US" altLang="zh-CN" sz="2400">
                <a:ea typeface="宋体" panose="02010600030101010101" pitchFamily="2" charset="-122"/>
              </a:rPr>
              <a:t>Z</a:t>
            </a:r>
            <a:r>
              <a:rPr lang="en-US" altLang="zh-CN" sz="2400" baseline="-25000">
                <a:ea typeface="宋体" panose="02010600030101010101" pitchFamily="2" charset="-122"/>
                <a:sym typeface="Symbol" panose="05050102010706020507" pitchFamily="18" charset="2"/>
              </a:rPr>
              <a:t>1-  /2</a:t>
            </a:r>
            <a:endParaRPr lang="en-US" altLang="zh-CN" sz="2400" baseline="-250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4044" name="Line 11"/>
          <p:cNvSpPr>
            <a:spLocks noChangeShapeType="1"/>
          </p:cNvSpPr>
          <p:nvPr/>
        </p:nvSpPr>
        <p:spPr bwMode="auto">
          <a:xfrm flipH="1" flipV="1">
            <a:off x="7772400" y="3505200"/>
            <a:ext cx="152400" cy="685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4035" name="Object 12"/>
          <p:cNvGraphicFramePr>
            <a:graphicFrameLocks noChangeAspect="1"/>
          </p:cNvGraphicFramePr>
          <p:nvPr/>
        </p:nvGraphicFramePr>
        <p:xfrm>
          <a:off x="457200" y="5281613"/>
          <a:ext cx="8358188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5" name="Equation" r:id="rId5" imgW="6718300" imgH="838200" progId="Equation.3">
                  <p:embed/>
                </p:oleObj>
              </mc:Choice>
              <mc:Fallback>
                <p:oleObj name="Equation" r:id="rId5" imgW="6718300" imgH="838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81613"/>
                        <a:ext cx="8358188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Confidence Interval for Accuracy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Consider a model that produces an accuracy of 80% when evaluated on 100 test instances: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N=100, acc = 0.8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Let 1-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 = 0.95 (95% confidence)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From probability table, Z</a:t>
            </a:r>
            <a:r>
              <a:rPr lang="en-US" altLang="zh-CN" sz="24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/2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=1.96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 typeface="Arial" panose="020B0604020202020204" pitchFamily="34" charset="0"/>
              <a:buNone/>
            </a:pP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985092" name="Group 4"/>
          <p:cNvGraphicFramePr>
            <a:graphicFrameLocks noGrp="1"/>
          </p:cNvGraphicFramePr>
          <p:nvPr/>
        </p:nvGraphicFramePr>
        <p:xfrm>
          <a:off x="6934200" y="2209800"/>
          <a:ext cx="1600200" cy="26670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1-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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0.99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2.58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0.98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2.33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0.95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1.96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0.90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1.65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64" name="Line 24"/>
          <p:cNvSpPr>
            <a:spLocks noChangeShapeType="1"/>
          </p:cNvSpPr>
          <p:nvPr/>
        </p:nvSpPr>
        <p:spPr bwMode="auto">
          <a:xfrm>
            <a:off x="5791200" y="3276600"/>
            <a:ext cx="10668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85113" name="Group 25"/>
          <p:cNvGraphicFramePr>
            <a:graphicFrameLocks noGrp="1"/>
          </p:cNvGraphicFramePr>
          <p:nvPr/>
        </p:nvGraphicFramePr>
        <p:xfrm>
          <a:off x="381000" y="3810000"/>
          <a:ext cx="5791200" cy="2019300"/>
        </p:xfrm>
        <a:graphic>
          <a:graphicData uri="http://schemas.openxmlformats.org/drawingml/2006/table">
            <a:tbl>
              <a:tblPr/>
              <a:tblGrid>
                <a:gridCol w="1219200"/>
                <a:gridCol w="914400"/>
                <a:gridCol w="914400"/>
                <a:gridCol w="914400"/>
                <a:gridCol w="914400"/>
                <a:gridCol w="914400"/>
              </a:tblGrid>
              <a:tr h="6731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p(lower)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0.670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0.711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0.763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0.774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0.789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p(upper)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0.888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0.866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0.833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0.824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0.811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Comparing Performance of 2 Models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Given two models, say M1 and M2, which is better?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M1 is tested on D1 (size=n1), found error rate = e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1</a:t>
            </a:r>
            <a:endParaRPr lang="en-US" altLang="zh-CN" sz="2400" baseline="-25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M2 is tested on D2 (size=n2), found error rate = e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2</a:t>
            </a:r>
            <a:endParaRPr lang="en-US" altLang="zh-CN" sz="2400" baseline="-25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Assume D1 and D2 are independent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If n1 and n2 are sufficiently large, then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pPr lvl="1"/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Approximate</a:t>
            </a:r>
            <a:r>
              <a:rPr lang="en-US" altLang="zh-CN" smtClean="0">
                <a:ea typeface="宋体" panose="02010600030101010101" pitchFamily="2" charset="-122"/>
              </a:rPr>
              <a:t>: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5058" name="Object 4"/>
          <p:cNvGraphicFramePr>
            <a:graphicFrameLocks noChangeAspect="1"/>
          </p:cNvGraphicFramePr>
          <p:nvPr/>
        </p:nvGraphicFramePr>
        <p:xfrm>
          <a:off x="3276600" y="4043363"/>
          <a:ext cx="22098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Equation" r:id="rId2" imgW="914400" imgH="457200" progId="Equation.3">
                  <p:embed/>
                </p:oleObj>
              </mc:Choice>
              <mc:Fallback>
                <p:oleObj name="Equation" r:id="rId2" imgW="914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43363"/>
                        <a:ext cx="2209800" cy="1106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5"/>
          <p:cNvGraphicFramePr>
            <a:graphicFrameLocks noChangeAspect="1"/>
          </p:cNvGraphicFramePr>
          <p:nvPr/>
        </p:nvGraphicFramePr>
        <p:xfrm>
          <a:off x="3352800" y="5292725"/>
          <a:ext cx="2078038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9" name="Equation" r:id="rId4" imgW="838200" imgH="419100" progId="Equation.DSMT4">
                  <p:embed/>
                </p:oleObj>
              </mc:Choice>
              <mc:Fallback>
                <p:oleObj name="Equation" r:id="rId4" imgW="838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292725"/>
                        <a:ext cx="2078038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Comparing Performance of 2 Models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>
                <a:ea typeface="宋体" panose="02010600030101010101" pitchFamily="2" charset="-122"/>
              </a:rPr>
              <a:t>To test if performance difference is statistically significant:  d = e1 – e2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zh-CN" sz="2400" smtClean="0">
                <a:ea typeface="宋体" panose="02010600030101010101" pitchFamily="2" charset="-122"/>
              </a:rPr>
              <a:t>d ~ </a:t>
            </a:r>
            <a:r>
              <a:rPr lang="en-US" altLang="zh-CN" sz="2400" i="1" smtClean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N</a:t>
            </a:r>
            <a:r>
              <a:rPr lang="en-US" altLang="zh-CN" sz="2400" smtClean="0">
                <a:ea typeface="宋体" panose="02010600030101010101" pitchFamily="2" charset="-122"/>
              </a:rPr>
              <a:t>(d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t</a:t>
            </a:r>
            <a:r>
              <a:rPr lang="en-US" altLang="zh-CN" sz="2400" smtClean="0">
                <a:ea typeface="宋体" panose="02010600030101010101" pitchFamily="2" charset="-122"/>
              </a:rPr>
              <a:t>,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t</a:t>
            </a:r>
            <a:r>
              <a:rPr lang="en-US" altLang="zh-CN" sz="2400" smtClean="0">
                <a:ea typeface="宋体" panose="02010600030101010101" pitchFamily="2" charset="-122"/>
              </a:rPr>
              <a:t>)   where d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t</a:t>
            </a:r>
            <a:r>
              <a:rPr lang="en-US" altLang="zh-CN" sz="2400" smtClean="0">
                <a:ea typeface="宋体" panose="02010600030101010101" pitchFamily="2" charset="-122"/>
              </a:rPr>
              <a:t> is the true difference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zh-CN" sz="2400" smtClean="0">
                <a:ea typeface="宋体" panose="02010600030101010101" pitchFamily="2" charset="-122"/>
              </a:rPr>
              <a:t>Since D1 and D2 are independent, their variance adds up:   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altLang="zh-CN" sz="2400" smtClean="0">
              <a:ea typeface="宋体" panose="02010600030101010101" pitchFamily="2" charset="-122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altLang="zh-CN" sz="2400" smtClean="0">
                <a:ea typeface="宋体" panose="02010600030101010101" pitchFamily="2" charset="-122"/>
              </a:rPr>
              <a:t>At (1-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) confidence level, 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6082" name="Object 4"/>
          <p:cNvGraphicFramePr>
            <a:graphicFrameLocks noChangeAspect="1"/>
          </p:cNvGraphicFramePr>
          <p:nvPr/>
        </p:nvGraphicFramePr>
        <p:xfrm>
          <a:off x="2362200" y="3581400"/>
          <a:ext cx="418465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2" imgW="3187700" imgH="1193800" progId="Equation.3">
                  <p:embed/>
                </p:oleObj>
              </mc:Choice>
              <mc:Fallback>
                <p:oleObj name="Equation" r:id="rId2" imgW="3187700" imgH="119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4184650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5"/>
          <p:cNvGraphicFramePr>
            <a:graphicFrameLocks noChangeAspect="1"/>
          </p:cNvGraphicFramePr>
          <p:nvPr/>
        </p:nvGraphicFramePr>
        <p:xfrm>
          <a:off x="4908550" y="5545138"/>
          <a:ext cx="27559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4" imgW="1676400" imgH="381000" progId="Equation.3">
                  <p:embed/>
                </p:oleObj>
              </mc:Choice>
              <mc:Fallback>
                <p:oleObj name="Equation" r:id="rId4" imgW="1676400" imgH="38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5545138"/>
                        <a:ext cx="27559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Illustrative Example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Given: M1: n1 = 30, e1 = 0.15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>	     M2: n2 = 5000, e2 = 0.25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d = |e2 – e1| = 0.1   (2-sided test)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At 95% confidence level,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Z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/2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=1.96</a:t>
            </a:r>
            <a:b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b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b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b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=&gt; Interval contains 0 =&gt; difference may not be</a:t>
            </a:r>
            <a:b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    statistically significant</a:t>
            </a: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7106" name="Object 4"/>
          <p:cNvGraphicFramePr>
            <a:graphicFrameLocks noChangeAspect="1"/>
          </p:cNvGraphicFramePr>
          <p:nvPr/>
        </p:nvGraphicFramePr>
        <p:xfrm>
          <a:off x="990600" y="2743200"/>
          <a:ext cx="66659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Equation" r:id="rId2" imgW="5346700" imgH="723900" progId="Equation.3">
                  <p:embed/>
                </p:oleObj>
              </mc:Choice>
              <mc:Fallback>
                <p:oleObj name="Equation" r:id="rId2" imgW="5346700" imgH="723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743200"/>
                        <a:ext cx="6665913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5"/>
          <p:cNvGraphicFramePr>
            <a:graphicFrameLocks noChangeAspect="1"/>
          </p:cNvGraphicFramePr>
          <p:nvPr/>
        </p:nvGraphicFramePr>
        <p:xfrm>
          <a:off x="1066800" y="4724400"/>
          <a:ext cx="65389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7" name="Equation" r:id="rId4" imgW="5245100" imgH="406400" progId="Equation.3">
                  <p:embed/>
                </p:oleObj>
              </mc:Choice>
              <mc:Fallback>
                <p:oleObj name="Equation" r:id="rId4" imgW="5245100" imgH="40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724400"/>
                        <a:ext cx="65389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Comparing Performance of 2 Algorithms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Each learning algorithm may produce k models: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L1 may produce M11 , M12, …, M1k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L2 may produce M21 , M22, …, M2k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If models are generated on the same test sets D1,D2, …, Dk (e.g., via cross-validation)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For each set: compute d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j</a:t>
            </a:r>
            <a:r>
              <a:rPr lang="en-US" altLang="zh-CN" sz="2400" smtClean="0">
                <a:ea typeface="宋体" panose="02010600030101010101" pitchFamily="2" charset="-122"/>
              </a:rPr>
              <a:t> = e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1j</a:t>
            </a:r>
            <a:r>
              <a:rPr lang="en-US" altLang="zh-CN" sz="2400" smtClean="0">
                <a:ea typeface="宋体" panose="02010600030101010101" pitchFamily="2" charset="-122"/>
              </a:rPr>
              <a:t> – e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2j</a:t>
            </a:r>
            <a:endParaRPr lang="en-US" altLang="zh-CN" sz="2400" baseline="-250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d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j</a:t>
            </a:r>
            <a:r>
              <a:rPr lang="en-US" altLang="zh-CN" sz="2400" smtClean="0">
                <a:ea typeface="宋体" panose="02010600030101010101" pitchFamily="2" charset="-122"/>
              </a:rPr>
              <a:t> has mean d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t</a:t>
            </a:r>
            <a:r>
              <a:rPr lang="en-US" altLang="zh-CN" sz="2400" smtClean="0">
                <a:ea typeface="宋体" panose="02010600030101010101" pitchFamily="2" charset="-122"/>
              </a:rPr>
              <a:t> and variance 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aseline="-25000" smtClean="0">
                <a:ea typeface="宋体" panose="02010600030101010101" pitchFamily="2" charset="-122"/>
              </a:rPr>
              <a:t>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Estimate: 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  <p:graphicFrame>
        <p:nvGraphicFramePr>
          <p:cNvPr id="48130" name="Object 4"/>
          <p:cNvGraphicFramePr>
            <a:graphicFrameLocks noChangeAspect="1"/>
          </p:cNvGraphicFramePr>
          <p:nvPr/>
        </p:nvGraphicFramePr>
        <p:xfrm>
          <a:off x="2743200" y="4495800"/>
          <a:ext cx="251777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Equation" r:id="rId2" imgW="1917700" imgH="1371600" progId="Equation.3">
                  <p:embed/>
                </p:oleObj>
              </mc:Choice>
              <mc:Fallback>
                <p:oleObj name="Equation" r:id="rId2" imgW="191770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95800"/>
                        <a:ext cx="2517775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23713</Words>
  <Application>WPS 演示</Application>
  <PresentationFormat>全屏显示(4:3)</PresentationFormat>
  <Paragraphs>1548</Paragraphs>
  <Slides>92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48</vt:i4>
      </vt:variant>
      <vt:variant>
        <vt:lpstr>幻灯片标题</vt:lpstr>
      </vt:variant>
      <vt:variant>
        <vt:i4>92</vt:i4>
      </vt:variant>
    </vt:vector>
  </HeadingPairs>
  <TitlesOfParts>
    <vt:vector size="157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Symbol</vt:lpstr>
      <vt:lpstr>微软雅黑</vt:lpstr>
      <vt:lpstr>Arial Unicode MS</vt:lpstr>
      <vt:lpstr>Calibri</vt:lpstr>
      <vt:lpstr>Arial</vt:lpstr>
      <vt:lpstr>MS PGothic</vt:lpstr>
      <vt:lpstr>Monotype Sorts</vt:lpstr>
      <vt:lpstr>Symbol</vt:lpstr>
      <vt:lpstr>黑体</vt:lpstr>
      <vt:lpstr>LC.BRev.FY97</vt:lpstr>
      <vt:lpstr>Equation.3</vt:lpstr>
      <vt:lpstr>Visio.Drawing.11</vt:lpstr>
      <vt:lpstr>Visio.Drawing.11</vt:lpstr>
      <vt:lpstr>Equation.3</vt:lpstr>
      <vt:lpstr>Excel.Sheet.8</vt:lpstr>
      <vt:lpstr>Excel.Sheet.8</vt:lpstr>
      <vt:lpstr>Equation.3</vt:lpstr>
      <vt:lpstr>Visio.Drawing.6</vt:lpstr>
      <vt:lpstr>Visio.Drawing.6</vt:lpstr>
      <vt:lpstr>Visio.Drawing.6</vt:lpstr>
      <vt:lpstr>Visio.Drawing.6</vt:lpstr>
      <vt:lpstr>Equation.3</vt:lpstr>
      <vt:lpstr>Visio.Drawing.6</vt:lpstr>
      <vt:lpstr>Visio.Drawing.6</vt:lpstr>
      <vt:lpstr>Excel.Sheet.8</vt:lpstr>
      <vt:lpstr>Excel.Sheet.8</vt:lpstr>
      <vt:lpstr>Visio.Drawing.6</vt:lpstr>
      <vt:lpstr>Word.Document.8</vt:lpstr>
      <vt:lpstr>Word.Document.8</vt:lpstr>
      <vt:lpstr>Word.Document.8</vt:lpstr>
      <vt:lpstr>Word.Document.8</vt:lpstr>
      <vt:lpstr>Word.Document.8</vt:lpstr>
      <vt:lpstr>Visio.Drawing.11</vt:lpstr>
      <vt:lpstr>Word.Document.8</vt:lpstr>
      <vt:lpstr>Word.Document.8</vt:lpstr>
      <vt:lpstr>Word.Document.8</vt:lpstr>
      <vt:lpstr>Word.Document.8</vt:lpstr>
      <vt:lpstr>Visio.Drawing.6</vt:lpstr>
      <vt:lpstr>Visio.Drawing.6</vt:lpstr>
      <vt:lpstr>Equation.3</vt:lpstr>
      <vt:lpstr>Equation.3</vt:lpstr>
      <vt:lpstr>Equation.3</vt:lpstr>
      <vt:lpstr>Word.Document.8</vt:lpstr>
      <vt:lpstr>Visio.Drawing.11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Visio.Drawing.11</vt:lpstr>
      <vt:lpstr>Excel.Sheet.8</vt:lpstr>
      <vt:lpstr>Excel.Sheet.8</vt:lpstr>
      <vt:lpstr>Visio.Drawing.11</vt:lpstr>
      <vt:lpstr>Equation.3</vt:lpstr>
      <vt:lpstr>Data Mining</vt:lpstr>
      <vt:lpstr>Classification Errors</vt:lpstr>
      <vt:lpstr>Example Data Set</vt:lpstr>
      <vt:lpstr>Increasing number of nodes in Decision Trees</vt:lpstr>
      <vt:lpstr>Decision Tree with 4 nodes</vt:lpstr>
      <vt:lpstr>Decision Tree with 50 nodes</vt:lpstr>
      <vt:lpstr>Which tree is better?</vt:lpstr>
      <vt:lpstr>Model Overfitting</vt:lpstr>
      <vt:lpstr>Model Overfitting</vt:lpstr>
      <vt:lpstr>Model Overfitting</vt:lpstr>
      <vt:lpstr>Reasons for Model Overfitting</vt:lpstr>
      <vt:lpstr>Effect of Multiple Comparison Procedure</vt:lpstr>
      <vt:lpstr>Effect of Multiple Comparison Procedure</vt:lpstr>
      <vt:lpstr>Effect of Multiple Comparison Procedure</vt:lpstr>
      <vt:lpstr>Effect of Multiple Comparison - Example</vt:lpstr>
      <vt:lpstr>Notes on Overfitting</vt:lpstr>
      <vt:lpstr>Model Selection</vt:lpstr>
      <vt:lpstr>Model Selection: Using Validation Set</vt:lpstr>
      <vt:lpstr>Model Selection: Incorporating Model Complexity</vt:lpstr>
      <vt:lpstr>Estimating the Complexity of Decision Trees</vt:lpstr>
      <vt:lpstr>Estimating the Complexity of Decision Trees: Example</vt:lpstr>
      <vt:lpstr>Estimating the Complexity of Decision Trees</vt:lpstr>
      <vt:lpstr>Minimum Description Length (MDL)</vt:lpstr>
      <vt:lpstr>Estimating Statistical Bounds</vt:lpstr>
      <vt:lpstr>Model Selection for Decision Trees</vt:lpstr>
      <vt:lpstr>Model Selection for Decision Trees</vt:lpstr>
      <vt:lpstr>Example of Post-Pruning</vt:lpstr>
      <vt:lpstr>Examples of Post-pruning</vt:lpstr>
      <vt:lpstr>Model Evaluation</vt:lpstr>
      <vt:lpstr>Cross-validation Example</vt:lpstr>
      <vt:lpstr>Issues with Naïve Bayes Classifier</vt:lpstr>
      <vt:lpstr>Example of Naïve Bayes Classifier</vt:lpstr>
      <vt:lpstr>Naïve Bayes (Summary)</vt:lpstr>
      <vt:lpstr>Naïve Bayes</vt:lpstr>
      <vt:lpstr>Naïve Bayes</vt:lpstr>
      <vt:lpstr>Naïve Bayes</vt:lpstr>
      <vt:lpstr>Bayesian Belief Networks</vt:lpstr>
      <vt:lpstr>Conditional Independence</vt:lpstr>
      <vt:lpstr>Conditional Independence</vt:lpstr>
      <vt:lpstr>Probability Tables</vt:lpstr>
      <vt:lpstr>Example of Bayesian Belief Network</vt:lpstr>
      <vt:lpstr>Example of Inferencing using BBN</vt:lpstr>
      <vt:lpstr>1、Underfitting and Overfitting</vt:lpstr>
      <vt:lpstr>Overfitting due to Noise </vt:lpstr>
      <vt:lpstr>Overfitting due to Insufficient Examples</vt:lpstr>
      <vt:lpstr>Notes on Overfitting</vt:lpstr>
      <vt:lpstr>Estimating Generalization Errors</vt:lpstr>
      <vt:lpstr>Occam’s Razor（奥卡姆剃刀）</vt:lpstr>
      <vt:lpstr>Minimum Description Length (MDL) 最小描述长度</vt:lpstr>
      <vt:lpstr>How to Address Overfitting</vt:lpstr>
      <vt:lpstr>How to Address Overfitting…</vt:lpstr>
      <vt:lpstr>Example of Post-Pruning</vt:lpstr>
      <vt:lpstr>Examples of Post-pruning</vt:lpstr>
      <vt:lpstr>Handling Missing Attribute Values</vt:lpstr>
      <vt:lpstr>Computing Impurity Measure</vt:lpstr>
      <vt:lpstr>Distribute Instances</vt:lpstr>
      <vt:lpstr>Classify Instances</vt:lpstr>
      <vt:lpstr>Other Issues</vt:lpstr>
      <vt:lpstr>Data Fragmentation</vt:lpstr>
      <vt:lpstr>Search Strategy</vt:lpstr>
      <vt:lpstr>Expressiveness</vt:lpstr>
      <vt:lpstr>Decision Boundary</vt:lpstr>
      <vt:lpstr>Oblique Decision Trees 斜决策树</vt:lpstr>
      <vt:lpstr>Tree Replication 树的复制</vt:lpstr>
      <vt:lpstr>二、分类模型的评估 Model Evaluation</vt:lpstr>
      <vt:lpstr>Model Evaluation</vt:lpstr>
      <vt:lpstr>Metrics for Performance Evaluation</vt:lpstr>
      <vt:lpstr>Metrics for Performance Evaluation…</vt:lpstr>
      <vt:lpstr>Limitation of Accuracy</vt:lpstr>
      <vt:lpstr>Cost Matrix</vt:lpstr>
      <vt:lpstr>Computing Cost of Classification</vt:lpstr>
      <vt:lpstr>Cost vs Accuracy</vt:lpstr>
      <vt:lpstr>Cost-Sensitive Measures</vt:lpstr>
      <vt:lpstr>Model Evaluation</vt:lpstr>
      <vt:lpstr>Methods for Performance Evaluation</vt:lpstr>
      <vt:lpstr>Learning Curve</vt:lpstr>
      <vt:lpstr>Methods of Estimation</vt:lpstr>
      <vt:lpstr>Model Evaluation</vt:lpstr>
      <vt:lpstr>ROC (Receiver Operating Characteristic)</vt:lpstr>
      <vt:lpstr>ROC Curve</vt:lpstr>
      <vt:lpstr>ROC Curve</vt:lpstr>
      <vt:lpstr>Using ROC for Model Comparison</vt:lpstr>
      <vt:lpstr>How to Construct an ROC curve</vt:lpstr>
      <vt:lpstr>How to construct an ROC curve</vt:lpstr>
      <vt:lpstr>Test of Significance</vt:lpstr>
      <vt:lpstr>Confidence Interval for Accuracy</vt:lpstr>
      <vt:lpstr>Confidence Interval for Accuracy</vt:lpstr>
      <vt:lpstr>Confidence Interval for Accuracy</vt:lpstr>
      <vt:lpstr>Comparing Performance of 2 Models</vt:lpstr>
      <vt:lpstr>Comparing Performance of 2 Models</vt:lpstr>
      <vt:lpstr>An Illustrative Example</vt:lpstr>
      <vt:lpstr>Comparing Performance of 2 Algorithms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anujkarpatne@gmail.com</dc:creator>
  <cp:lastModifiedBy>XKM</cp:lastModifiedBy>
  <cp:revision>24</cp:revision>
  <cp:lastPrinted>2011-09-26T16:50:00Z</cp:lastPrinted>
  <dcterms:created xsi:type="dcterms:W3CDTF">2018-02-06T01:04:00Z</dcterms:created>
  <dcterms:modified xsi:type="dcterms:W3CDTF">2025-09-01T23:03:49Z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6A6B33D9167A43C2811336AB76198F57_12</vt:lpwstr>
  </property>
  <property fmtid="{D5CDD505-2E9C-101B-9397-08002B2CF9AE}" pid="3" name="KSOProductBuildVer">
    <vt:lpwstr>2052-12.1.0.22529</vt:lpwstr>
  </property>
</Properties>
</file>