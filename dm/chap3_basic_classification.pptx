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63"/>
  </p:handoutMasterIdLst>
  <p:sldIdLst>
    <p:sldId id="608" r:id="rId3"/>
    <p:sldId id="537" r:id="rId5"/>
    <p:sldId id="600" r:id="rId6"/>
    <p:sldId id="538" r:id="rId7"/>
    <p:sldId id="518" r:id="rId8"/>
    <p:sldId id="582" r:id="rId9"/>
    <p:sldId id="583" r:id="rId10"/>
    <p:sldId id="584" r:id="rId11"/>
    <p:sldId id="585" r:id="rId12"/>
    <p:sldId id="586" r:id="rId13"/>
    <p:sldId id="587" r:id="rId14"/>
    <p:sldId id="588" r:id="rId15"/>
    <p:sldId id="635" r:id="rId16"/>
    <p:sldId id="602" r:id="rId17"/>
    <p:sldId id="589" r:id="rId18"/>
    <p:sldId id="592" r:id="rId19"/>
    <p:sldId id="591" r:id="rId20"/>
    <p:sldId id="629" r:id="rId21"/>
    <p:sldId id="630" r:id="rId22"/>
    <p:sldId id="626" r:id="rId23"/>
    <p:sldId id="523" r:id="rId24"/>
    <p:sldId id="593" r:id="rId25"/>
    <p:sldId id="524" r:id="rId26"/>
    <p:sldId id="544" r:id="rId27"/>
    <p:sldId id="594" r:id="rId28"/>
    <p:sldId id="525" r:id="rId29"/>
    <p:sldId id="597" r:id="rId30"/>
    <p:sldId id="599" r:id="rId31"/>
    <p:sldId id="557" r:id="rId32"/>
    <p:sldId id="606" r:id="rId33"/>
    <p:sldId id="603" r:id="rId34"/>
    <p:sldId id="527" r:id="rId35"/>
    <p:sldId id="613" r:id="rId36"/>
    <p:sldId id="556" r:id="rId37"/>
    <p:sldId id="528" r:id="rId38"/>
    <p:sldId id="598" r:id="rId39"/>
    <p:sldId id="530" r:id="rId40"/>
    <p:sldId id="620" r:id="rId41"/>
    <p:sldId id="622" r:id="rId42"/>
    <p:sldId id="623" r:id="rId43"/>
    <p:sldId id="624" r:id="rId44"/>
    <p:sldId id="625" r:id="rId45"/>
    <p:sldId id="618" r:id="rId46"/>
    <p:sldId id="533" r:id="rId47"/>
    <p:sldId id="558" r:id="rId48"/>
    <p:sldId id="534" r:id="rId49"/>
    <p:sldId id="607" r:id="rId50"/>
    <p:sldId id="535" r:id="rId51"/>
    <p:sldId id="611" r:id="rId52"/>
    <p:sldId id="541" r:id="rId53"/>
    <p:sldId id="559" r:id="rId54"/>
    <p:sldId id="542" r:id="rId55"/>
    <p:sldId id="610" r:id="rId56"/>
    <p:sldId id="575" r:id="rId57"/>
    <p:sldId id="590" r:id="rId58"/>
    <p:sldId id="614" r:id="rId59"/>
    <p:sldId id="632" r:id="rId60"/>
    <p:sldId id="634" r:id="rId61"/>
    <p:sldId id="615" r:id="rId62"/>
  </p:sldIdLst>
  <p:sldSz cx="9144000" cy="6858000" type="screen4x3"/>
  <p:notesSz cx="7010400" cy="9296400"/>
  <p:custDataLst>
    <p:tags r:id="rId67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12"/>
  </p:normalViewPr>
  <p:slideViewPr>
    <p:cSldViewPr showGuides="1">
      <p:cViewPr varScale="1">
        <p:scale>
          <a:sx n="105" d="100"/>
          <a:sy n="105" d="100"/>
        </p:scale>
        <p:origin x="258" y="12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2995"/>
    </p:cViewPr>
  </p:sorterViewPr>
  <p:notesViewPr>
    <p:cSldViewPr>
      <p:cViewPr varScale="1">
        <p:scale>
          <a:sx n="83" d="100"/>
          <a:sy n="83" d="100"/>
        </p:scale>
        <p:origin x="-840" y="-66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1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.emf"/><Relationship Id="rId4" Type="http://schemas.openxmlformats.org/officeDocument/2006/relationships/image" Target="../media/image30.emf"/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image" Target="../media/image6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3T19:29: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15986.000 10272.000 256 0,'0.000'0.000'92'0,"0.000"-1.000"-45"0,0.000 0.000 25 0,0.000 0.000-3 16,0.000 0.000-66-16,0.000 0.000-1 0,1.000-1.000 4 0,0.000 0.000 7 0,1.000 0.000-4 15,-1.000-3.000-5-15,-1.000 3.000-7 0,1.000-2.000-2 0,1.000-1.000 0 16,-1.000 3.000 5-16,2.000-6.000 4 0,-1.000 2.000 0 0,0.000 0.000 3 16,0.000 0.000 16-16,-1.000 2.000 21 0,0.000 0.000 11 0,2.000-4.000 1 15,-1.000 2.000 23-15,0.000-1.000 11 0,0.000-1.000-6 0,-1.000 4.000 8 16,0.000 0.000-16-16,0.000-1.000-9 0,-1.000 3.000-6 0,1.000 0.000-1 0,0.000 0.000-32 0,-1.000 1.000-17 0,1.000-1.000 1 0,0.000 0.000-6 15,0.000 1.000 1-15,0.000 0.000 1 0,0.000 0.000 1 0,2.000 0.000-1 16,-1.000-1.000-11-16,0.000 1.000 8 0,0.000 1.000-7 0,-1.000 0.000 6 16,0.000 0.000-9-16,0.000 0.000 7 15,0.000 1.000 2-15,0.000 1.000 3 0,0.000-1.000 6 0,0.000 0.000 6 16,0.000 0.000 3-16,0.000 0.000 1 0,-1.000 0.000 2 0,0.000 0.000 3 16,0.000 0.000-5-16,0.000 0.000 4 0,0.000 0.000-7 0,0.000 1.000 4 0,0.000-1.000-5 15,0.000 1.000 4-15,0.000 0.000-13 0,0.000 1.000-10 0,0.000-2.000 3 16,0.000 7.000-4-16,2.000 2.000 1 0,-1.000-1.000 7 15,2.000 4.000-2-15,0.000-2.000 3 0,0.000 0.000-14 0,1.000 2.000 3 16,1.000-3.000-1-16,-2.000 0.000 3 0,1.000 0.000 7 0,-1.000 0.000-1 16,0.000-2.000-4-16,1.000 1.000 3 0,-1.000-1.000 12 0,-1.000-1.000 16 15,-1.000 0.000 6-15,0.000-2.000 1 0,0.000 1.000 13 0,1.000-1.000-25 0,-1.000-2.000 9 16,0.000 0.000-15-16,0.000 1.000-8 0,0.000-1.000-3 16,1.000 0.000-1-16,1.000 0.000 2 0,-1.000-1.000 2 0,4.000-1.000-2 0,-1.000 0.000-2 0,-3.000 0.000 1 15,4.000 4.000-10-15,-3.000-3.000 7 0,1.000 0.000-5 16,-3.000-2.000 6-16,3.000 2.000-3 0,-1.000-1.000-1 0,-1.000-1.000 0 0,4.000 2.000-1 15,-5.000-2.000-3-15,2.000 0.000-10 0,0.000 0.000-4 0,-2.000 0.000 0 0,3.000 0.000-5 16,-2.000 0.000-11-16,0.000 0.000 0 0,0.000 0.000-8 0,-1.000 0.000-31 16,0.000 0.000-56-16,0.000 0.000-25 0,0.000 0.000-23 15,-1.000 1.000-187-15</inkml:trace>
  <inkml:trace contextRef="#ctx0" brushRef="#br0">16139.000 10049.000 747 0,'0.000'0.000'0'0,"0.000"-1.000"6"0,0.000 0.000-59 0,0.000 0.000-42 15,0.000 1.000 6-15,1.000 0.000-15 0,0.000 0.000 23 0</inkml:trace>
  <inkml:trace contextRef="#ctx0" brushRef="#br0">16228.000 10041.000 277 0,'0.000'0.000'78'0,"0.000"0.000"-84"16,0.000 0.000 77-16,0.000 0.000-39 0,0.000 0.000-42 0,0.000-1.000-8 16,0.000 0.000-10-16,0.000 0.000-9 0,0.000 0.000-114 0</inkml:trace>
  <inkml:trace contextRef="#ctx0" brushRef="#br0">16399.000 10041.000 946 0,'0.000'0.000'36'0,"0.000"0.000"-9"0,0.000-1.000 10 0,-1.000 0.000 0 0,0.000 0.000-31 0,1.000 0.000-9 0,0.000 0.000-4 16,0.000 0.000-2-16,0.000 0.000 2 0,0.000 0.000 7 0,0.000 0.000 4 15,0.000-1.000 0-15,0.000 0.000 1 0,0.000 0.000 0 0,0.000-1.000-9 16,0.000 1.000 5-16,0.000 0.000-5 0,0.000 0.000 6 0,0.000 0.000-1 0,0.000 0.000-3 16,-1.000 1.000 1-16,0.000 0.000-3 0,0.000 0.000 5 0,0.000 0.000-1 15,-1.000 0.000 2-15,-1.000 0.000-6 0,-3.000-3.000 2 16,-2.000 0.000 5-16,-3.000 0.000-1 0,2.000 1.000 6 0,-2.000 0.000-10 16,-1.000 0.000 2-16,3.000 2.000-3 0,-2.000 0.000 3 0,0.000 0.000 5 15,-1.000 0.000-2-15,-1.000 1.000 4 0,-1.000 0.000 1 0,1.000 0.000 6 0,-1.000 1.000-6 16,1.000 0.000 6-16,0.000 1.000 3 0,-1.000 2.000 16 0,2.000-2.000-3 15,0.000 1.000 5-15,2.000 0.000-10 0,-1.000 0.000-14 16,1.000 0.000 7-16,-2.000 1.000-10 0,0.000-1.000 4 16,2.000 0.000-5-16,0.000-1.000 0 0,1.000 0.000 0 0,0.000 0.000 4 15,2.000-1.000 3-15,-2.000 1.000-3 0,2.000 0.000 2 0,0.000-1.000-4 0,0.000 0.000-3 16,0.000 0.000-3-16,1.000 0.000-1 0,-1.000 0.000-3 0,0.000 0.000 3 16,0.000 0.000 2-16,0.000 1.000 0 0,1.000-1.000-9 0,-1.000 0.000 0 15,2.000 0.000 5-15,0.000 0.000-1 0,1.000 0.000 2 0,0.000 0.000 5 16,1.000 0.000-9-16,1.000-1.000 6 0,0.000 0.000-9 0,1.000 0.000 9 15,-2.000 2.000-1-15,2.000-2.000 3 0,-1.000 1.000-4 0,-1.000 0.000 1 16,0.000 1.000-4-16,0.000 0.000 2 0,0.000 2.000-6 0,-1.000 2.000 13 16,3.000 1.000 6-16,-2.000 0.000 1 0,1.000 1.000 3 0,1.000-1.000-15 0,-2.000 1.000 1 15,2.000 1.000-3-15,0.000 0.000 11 0,0.000 0.000-13 0,-5.000-1.000 8 16,1.000 0.000-8-16,2.000-1.000 9 0,0.000 1.000-6 0,1.000-1.000 2 16,1.000-1.000-3-16,0.000 1.000-1 0,0.000 1.000 3 0,0.000-1.000-3 0,0.000 0.000 4 0,-2.000 4.000 2 0,3.000-6.000-5 15,-1.000 3.000 2 1,1.000 0.000-3-16,0.000-1.000 3 0,0.000 1.000 1 0,0.000-2.000 0 0,0.000 2.000 0 0,0.000 1.000-3 0,0.000 0.000-4 0,0.000 1.000 1 15,0.000-3.000-2-15,0.000 3.000 5 0,0.000 0.000 2 0,0.000-1.000 2 16,0.000 0.000-1-16,1.000 0.000 5 16,1.000-2.000-8-16,-1.000 0.000 3 0,0.000-1.000-3 15,0.000 0.000 6-15,1.000 0.000 6 0,-1.000-2.000-4 0,1.000 0.000 3 16,0.000 1.000-10-16,0.000 0.000 6 0,1.000 0.000 1 0,1.000-1.000 1 0,-2.000 0.000-4 16,4.000 1.000 0-16,0.000 0.000-5 0,2.000-1.000 3 0,-1.000-1.000-3 15,0.000 2.000 6-15,0.000-1.000 1 0,0.000-1.000 1 0,1.000 0.000-7 16,0.000-1.000 6-16,1.000 0.000-3 0,-2.000 0.000 3 0,2.000 1.000-11 0,0.000-2.000 4 15,-1.000 0.000 0-15,1.000 1.000 2 0,2.000-1.000-1 0,-1.000 6.000-1 16,2.000 0.000 1-16,1.000-2.000 1 0,-3.000-2.000 8 0,3.000 0.000-8 16,0.000-1.000 0-16,0.000 0.000-2 0,1.000 1.000-2 0,-1.000-1.000 8 15,1.000-1.000-4-15,-2.000 0.000 8 0,-2.000 0.000-9 0,1.000 0.000 7 0,-2.000-1.000-5 0,-2.000 0.000 6 0,3.000 0.000-4 16,-4.000 0.000 2-16,2.000 0.000 5 0,-3.000 0.000-3 0,1.000-1.000-1 0,2.000 0.000-3 16,0.000-1.000 0-16,2.000-1.000-1 0,-1.000-2.000 0 0,3.000 0.000 8 15,-1.000-1.000-4-15,0.000-1.000 5 0,2.000 0.000-9 0,-2.000 1.000-1 16,2.000-2.000 0-16,0.000 0.000 0 0,-1.000-1.000 3 0,0.000 1.000-4 15,-1.000 6.000-1-15,-1.000-9.000 0 16,0.000-1.000 4-16,-3.000 1.000 0 0,1.000-2.000 6 0,-3.000-1.000-3 0,-1.000 2.000 6 16,-2.000-1.000 20-16,0.000-1.000-9 0,-1.000 0.000 13 0,10.000-3.000-19 15,-5.000 1.000-1-15,-1.000-4.000-2 0,-4.000 1.000 0 0,-1.000 1.000-10 0,-1.000-1.000-3 16,-2.000 4.000-2 0,0.000-3.000 1-16,-1.000 3.000 0 0,-1.000-1.000-5 0,-2.000 1.000 2 15,1.000 2.000-5-15,-1.000 1.000-5 0,-1.000 0.000-19 0,6.000 1.000-4 0,-12.000 2.000-6 16,1.000 0.000-22-16,-1.000 1.000-111 0,-2.000 2.000-45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8800" units="cm"/>
          <inkml:channel name="Y" type="integer" max="18000" units="cm"/>
          <inkml:channel name="F" type="integer" max="4095" units="dev"/>
          <inkml:channel name="T" type="integer" max="2147480000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2-03T19:31: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7439.000 4864.000 256 0,'0.000'0.000'-70'0,"0.000"0.000"26"0</inkml:trace>
  <inkml:trace contextRef="#ctx0" brushRef="#br0">7449.000 4822.000 105 0,'0.000'0.000'68'0,"0.000"0.000"-18"0,0.000 0.000 59 0,0.000 0.000-11 0,0.000 0.000-60 0,0.000 0.000-24 16,0.000 0.000 0-16,0.000 0.000-7 0,-1.000 0.000 2 0,0.000 0.000-1 15,0.000 0.000 1-15,0.000 0.000 0 0,-1.000 0.000 1 0,1.000 0.000 25 16,0.000 0.000 3-16,0.000 0.000 7 0,0.000 0.000 5 0,0.000 0.000-12 16,0.000 1.000 1-16,0.000 0.000-2 0,0.000 0.000 3 0,0.000 0.000 1 15,0.000 0.000-7-15,0.000 0.000 4 0,0.000 0.000-17 0,-1.000 0.000-14 16,0.000 0.000 2-16,-1.000 1.000-6 0,-1.000 1.000 1 0,-2.000 1.000-4 16,-3.000 1.000 1-16,5.000-3.000-1 0,-1.000 0.000 16 0,4.000-2.000 0 15,0.000 0.000 3-15,0.000 0.000-2 0,-1.000 1.000 0 0,0.000-1.000-13 16,0.000 1.000 0-16,0.000 0.000-4 0,0.000 1.000-7 0,1.000-1.000 6 0,0.000 0.000-1 15,0.000 0.000 1-15,-1.000 0.000-3 0,1.000 0.000 8 16,-1.000 0.000-4-16,1.000-1.000 4 0,0.000 0.000-4 0,-1.000 0.000 0 0,1.000 0.000 4 16,0.000 0.000-3-16,0.000 0.000-1 0,0.000 0.000 5 0,0.000 0.000-7 15,0.000 0.000 7-15,0.000 0.000-10 0,0.000 0.000 3 0,0.000 0.000 4 16,0.000 0.000-1-16,0.000 0.000 1 0,0.000 0.000 3 0,0.000 0.000-5 0,0.000 0.000 7 16,0.000 0.000 15-16,0.000 0.000 13 0,1.000 0.000-3 0,-1.000 0.000 3 15,-1.000 1.000-19-15,1.000-1.000-7 0,0.000 1.000 2 0,0.000 0.000-3 16,0.000 0.000 1-16,0.000 0.000-9 0,0.000 0.000 0 0,0.000 0.000-4 15,0.000 0.000-7-15,0.000 0.000 6 0,0.000 0.000 0 0,-1.000 1.000 0 0,0.000-1.000-8 16,0.000 0.000-44-16,0.000 0.000-38 0,0.000 0.000-24 16,0.000 0.000-356-16</inkml:trace>
  <inkml:trace contextRef="#ctx0" brushRef="#br0">11505.000 16717.000 571 0,'0.000'0.000'0'16,"0.000"0.000"50"-16,-1.000 0.000-1 0,0.000 0.000 2 0,0.000 0.000 5 0,0.000 0.000-30 16,0.000 0.000 11-16,0.000 0.000 38 0,-1.000 0.000-5 0,0.000 1.000 3 15,0.000 1.000-44-15,0.000-1.000-20 0,-1.000 0.000-2 0,1.000 0.000-6 16,0.000 0.000 2-16,0.000 0.000 0 0,0.000 0.000-3 0,0.000 0.000 0 16,0.000 0.000-13-16,0.000 0.000-103 0,1.000 0.000-31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591" y="4416098"/>
            <a:ext cx="5143698" cy="4180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811" tIns="48408" rIns="96811" bIns="48408" numCol="1" anchor="t" anchorCtr="0" compatLnSpc="1"/>
          <a:lstStyle/>
          <a:p>
            <a:pPr lvl="0"/>
            <a:r>
              <a:rPr lang="en-US" noProof="0"/>
              <a:t>Click to edit Master notes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2213" y="704850"/>
            <a:ext cx="4629150" cy="34718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MS PGothic" panose="020B0600070205080204" pitchFamily="34" charset="-128"/>
      </a:defRPr>
    </a:lvl1pPr>
    <a:lvl2pPr marL="46990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385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408430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76425" algn="l" defTabSz="9639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5863" y="700088"/>
            <a:ext cx="4643437" cy="3482975"/>
          </a:xfrm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6098"/>
            <a:ext cx="5142177" cy="4180921"/>
          </a:xfr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77" tIns="45784" rIns="91577" bIns="45784"/>
          <a:lstStyle/>
          <a:p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698500"/>
            <a:ext cx="4643438" cy="3484563"/>
          </a:xfrm>
          <a:solidFill>
            <a:srgbClr val="FFFFFF"/>
          </a:solidFill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112" y="4414561"/>
            <a:ext cx="5142177" cy="4183995"/>
          </a:xfrm>
          <a:solidFill>
            <a:srgbClr val="FFFFFF"/>
          </a:solidFill>
          <a:ln w="12700">
            <a:solidFill>
              <a:srgbClr val="000000"/>
            </a:solidFill>
            <a:miter lim="800000"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1595" tIns="45798" rIns="91595" bIns="45798"/>
          <a:lstStyle/>
          <a:p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92213" y="704850"/>
            <a:ext cx="4629150" cy="3471863"/>
          </a:xfrm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030DB-C84A-437B-98A8-C1055F5463A3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76ADD-85D9-4CF9-A35B-123309FF4FE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1ABA30-5C07-4190-BB1A-CB854329E83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AB45EF-3B47-450B-BC67-DCDC7D68D2D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4A348-CE91-4292-9AB0-F99CB4CD1B2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6E141-97F8-4B3F-847A-A8137189DD69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E10A9-468F-43A0-AA1F-444D5252CD8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6CDED-EC16-4D05-BE8C-F537553C03A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6FC9-E9D5-4381-B73B-9601D9E38A4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437938-371B-47C1-885B-7ACB9ACC155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79269F-7759-4DA0-9608-D32C3E3BFEEB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11163" y="1143000"/>
            <a:ext cx="83185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DAD124-652D-4699-9BEB-BF0A63105A1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E6091-0CA5-4BB6-82E3-E3DDEB668526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6613" y="1143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6613" y="3810000"/>
            <a:ext cx="408305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3C97A-1A61-43C2-9A71-CFE5CD1BBA9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163" y="3810000"/>
            <a:ext cx="83185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D65D86-E609-426B-A8CE-A64F423A7030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 Third Level</a:t>
            </a:r>
            <a:endParaRPr lang="en-US" altLang="en-US" dirty="0"/>
          </a:p>
        </p:txBody>
      </p:sp>
      <p:grpSp>
        <p:nvGrpSpPr>
          <p:cNvPr id="1028" name="Group 16"/>
          <p:cNvGrpSpPr/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2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033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dirty="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Introduction to Data Mining, 2</a:t>
            </a:r>
            <a:r>
              <a:rPr lang="en-US" baseline="30000"/>
              <a:t>nd</a:t>
            </a:r>
            <a:r>
              <a:rPr lang="en-US"/>
              <a:t> Edition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91B2CA85-76FB-495C-84FC-037B18CA4329}" type="slidenum">
              <a:rPr lang="en-US"/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r>
              <a:rPr lang="en-US"/>
              <a:t>2/1/2021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pitchFamily="-84" charset="2"/>
        <a:buChar char="l"/>
        <a:defRPr sz="28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anose="020B0604020202020204" pitchFamily="34" charset="0"/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anose="05000000000000000000" pitchFamily="2" charset="2"/>
        <a:buChar char="u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anose="02020603050405020304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5.bin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0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1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3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5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1.emf"/><Relationship Id="rId3" Type="http://schemas.openxmlformats.org/officeDocument/2006/relationships/oleObject" Target="../embeddings/oleObject18.bin"/><Relationship Id="rId2" Type="http://schemas.openxmlformats.org/officeDocument/2006/relationships/image" Target="../media/image10.emf"/><Relationship Id="rId1" Type="http://schemas.openxmlformats.org/officeDocument/2006/relationships/oleObject" Target="../embeddings/oleObject17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3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6.v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22.bin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25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0.emf"/><Relationship Id="rId2" Type="http://schemas.openxmlformats.org/officeDocument/2006/relationships/oleObject" Target="../embeddings/oleObject26.bin"/><Relationship Id="rId1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.e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1.emf"/><Relationship Id="rId1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3.bin"/><Relationship Id="rId8" Type="http://schemas.openxmlformats.org/officeDocument/2006/relationships/image" Target="../media/image30.emf"/><Relationship Id="rId7" Type="http://schemas.openxmlformats.org/officeDocument/2006/relationships/oleObject" Target="../embeddings/oleObject32.bin"/><Relationship Id="rId6" Type="http://schemas.openxmlformats.org/officeDocument/2006/relationships/image" Target="../media/image29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8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7.e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1.emf"/><Relationship Id="rId1" Type="http://schemas.openxmlformats.org/officeDocument/2006/relationships/oleObject" Target="../embeddings/oleObject29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4.wmf"/><Relationship Id="rId11" Type="http://schemas.openxmlformats.org/officeDocument/2006/relationships/vmlDrawing" Target="../drawings/vmlDrawing21.vml"/><Relationship Id="rId10" Type="http://schemas.openxmlformats.org/officeDocument/2006/relationships/slideLayout" Target="../slideLayouts/slideLayout2.xml"/><Relationship Id="rId1" Type="http://schemas.openxmlformats.org/officeDocument/2006/relationships/oleObject" Target="../embeddings/oleObject34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2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33.png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3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44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3.emf"/><Relationship Id="rId1" Type="http://schemas.openxmlformats.org/officeDocument/2006/relationships/oleObject" Target="../embeddings/oleObject41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46.e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45.emf"/><Relationship Id="rId1" Type="http://schemas.openxmlformats.org/officeDocument/2006/relationships/oleObject" Target="../embeddings/oleObject43.bin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48.emf"/><Relationship Id="rId1" Type="http://schemas.openxmlformats.org/officeDocument/2006/relationships/oleObject" Target="../embeddings/oleObject46.bin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6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emf"/><Relationship Id="rId1" Type="http://schemas.openxmlformats.org/officeDocument/2006/relationships/oleObject" Target="../embeddings/oleObject47.bin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emf"/><Relationship Id="rId1" Type="http://schemas.openxmlformats.org/officeDocument/2006/relationships/oleObject" Target="../embeddings/oleObject48.bin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emf"/><Relationship Id="rId1" Type="http://schemas.openxmlformats.org/officeDocument/2006/relationships/oleObject" Target="../embeddings/oleObject49.bin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emf"/><Relationship Id="rId1" Type="http://schemas.openxmlformats.org/officeDocument/2006/relationships/oleObject" Target="../embeddings/oleObject50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9.emf"/><Relationship Id="rId1" Type="http://schemas.openxmlformats.org/officeDocument/2006/relationships/oleObject" Target="../embeddings/oleObject51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1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24.png"/><Relationship Id="rId6" Type="http://schemas.openxmlformats.org/officeDocument/2006/relationships/image" Target="../media/image40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52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1" Type="http://schemas.openxmlformats.org/officeDocument/2006/relationships/oleObject" Target="../embeddings/oleObject5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image" Target="../media/image56.png"/><Relationship Id="rId7" Type="http://schemas.openxmlformats.org/officeDocument/2006/relationships/image" Target="../media/image47.emf"/><Relationship Id="rId6" Type="http://schemas.openxmlformats.org/officeDocument/2006/relationships/oleObject" Target="../embeddings/oleObject58.bin"/><Relationship Id="rId5" Type="http://schemas.openxmlformats.org/officeDocument/2006/relationships/image" Target="../media/image46.emf"/><Relationship Id="rId4" Type="http://schemas.openxmlformats.org/officeDocument/2006/relationships/oleObject" Target="../embeddings/oleObject57.bin"/><Relationship Id="rId3" Type="http://schemas.openxmlformats.org/officeDocument/2006/relationships/image" Target="../media/image45.emf"/><Relationship Id="rId2" Type="http://schemas.openxmlformats.org/officeDocument/2006/relationships/oleObject" Target="../embeddings/oleObject56.bin"/><Relationship Id="rId10" Type="http://schemas.openxmlformats.org/officeDocument/2006/relationships/vmlDrawing" Target="../drawings/vmlDrawing33.vml"/><Relationship Id="rId1" Type="http://schemas.openxmlformats.org/officeDocument/2006/relationships/image" Target="../media/image5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4.vml"/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58.png"/><Relationship Id="rId6" Type="http://schemas.openxmlformats.org/officeDocument/2006/relationships/image" Target="../media/image40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59.bin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9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61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0.wmf"/><Relationship Id="rId1" Type="http://schemas.openxmlformats.org/officeDocument/2006/relationships/oleObject" Target="../embeddings/oleObject62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6.v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62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61.e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0.wmf"/><Relationship Id="rId1" Type="http://schemas.openxmlformats.org/officeDocument/2006/relationships/oleObject" Target="../embeddings/oleObject64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4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1" Type="http://schemas.openxmlformats.org/officeDocument/2006/relationships/image" Target="../media/image63.png"/></Relationships>
</file>

<file path=ppt/slides/_rels/slide5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customXml" Target="../ink/ink2.xml"/><Relationship Id="rId4" Type="http://schemas.openxmlformats.org/officeDocument/2006/relationships/image" Target="../media/image68.png"/><Relationship Id="rId3" Type="http://schemas.openxmlformats.org/officeDocument/2006/relationships/customXml" Target="../ink/ink1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8763000" cy="838200"/>
          </a:xfrm>
        </p:spPr>
        <p:txBody>
          <a:bodyPr/>
          <a:lstStyle/>
          <a:p>
            <a:pPr algn="ctr">
              <a:defRPr/>
            </a:pPr>
            <a:r>
              <a:rPr lang="en-US" dirty="0">
                <a:cs typeface="+mj-cs"/>
              </a:rPr>
              <a:t>Data Mining </a:t>
            </a:r>
            <a:br>
              <a:rPr lang="en-US" dirty="0">
                <a:cs typeface="+mj-cs"/>
              </a:rPr>
            </a:br>
            <a:r>
              <a:rPr lang="en-US" dirty="0">
                <a:cs typeface="+mj-cs"/>
              </a:rPr>
              <a:t>Classification: Basic Concepts and Techniques</a:t>
            </a:r>
            <a:endParaRPr lang="en-US" sz="2800" dirty="0">
              <a:cs typeface="+mj-cs"/>
            </a:endParaRPr>
          </a:p>
        </p:txBody>
      </p:sp>
      <p:sp>
        <p:nvSpPr>
          <p:cNvPr id="4098" name="Rectangle 3"/>
          <p:cNvSpPr>
            <a:spLocks noChangeArrowheads="1"/>
          </p:cNvSpPr>
          <p:nvPr/>
        </p:nvSpPr>
        <p:spPr bwMode="auto">
          <a:xfrm>
            <a:off x="381000" y="2449672"/>
            <a:ext cx="8153400" cy="2811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Lecture Notes for Chapter 3</a:t>
            </a: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en-US" sz="3200" b="0"/>
          </a:p>
          <a:p>
            <a:pPr algn="ctr" eaLnBrk="1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en-US" sz="3200" b="0"/>
              <a:t>Introduction to Data Mining</a:t>
            </a:r>
            <a:endParaRPr lang="en-US" altLang="en-US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600" b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2000" b="0"/>
          </a:p>
        </p:txBody>
      </p:sp>
      <p:grpSp>
        <p:nvGrpSpPr>
          <p:cNvPr id="4099" name="Group 7"/>
          <p:cNvGrpSpPr/>
          <p:nvPr/>
        </p:nvGrpSpPr>
        <p:grpSpPr bwMode="auto">
          <a:xfrm>
            <a:off x="304800" y="1447800"/>
            <a:ext cx="8534400" cy="152400"/>
            <a:chOff x="264" y="788"/>
            <a:chExt cx="5232" cy="124"/>
          </a:xfrm>
        </p:grpSpPr>
        <p:sp>
          <p:nvSpPr>
            <p:cNvPr id="4103" name="Rectangle 8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4104" name="Rectangle 9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DB5FB9-BC54-407B-B625-9BB964FB1D22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Classification: Definition</a:t>
            </a:r>
            <a:endParaRPr lang="en-US">
              <a:cs typeface="+mj-cs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Given a collection of records (training set )</a:t>
            </a:r>
            <a:endParaRPr lang="en-US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/>
              <a:t>Each record is by characterized by a tuple (</a:t>
            </a:r>
            <a:r>
              <a:rPr lang="en-US" b="1" i="1">
                <a:latin typeface="Times New Roman" panose="02020603050405020304" pitchFamily="18" charset="0"/>
              </a:rPr>
              <a:t>x</a:t>
            </a:r>
            <a:r>
              <a:rPr lang="en-US"/>
              <a:t>,</a:t>
            </a:r>
            <a:r>
              <a:rPr lang="en-US" i="1">
                <a:latin typeface="Times New Roman" panose="02020603050405020304" pitchFamily="18" charset="0"/>
              </a:rPr>
              <a:t>y</a:t>
            </a:r>
            <a:r>
              <a:rPr lang="en-US"/>
              <a:t>), where </a:t>
            </a:r>
            <a:r>
              <a:rPr lang="en-US" b="1" i="1">
                <a:latin typeface="Times New Roman" panose="02020603050405020304" pitchFamily="18" charset="0"/>
              </a:rPr>
              <a:t>x </a:t>
            </a:r>
            <a:r>
              <a:rPr lang="en-US"/>
              <a:t>is the attribute set and </a:t>
            </a:r>
            <a:r>
              <a:rPr lang="en-US" i="1">
                <a:latin typeface="Times New Roman" panose="02020603050405020304" pitchFamily="18" charset="0"/>
              </a:rPr>
              <a:t>y </a:t>
            </a:r>
            <a:r>
              <a:rPr lang="en-US"/>
              <a:t>is the class label</a:t>
            </a:r>
            <a:endParaRPr lang="en-US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/>
              <a:t> </a:t>
            </a:r>
            <a:r>
              <a:rPr lang="en-US" b="1" i="1">
                <a:latin typeface="Times New Roman" panose="02020603050405020304" pitchFamily="18" charset="0"/>
              </a:rPr>
              <a:t>x</a:t>
            </a:r>
            <a:r>
              <a:rPr lang="en-US"/>
              <a:t>: attribute, predictor, independent variable, input</a:t>
            </a:r>
            <a:endParaRPr lang="en-US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/>
              <a:t> </a:t>
            </a:r>
            <a:r>
              <a:rPr lang="en-US" i="1">
                <a:latin typeface="Times New Roman" panose="02020603050405020304" pitchFamily="18" charset="0"/>
              </a:rPr>
              <a:t>y</a:t>
            </a:r>
            <a:r>
              <a:rPr lang="en-US"/>
              <a:t>: class, response, dependent variable, output</a:t>
            </a:r>
            <a:endParaRPr lang="en-US"/>
          </a:p>
          <a:p>
            <a:pPr lvl="4">
              <a:defRPr/>
            </a:pPr>
            <a:endParaRPr lang="en-US">
              <a:latin typeface="Times New Roman" panose="02020603050405020304" pitchFamily="18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Task:</a:t>
            </a:r>
            <a:endParaRPr lang="en-US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/>
              <a:t>Learn a model that maps each attribute set </a:t>
            </a:r>
            <a:r>
              <a:rPr lang="en-US" b="1" i="1">
                <a:latin typeface="Times New Roman" panose="02020603050405020304" pitchFamily="18" charset="0"/>
              </a:rPr>
              <a:t>x </a:t>
            </a:r>
            <a:r>
              <a:rPr lang="en-US"/>
              <a:t>into one of the predefined class labels </a:t>
            </a:r>
            <a:r>
              <a:rPr lang="en-US" i="1">
                <a:latin typeface="Times New Roman" panose="02020603050405020304" pitchFamily="18" charset="0"/>
              </a:rPr>
              <a:t>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85B7A3-5A38-4F3E-B10F-49462E68EC5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Examples of Classification Task</a:t>
            </a:r>
            <a:endParaRPr lang="en-US">
              <a:cs typeface="+mj-cs"/>
            </a:endParaRPr>
          </a:p>
        </p:txBody>
      </p:sp>
      <p:graphicFrame>
        <p:nvGraphicFramePr>
          <p:cNvPr id="919591" name="Group 39"/>
          <p:cNvGraphicFramePr>
            <a:graphicFrameLocks noGrp="1"/>
          </p:cNvGraphicFramePr>
          <p:nvPr>
            <p:ph idx="1"/>
          </p:nvPr>
        </p:nvGraphicFramePr>
        <p:xfrm>
          <a:off x="381000" y="1371600"/>
          <a:ext cx="8504238" cy="4648200"/>
        </p:xfrm>
        <a:graphic>
          <a:graphicData uri="http://schemas.openxmlformats.org/drawingml/2006/table">
            <a:tbl>
              <a:tblPr/>
              <a:tblGrid>
                <a:gridCol w="1951038"/>
                <a:gridCol w="3594100"/>
                <a:gridCol w="2959100"/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Task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Attribute set, 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x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Class label,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y</a:t>
                      </a:r>
                      <a:endParaRPr kumimoji="0" lang="en-US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Categorizing email messages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Features extracted from email message header and content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spam or non-spam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Identifying tumor cells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Features extracted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from x-rays or MRI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scans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malignant or benign cells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Cataloging galaxies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Features extracted from telescope images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Elliptical, spiral, or irregular-shaped galaxies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7A57BE-260D-4199-AF6E-D0261B79CD69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280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General Approach for Building Classification Model</a:t>
            </a:r>
            <a:endParaRPr lang="en-US"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3303AC-9DAF-4A0A-8404-C373509D0818}" type="slidenum">
              <a:rPr lang="en-US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572" y="1284111"/>
            <a:ext cx="526079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Classification Techniques</a:t>
            </a:r>
            <a:endParaRPr lang="en-US">
              <a:cs typeface="+mj-cs"/>
            </a:endParaRPr>
          </a:p>
        </p:txBody>
      </p:sp>
      <p:sp>
        <p:nvSpPr>
          <p:cNvPr id="1024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Base Classifiers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Decision Tree based Methods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Rule-based Methods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Nearest-neighbor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Naïve Bayes and Bayesian Belief Networks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Support Vector Machines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Neural Networks, Deep Neural Nets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Ensemble Classifiers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Boosting, Bagging, Random Forests</a:t>
            </a:r>
            <a:endParaRPr lang="en-US" altLang="en-US" sz="2400" dirty="0">
              <a:ea typeface="MS PGothic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A5596-71A0-4179-8254-834A517C85E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Example of a Decision Tree</a:t>
            </a:r>
            <a:endParaRPr lang="en-US">
              <a:cs typeface="+mj-cs"/>
            </a:endParaRPr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/>
        </p:nvGraphicFramePr>
        <p:xfrm>
          <a:off x="152400" y="1990725"/>
          <a:ext cx="3810000" cy="3770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4" name="Document" r:id="rId1" imgW="5848350" imgH="5767705" progId="Word.Document.8">
                  <p:embed/>
                </p:oleObj>
              </mc:Choice>
              <mc:Fallback>
                <p:oleObj name="Document" r:id="rId1" imgW="5848350" imgH="576770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990725"/>
                        <a:ext cx="3810000" cy="3770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7" name="Text Box 5"/>
          <p:cNvSpPr txBox="1">
            <a:spLocks noChangeArrowheads="1"/>
          </p:cNvSpPr>
          <p:nvPr/>
        </p:nvSpPr>
        <p:spPr bwMode="auto">
          <a:xfrm rot="-2416809">
            <a:off x="838200" y="13716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 rot="-2416809">
            <a:off x="1524000" y="13716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69" name="Text Box 7"/>
          <p:cNvSpPr txBox="1">
            <a:spLocks noChangeArrowheads="1"/>
          </p:cNvSpPr>
          <p:nvPr/>
        </p:nvSpPr>
        <p:spPr bwMode="auto">
          <a:xfrm rot="-2416809">
            <a:off x="2362200" y="1371600"/>
            <a:ext cx="1277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0" name="Text Box 8"/>
          <p:cNvSpPr txBox="1">
            <a:spLocks noChangeArrowheads="1"/>
          </p:cNvSpPr>
          <p:nvPr/>
        </p:nvSpPr>
        <p:spPr bwMode="auto">
          <a:xfrm rot="-2416809">
            <a:off x="3124200" y="152400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1271" name="Line 9"/>
          <p:cNvSpPr>
            <a:spLocks noChangeShapeType="1"/>
          </p:cNvSpPr>
          <p:nvPr/>
        </p:nvSpPr>
        <p:spPr bwMode="auto">
          <a:xfrm>
            <a:off x="6965950" y="4505325"/>
            <a:ext cx="242888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Line 10"/>
          <p:cNvSpPr>
            <a:spLocks noChangeShapeType="1"/>
          </p:cNvSpPr>
          <p:nvPr/>
        </p:nvSpPr>
        <p:spPr bwMode="auto">
          <a:xfrm flipH="1">
            <a:off x="5835650" y="4505325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3" name="Line 11"/>
          <p:cNvSpPr>
            <a:spLocks noChangeShapeType="1"/>
          </p:cNvSpPr>
          <p:nvPr/>
        </p:nvSpPr>
        <p:spPr bwMode="auto">
          <a:xfrm flipH="1">
            <a:off x="6481763" y="37115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4" name="Line 12"/>
          <p:cNvSpPr>
            <a:spLocks noChangeShapeType="1"/>
          </p:cNvSpPr>
          <p:nvPr/>
        </p:nvSpPr>
        <p:spPr bwMode="auto">
          <a:xfrm>
            <a:off x="7693025" y="37115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Line 13"/>
          <p:cNvSpPr>
            <a:spLocks noChangeShapeType="1"/>
          </p:cNvSpPr>
          <p:nvPr/>
        </p:nvSpPr>
        <p:spPr bwMode="auto">
          <a:xfrm>
            <a:off x="6643688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14"/>
          <p:cNvSpPr>
            <a:spLocks noChangeShapeType="1"/>
          </p:cNvSpPr>
          <p:nvPr/>
        </p:nvSpPr>
        <p:spPr bwMode="auto">
          <a:xfrm flipH="1">
            <a:off x="5270500" y="29845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Text Box 15"/>
          <p:cNvSpPr txBox="1">
            <a:spLocks noChangeArrowheads="1"/>
          </p:cNvSpPr>
          <p:nvPr/>
        </p:nvSpPr>
        <p:spPr bwMode="auto">
          <a:xfrm>
            <a:off x="5788025" y="2530475"/>
            <a:ext cx="936625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78" name="Text Box 16"/>
          <p:cNvSpPr txBox="1">
            <a:spLocks noChangeArrowheads="1"/>
          </p:cNvSpPr>
          <p:nvPr/>
        </p:nvSpPr>
        <p:spPr bwMode="auto">
          <a:xfrm>
            <a:off x="6804025" y="3448050"/>
            <a:ext cx="935038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79" name="Text Box 17"/>
          <p:cNvSpPr txBox="1">
            <a:spLocks noChangeArrowheads="1"/>
          </p:cNvSpPr>
          <p:nvPr/>
        </p:nvSpPr>
        <p:spPr bwMode="auto">
          <a:xfrm>
            <a:off x="6078538" y="4240213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0" name="AutoShape 18"/>
          <p:cNvSpPr>
            <a:spLocks noChangeArrowheads="1"/>
          </p:cNvSpPr>
          <p:nvPr/>
        </p:nvSpPr>
        <p:spPr bwMode="auto">
          <a:xfrm>
            <a:off x="7005638" y="5029200"/>
            <a:ext cx="627062" cy="36671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1" name="Text Box 19"/>
          <p:cNvSpPr txBox="1">
            <a:spLocks noChangeArrowheads="1"/>
          </p:cNvSpPr>
          <p:nvPr/>
        </p:nvSpPr>
        <p:spPr bwMode="auto">
          <a:xfrm>
            <a:off x="6929438" y="502920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2" name="AutoShape 20"/>
          <p:cNvSpPr>
            <a:spLocks noChangeArrowheads="1"/>
          </p:cNvSpPr>
          <p:nvPr/>
        </p:nvSpPr>
        <p:spPr bwMode="auto">
          <a:xfrm>
            <a:off x="5513388" y="5046663"/>
            <a:ext cx="654050" cy="3635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3" name="Text Box 21"/>
          <p:cNvSpPr txBox="1">
            <a:spLocks noChangeArrowheads="1"/>
          </p:cNvSpPr>
          <p:nvPr/>
        </p:nvSpPr>
        <p:spPr bwMode="auto">
          <a:xfrm>
            <a:off x="5610225" y="5032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4" name="AutoShape 22"/>
          <p:cNvSpPr>
            <a:spLocks noChangeArrowheads="1"/>
          </p:cNvSpPr>
          <p:nvPr/>
        </p:nvSpPr>
        <p:spPr bwMode="auto">
          <a:xfrm>
            <a:off x="4948238" y="34623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5" name="Text Box 23"/>
          <p:cNvSpPr txBox="1">
            <a:spLocks noChangeArrowheads="1"/>
          </p:cNvSpPr>
          <p:nvPr/>
        </p:nvSpPr>
        <p:spPr bwMode="auto">
          <a:xfrm>
            <a:off x="5043488" y="34480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1286" name="AutoShape 24"/>
          <p:cNvSpPr>
            <a:spLocks noChangeArrowheads="1"/>
          </p:cNvSpPr>
          <p:nvPr/>
        </p:nvSpPr>
        <p:spPr bwMode="auto">
          <a:xfrm>
            <a:off x="7843838" y="4267200"/>
            <a:ext cx="685800" cy="381000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87" name="Text Box 25"/>
          <p:cNvSpPr txBox="1">
            <a:spLocks noChangeArrowheads="1"/>
          </p:cNvSpPr>
          <p:nvPr/>
        </p:nvSpPr>
        <p:spPr bwMode="auto">
          <a:xfrm>
            <a:off x="7920038" y="426720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8" name="Text Box 26"/>
          <p:cNvSpPr txBox="1">
            <a:spLocks noChangeArrowheads="1"/>
          </p:cNvSpPr>
          <p:nvPr/>
        </p:nvSpPr>
        <p:spPr bwMode="auto">
          <a:xfrm>
            <a:off x="5060950" y="29845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89" name="Text Box 27"/>
          <p:cNvSpPr txBox="1">
            <a:spLocks noChangeArrowheads="1"/>
          </p:cNvSpPr>
          <p:nvPr/>
        </p:nvSpPr>
        <p:spPr bwMode="auto">
          <a:xfrm>
            <a:off x="6926263" y="298450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0" name="Text Box 28"/>
          <p:cNvSpPr txBox="1">
            <a:spLocks noChangeArrowheads="1"/>
          </p:cNvSpPr>
          <p:nvPr/>
        </p:nvSpPr>
        <p:spPr bwMode="auto">
          <a:xfrm>
            <a:off x="7908925" y="3749675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1" name="Text Box 29"/>
          <p:cNvSpPr txBox="1">
            <a:spLocks noChangeArrowheads="1"/>
          </p:cNvSpPr>
          <p:nvPr/>
        </p:nvSpPr>
        <p:spPr bwMode="auto">
          <a:xfrm>
            <a:off x="5692775" y="3778250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2" name="Text Box 30"/>
          <p:cNvSpPr txBox="1">
            <a:spLocks noChangeArrowheads="1"/>
          </p:cNvSpPr>
          <p:nvPr/>
        </p:nvSpPr>
        <p:spPr bwMode="auto">
          <a:xfrm>
            <a:off x="5313363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3" name="Text Box 31"/>
          <p:cNvSpPr txBox="1">
            <a:spLocks noChangeArrowheads="1"/>
          </p:cNvSpPr>
          <p:nvPr/>
        </p:nvSpPr>
        <p:spPr bwMode="auto">
          <a:xfrm>
            <a:off x="7088188" y="4570413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1294" name="Text Box 32"/>
          <p:cNvSpPr txBox="1">
            <a:spLocks noChangeArrowheads="1"/>
          </p:cNvSpPr>
          <p:nvPr/>
        </p:nvSpPr>
        <p:spPr bwMode="auto">
          <a:xfrm>
            <a:off x="6427788" y="1766888"/>
            <a:ext cx="2241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800" i="1">
                <a:solidFill>
                  <a:srgbClr val="FF0000"/>
                </a:solidFill>
              </a:rPr>
              <a:t>Splitting Attributes</a:t>
            </a:r>
            <a:endParaRPr lang="en-US" altLang="en-US" sz="1800" i="1">
              <a:solidFill>
                <a:srgbClr val="FF0000"/>
              </a:solidFill>
            </a:endParaRPr>
          </a:p>
        </p:txBody>
      </p:sp>
      <p:sp>
        <p:nvSpPr>
          <p:cNvPr id="11295" name="Line 33"/>
          <p:cNvSpPr>
            <a:spLocks noChangeShapeType="1"/>
          </p:cNvSpPr>
          <p:nvPr/>
        </p:nvSpPr>
        <p:spPr bwMode="auto">
          <a:xfrm flipH="1">
            <a:off x="6805613" y="2147888"/>
            <a:ext cx="536575" cy="5349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6" name="AutoShape 34"/>
          <p:cNvSpPr>
            <a:spLocks noChangeArrowheads="1"/>
          </p:cNvSpPr>
          <p:nvPr/>
        </p:nvSpPr>
        <p:spPr bwMode="auto">
          <a:xfrm>
            <a:off x="3810000" y="3810000"/>
            <a:ext cx="914400" cy="293688"/>
          </a:xfrm>
          <a:prstGeom prst="rightArrow">
            <a:avLst>
              <a:gd name="adj1" fmla="val 50000"/>
              <a:gd name="adj2" fmla="val 77838"/>
            </a:avLst>
          </a:prstGeom>
          <a:solidFill>
            <a:srgbClr val="CC0000"/>
          </a:solidFill>
          <a:ln w="12700">
            <a:solidFill>
              <a:srgbClr val="CC0000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1297" name="Line 35"/>
          <p:cNvSpPr>
            <a:spLocks noChangeShapeType="1"/>
          </p:cNvSpPr>
          <p:nvPr/>
        </p:nvSpPr>
        <p:spPr bwMode="auto">
          <a:xfrm>
            <a:off x="7418388" y="2147888"/>
            <a:ext cx="76200" cy="1144587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8" name="Text Box 36"/>
          <p:cNvSpPr txBox="1">
            <a:spLocks noChangeArrowheads="1"/>
          </p:cNvSpPr>
          <p:nvPr/>
        </p:nvSpPr>
        <p:spPr bwMode="auto">
          <a:xfrm>
            <a:off x="762000" y="5867400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Training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1299" name="Text Box 37"/>
          <p:cNvSpPr txBox="1">
            <a:spLocks noChangeArrowheads="1"/>
          </p:cNvSpPr>
          <p:nvPr/>
        </p:nvSpPr>
        <p:spPr bwMode="auto">
          <a:xfrm>
            <a:off x="5029200" y="5835650"/>
            <a:ext cx="3124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Model:  Decision Tree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2B5309-B5CA-4AD1-B6EF-30AB68056BA9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  <a:endParaRPr lang="en-US">
              <a:cs typeface="+mj-cs"/>
            </a:endParaRPr>
          </a:p>
        </p:txBody>
      </p:sp>
      <p:sp>
        <p:nvSpPr>
          <p:cNvPr id="13314" name="Line 4"/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5" name="Line 5"/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6" name="Line 6"/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7" name="Line 7"/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Line 8"/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9" name="Line 9"/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20" name="Text Box 10"/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1" name="Text Box 11"/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2" name="Text Box 12"/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3" name="AutoShape 13"/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4" name="Text Box 14"/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5" name="AutoShape 15"/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6" name="Text Box 16"/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27" name="AutoShape 17"/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28" name="Text Box 18"/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3329" name="AutoShape 19"/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3330" name="Text Box 20"/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1" name="Text Box 21"/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2" name="Text Box 22"/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3" name="Text Box 23"/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4" name="Text Box 24"/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5" name="Text Box 25"/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3336" name="Text Box 26"/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3337" name="Object 27"/>
          <p:cNvGraphicFramePr>
            <a:graphicFrameLocks noChangeAspect="1"/>
          </p:cNvGraphicFramePr>
          <p:nvPr/>
        </p:nvGraphicFramePr>
        <p:xfrm>
          <a:off x="4957763" y="1604963"/>
          <a:ext cx="358616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5" name="Document" r:id="rId1" imgW="5086350" imgH="1564005" progId="Word.Document.8">
                  <p:embed/>
                </p:oleObj>
              </mc:Choice>
              <mc:Fallback>
                <p:oleObj name="Document" r:id="rId1" imgW="5086350" imgH="1564005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58616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8" name="Text Box 28"/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3339" name="Text Box 29"/>
          <p:cNvSpPr txBox="1">
            <a:spLocks noChangeArrowheads="1"/>
          </p:cNvSpPr>
          <p:nvPr/>
        </p:nvSpPr>
        <p:spPr bwMode="auto">
          <a:xfrm>
            <a:off x="990600" y="1447800"/>
            <a:ext cx="3429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 b="0"/>
              <a:t>Start from the root of tree.</a:t>
            </a:r>
            <a:endParaRPr lang="en-US" altLang="en-US" sz="2000" b="0"/>
          </a:p>
        </p:txBody>
      </p:sp>
      <p:sp>
        <p:nvSpPr>
          <p:cNvPr id="13340" name="Line 30"/>
          <p:cNvSpPr>
            <a:spLocks noChangeShapeType="1"/>
          </p:cNvSpPr>
          <p:nvPr/>
        </p:nvSpPr>
        <p:spPr bwMode="auto">
          <a:xfrm>
            <a:off x="2133600" y="1828800"/>
            <a:ext cx="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BC085E-F244-4C19-A8BC-465573CB4ECB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  <a:endParaRPr lang="en-US">
              <a:cs typeface="+mj-cs"/>
            </a:endParaRPr>
          </a:p>
        </p:txBody>
      </p:sp>
      <p:sp>
        <p:nvSpPr>
          <p:cNvPr id="14338" name="Line 4"/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39" name="Line 5"/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0" name="Line 6"/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1" name="Line 7"/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2" name="Line 8"/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3" name="Line 9"/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44" name="Text Box 11"/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45" name="Text Box 12"/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46" name="AutoShape 13"/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7" name="Text Box 14"/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48" name="AutoShape 15"/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49" name="Text Box 16"/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0" name="AutoShape 17"/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1" name="Text Box 18"/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4352" name="AutoShape 19"/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4353" name="Text Box 20"/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4" name="Text Box 21"/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5" name="Text Box 22"/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6" name="Text Box 23"/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7" name="Text Box 24"/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8" name="Text Box 25"/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4359" name="Text Box 26"/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4360" name="Object 27"/>
          <p:cNvGraphicFramePr>
            <a:graphicFrameLocks noChangeAspect="1"/>
          </p:cNvGraphicFramePr>
          <p:nvPr/>
        </p:nvGraphicFramePr>
        <p:xfrm>
          <a:off x="4987925" y="1604963"/>
          <a:ext cx="3678238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38" name="Document" r:id="rId1" imgW="5221605" imgH="1564005" progId="Word.Document.8">
                  <p:embed/>
                </p:oleObj>
              </mc:Choice>
              <mc:Fallback>
                <p:oleObj name="Document" r:id="rId1" imgW="5221605" imgH="1564005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7925" y="1604963"/>
                        <a:ext cx="3678238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Text Box 28"/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4362" name="Line 29"/>
          <p:cNvSpPr>
            <a:spLocks noChangeShapeType="1"/>
          </p:cNvSpPr>
          <p:nvPr/>
        </p:nvSpPr>
        <p:spPr bwMode="auto">
          <a:xfrm flipH="1">
            <a:off x="2667000" y="1828800"/>
            <a:ext cx="2362200" cy="685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30"/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A601D1-C8A5-48CA-9034-94D7F4C0A899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  <a:endParaRPr lang="en-US">
              <a:cs typeface="+mj-cs"/>
            </a:endParaRPr>
          </a:p>
        </p:txBody>
      </p:sp>
      <p:sp>
        <p:nvSpPr>
          <p:cNvPr id="15362" name="Line 3"/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3" name="Line 4"/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4" name="Line 5"/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5" name="Line 6"/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6" name="Line 7"/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7" name="Line 8"/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68" name="Text Box 10"/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69" name="Text Box 11"/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0" name="AutoShape 12"/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1" name="Text Box 13"/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2" name="AutoShape 14"/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3" name="Text Box 15"/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4" name="AutoShape 16"/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5" name="Text Box 17"/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5376" name="AutoShape 18"/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5377" name="Text Box 19"/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8" name="Text Box 20"/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79" name="Text Box 21"/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  <a:endParaRPr lang="en-US" altLang="en-US" sz="1600" b="0">
              <a:solidFill>
                <a:srgbClr val="FF0000"/>
              </a:solidFill>
            </a:endParaRPr>
          </a:p>
        </p:txBody>
      </p:sp>
      <p:sp>
        <p:nvSpPr>
          <p:cNvPr id="15380" name="Text Box 22"/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81" name="Text Box 23"/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82" name="Text Box 24"/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5383" name="Text Box 25"/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5384" name="Object 26"/>
          <p:cNvGraphicFramePr>
            <a:graphicFrameLocks noChangeAspect="1"/>
          </p:cNvGraphicFramePr>
          <p:nvPr/>
        </p:nvGraphicFramePr>
        <p:xfrm>
          <a:off x="4957763" y="1604963"/>
          <a:ext cx="36528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2" name="Document" r:id="rId1" imgW="5139690" imgH="1593215" progId="Word.Document.8">
                  <p:embed/>
                </p:oleObj>
              </mc:Choice>
              <mc:Fallback>
                <p:oleObj name="Document" r:id="rId1" imgW="5139690" imgH="1593215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6528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5" name="Text Box 27"/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5386" name="Line 28"/>
          <p:cNvSpPr>
            <a:spLocks noChangeShapeType="1"/>
          </p:cNvSpPr>
          <p:nvPr/>
        </p:nvSpPr>
        <p:spPr bwMode="auto">
          <a:xfrm flipH="1">
            <a:off x="3352800" y="2362200"/>
            <a:ext cx="1600200" cy="4572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387" name="Text Box 33"/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992193-6115-4B4C-A949-FD144E791A6E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  <a:endParaRPr lang="en-US">
              <a:cs typeface="+mj-cs"/>
            </a:endParaRPr>
          </a:p>
        </p:txBody>
      </p:sp>
      <p:sp>
        <p:nvSpPr>
          <p:cNvPr id="16386" name="Line 3"/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7" name="Line 4"/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8" name="Line 5"/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1" name="Line 8"/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392" name="Text Box 10"/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3" name="Text Box 11"/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4" name="AutoShape 12"/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5" name="Text Box 13"/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6" name="AutoShape 14"/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7" name="Text Box 15"/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398" name="AutoShape 16"/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399" name="Text Box 17"/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6400" name="AutoShape 18"/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6401" name="Text Box 19"/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2" name="Text Box 20"/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3" name="Text Box 21"/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  <a:endParaRPr lang="en-US" altLang="en-US" sz="1600" b="0">
              <a:solidFill>
                <a:srgbClr val="FF0000"/>
              </a:solidFill>
            </a:endParaRPr>
          </a:p>
        </p:txBody>
      </p:sp>
      <p:sp>
        <p:nvSpPr>
          <p:cNvPr id="16404" name="Text Box 22"/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5" name="Text Box 23"/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6" name="Text Box 24"/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6407" name="Text Box 25"/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6408" name="Object 26"/>
          <p:cNvGraphicFramePr>
            <a:graphicFrameLocks noChangeAspect="1"/>
          </p:cNvGraphicFramePr>
          <p:nvPr/>
        </p:nvGraphicFramePr>
        <p:xfrm>
          <a:off x="4957763" y="1604963"/>
          <a:ext cx="3576637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6" name="Document" r:id="rId1" imgW="5051425" imgH="1593215" progId="Word.Document.8">
                  <p:embed/>
                </p:oleObj>
              </mc:Choice>
              <mc:Fallback>
                <p:oleObj name="Document" r:id="rId1" imgW="5051425" imgH="1593215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576637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9" name="Text Box 27"/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6410" name="Line 28"/>
          <p:cNvSpPr>
            <a:spLocks noChangeShapeType="1"/>
          </p:cNvSpPr>
          <p:nvPr/>
        </p:nvSpPr>
        <p:spPr bwMode="auto">
          <a:xfrm flipH="1">
            <a:off x="3810000" y="2057400"/>
            <a:ext cx="2057400" cy="12954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1" name="Text Box 29"/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80B55-7697-4C7B-89C2-F38D3ACF320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  <a:endParaRPr lang="en-US">
              <a:cs typeface="+mj-cs"/>
            </a:endParaRPr>
          </a:p>
        </p:txBody>
      </p:sp>
      <p:sp>
        <p:nvSpPr>
          <p:cNvPr id="17410" name="Line 3"/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Line 4"/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Line 5"/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Line 6"/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7"/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Line 8"/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6" name="Text Box 10"/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17" name="Text Box 11"/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18" name="AutoShape 12"/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19" name="Text Box 13"/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0" name="AutoShape 14"/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1" name="Text Box 15"/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2" name="AutoShape 16"/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3" name="Text Box 17"/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7424" name="AutoShape 18"/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7425" name="Text Box 19"/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6" name="Text Box 20"/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27" name="Text Box 21"/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  <a:endParaRPr lang="en-US" altLang="en-US" sz="1600" b="0">
              <a:solidFill>
                <a:srgbClr val="FF0000"/>
              </a:solidFill>
            </a:endParaRPr>
          </a:p>
        </p:txBody>
      </p:sp>
      <p:sp>
        <p:nvSpPr>
          <p:cNvPr id="17428" name="Text Box 22"/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Married </a:t>
            </a:r>
            <a:endParaRPr lang="en-US" altLang="en-US" sz="1600" b="0">
              <a:solidFill>
                <a:srgbClr val="FF0000"/>
              </a:solidFill>
            </a:endParaRPr>
          </a:p>
        </p:txBody>
      </p:sp>
      <p:sp>
        <p:nvSpPr>
          <p:cNvPr id="17429" name="Text Box 23"/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30" name="Text Box 24"/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7431" name="Text Box 25"/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7432" name="Object 26"/>
          <p:cNvGraphicFramePr>
            <a:graphicFrameLocks noChangeAspect="1"/>
          </p:cNvGraphicFramePr>
          <p:nvPr/>
        </p:nvGraphicFramePr>
        <p:xfrm>
          <a:off x="4957763" y="1604963"/>
          <a:ext cx="3719512" cy="1096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0" name="Document" r:id="rId1" imgW="5266055" imgH="1564005" progId="Word.Document.8">
                  <p:embed/>
                </p:oleObj>
              </mc:Choice>
              <mc:Fallback>
                <p:oleObj name="Document" r:id="rId1" imgW="5266055" imgH="1564005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719512" cy="1096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3" name="Text Box 27"/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7434" name="Line 28"/>
          <p:cNvSpPr>
            <a:spLocks noChangeShapeType="1"/>
          </p:cNvSpPr>
          <p:nvPr/>
        </p:nvSpPr>
        <p:spPr bwMode="auto">
          <a:xfrm flipH="1">
            <a:off x="4648200" y="2590800"/>
            <a:ext cx="1295400" cy="9906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Text Box 29"/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51604-57D2-428E-A2A7-786F957DB7C8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Apply Model to Test Data</a:t>
            </a:r>
            <a:endParaRPr lang="en-US">
              <a:cs typeface="+mj-cs"/>
            </a:endParaRPr>
          </a:p>
        </p:txBody>
      </p:sp>
      <p:sp>
        <p:nvSpPr>
          <p:cNvPr id="18434" name="Line 3"/>
          <p:cNvSpPr>
            <a:spLocks noChangeShapeType="1"/>
          </p:cNvSpPr>
          <p:nvPr/>
        </p:nvSpPr>
        <p:spPr bwMode="auto">
          <a:xfrm>
            <a:off x="2898775" y="4551363"/>
            <a:ext cx="2667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Line 4"/>
          <p:cNvSpPr>
            <a:spLocks noChangeShapeType="1"/>
          </p:cNvSpPr>
          <p:nvPr/>
        </p:nvSpPr>
        <p:spPr bwMode="auto">
          <a:xfrm flipH="1">
            <a:off x="1658938" y="4551363"/>
            <a:ext cx="355600" cy="6461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Line 5"/>
          <p:cNvSpPr>
            <a:spLocks noChangeShapeType="1"/>
          </p:cNvSpPr>
          <p:nvPr/>
        </p:nvSpPr>
        <p:spPr bwMode="auto">
          <a:xfrm flipH="1">
            <a:off x="2366963" y="3576638"/>
            <a:ext cx="442912" cy="6492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7" name="Line 6"/>
          <p:cNvSpPr>
            <a:spLocks noChangeShapeType="1"/>
          </p:cNvSpPr>
          <p:nvPr/>
        </p:nvSpPr>
        <p:spPr bwMode="auto">
          <a:xfrm>
            <a:off x="3695700" y="3576638"/>
            <a:ext cx="531813" cy="6492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7"/>
          <p:cNvSpPr>
            <a:spLocks noChangeShapeType="1"/>
          </p:cNvSpPr>
          <p:nvPr/>
        </p:nvSpPr>
        <p:spPr bwMode="auto">
          <a:xfrm>
            <a:off x="2544763" y="2686050"/>
            <a:ext cx="620712" cy="5683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Line 8"/>
          <p:cNvSpPr>
            <a:spLocks noChangeShapeType="1"/>
          </p:cNvSpPr>
          <p:nvPr/>
        </p:nvSpPr>
        <p:spPr bwMode="auto">
          <a:xfrm flipH="1">
            <a:off x="1039813" y="2686050"/>
            <a:ext cx="619125" cy="5683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Text Box 10"/>
          <p:cNvSpPr txBox="1">
            <a:spLocks noChangeArrowheads="1"/>
          </p:cNvSpPr>
          <p:nvPr/>
        </p:nvSpPr>
        <p:spPr bwMode="auto">
          <a:xfrm>
            <a:off x="2720975" y="3254375"/>
            <a:ext cx="1025525" cy="347663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1" name="Text Box 11"/>
          <p:cNvSpPr txBox="1">
            <a:spLocks noChangeArrowheads="1"/>
          </p:cNvSpPr>
          <p:nvPr/>
        </p:nvSpPr>
        <p:spPr bwMode="auto">
          <a:xfrm>
            <a:off x="1925638" y="4225925"/>
            <a:ext cx="1062037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2" name="AutoShape 12"/>
          <p:cNvSpPr>
            <a:spLocks noChangeArrowheads="1"/>
          </p:cNvSpPr>
          <p:nvPr/>
        </p:nvSpPr>
        <p:spPr bwMode="auto">
          <a:xfrm>
            <a:off x="2941638" y="5194300"/>
            <a:ext cx="688975" cy="449263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3" name="Text Box 13"/>
          <p:cNvSpPr txBox="1">
            <a:spLocks noChangeArrowheads="1"/>
          </p:cNvSpPr>
          <p:nvPr/>
        </p:nvSpPr>
        <p:spPr bwMode="auto">
          <a:xfrm>
            <a:off x="2859088" y="5194300"/>
            <a:ext cx="7508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4" name="AutoShape 14"/>
          <p:cNvSpPr>
            <a:spLocks noChangeArrowheads="1"/>
          </p:cNvSpPr>
          <p:nvPr/>
        </p:nvSpPr>
        <p:spPr bwMode="auto">
          <a:xfrm>
            <a:off x="1304925" y="5214938"/>
            <a:ext cx="717550" cy="44608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5" name="Text Box 15"/>
          <p:cNvSpPr txBox="1">
            <a:spLocks noChangeArrowheads="1"/>
          </p:cNvSpPr>
          <p:nvPr/>
        </p:nvSpPr>
        <p:spPr bwMode="auto">
          <a:xfrm>
            <a:off x="1435100" y="51974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46" name="AutoShape 16"/>
          <p:cNvSpPr>
            <a:spLocks noChangeArrowheads="1"/>
          </p:cNvSpPr>
          <p:nvPr/>
        </p:nvSpPr>
        <p:spPr bwMode="auto">
          <a:xfrm>
            <a:off x="685800" y="3271838"/>
            <a:ext cx="752475" cy="427037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7" name="Text Box 17"/>
          <p:cNvSpPr txBox="1">
            <a:spLocks noChangeArrowheads="1"/>
          </p:cNvSpPr>
          <p:nvPr/>
        </p:nvSpPr>
        <p:spPr bwMode="auto">
          <a:xfrm>
            <a:off x="814388" y="3254375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sp>
        <p:nvSpPr>
          <p:cNvPr id="18448" name="AutoShape 18"/>
          <p:cNvSpPr>
            <a:spLocks noChangeArrowheads="1"/>
          </p:cNvSpPr>
          <p:nvPr/>
        </p:nvSpPr>
        <p:spPr bwMode="auto">
          <a:xfrm>
            <a:off x="3860800" y="4259263"/>
            <a:ext cx="752475" cy="466725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8449" name="Text Box 19"/>
          <p:cNvSpPr txBox="1">
            <a:spLocks noChangeArrowheads="1"/>
          </p:cNvSpPr>
          <p:nvPr/>
        </p:nvSpPr>
        <p:spPr bwMode="auto">
          <a:xfrm>
            <a:off x="3968750" y="4259263"/>
            <a:ext cx="490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0" name="Text Box 20"/>
          <p:cNvSpPr txBox="1">
            <a:spLocks noChangeArrowheads="1"/>
          </p:cNvSpPr>
          <p:nvPr/>
        </p:nvSpPr>
        <p:spPr bwMode="auto">
          <a:xfrm>
            <a:off x="860425" y="26860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1" name="Text Box 21"/>
          <p:cNvSpPr txBox="1">
            <a:spLocks noChangeArrowheads="1"/>
          </p:cNvSpPr>
          <p:nvPr/>
        </p:nvSpPr>
        <p:spPr bwMode="auto">
          <a:xfrm>
            <a:off x="2897188" y="2686050"/>
            <a:ext cx="4429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No</a:t>
            </a:r>
            <a:endParaRPr lang="en-US" altLang="en-US" sz="1600" b="0">
              <a:solidFill>
                <a:srgbClr val="FF0000"/>
              </a:solidFill>
            </a:endParaRPr>
          </a:p>
        </p:txBody>
      </p:sp>
      <p:sp>
        <p:nvSpPr>
          <p:cNvPr id="18452" name="Text Box 22"/>
          <p:cNvSpPr txBox="1">
            <a:spLocks noChangeArrowheads="1"/>
          </p:cNvSpPr>
          <p:nvPr/>
        </p:nvSpPr>
        <p:spPr bwMode="auto">
          <a:xfrm>
            <a:off x="4022725" y="3624263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>
                <a:solidFill>
                  <a:srgbClr val="FF0000"/>
                </a:solidFill>
              </a:rPr>
              <a:t>Married </a:t>
            </a:r>
            <a:endParaRPr lang="en-US" altLang="en-US" sz="1600" b="0">
              <a:solidFill>
                <a:srgbClr val="FF0000"/>
              </a:solidFill>
            </a:endParaRPr>
          </a:p>
        </p:txBody>
      </p:sp>
      <p:sp>
        <p:nvSpPr>
          <p:cNvPr id="18453" name="Text Box 23"/>
          <p:cNvSpPr txBox="1">
            <a:spLocks noChangeArrowheads="1"/>
          </p:cNvSpPr>
          <p:nvPr/>
        </p:nvSpPr>
        <p:spPr bwMode="auto">
          <a:xfrm>
            <a:off x="1662113" y="3659188"/>
            <a:ext cx="1660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4" name="Text Box 24"/>
          <p:cNvSpPr txBox="1">
            <a:spLocks noChangeArrowheads="1"/>
          </p:cNvSpPr>
          <p:nvPr/>
        </p:nvSpPr>
        <p:spPr bwMode="auto">
          <a:xfrm>
            <a:off x="1155700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8455" name="Text Box 25"/>
          <p:cNvSpPr txBox="1">
            <a:spLocks noChangeArrowheads="1"/>
          </p:cNvSpPr>
          <p:nvPr/>
        </p:nvSpPr>
        <p:spPr bwMode="auto">
          <a:xfrm>
            <a:off x="3101975" y="4630738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graphicFrame>
        <p:nvGraphicFramePr>
          <p:cNvPr id="18456" name="Object 26"/>
          <p:cNvGraphicFramePr>
            <a:graphicFrameLocks noChangeAspect="1"/>
          </p:cNvGraphicFramePr>
          <p:nvPr/>
        </p:nvGraphicFramePr>
        <p:xfrm>
          <a:off x="4957763" y="1604963"/>
          <a:ext cx="36576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35" name="Document" r:id="rId1" imgW="5157470" imgH="1564005" progId="Word.Document.8">
                  <p:embed/>
                </p:oleObj>
              </mc:Choice>
              <mc:Fallback>
                <p:oleObj name="Document" r:id="rId1" imgW="5157470" imgH="1564005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7763" y="1604963"/>
                        <a:ext cx="36576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Text Box 27"/>
          <p:cNvSpPr txBox="1">
            <a:spLocks noChangeArrowheads="1"/>
          </p:cNvSpPr>
          <p:nvPr/>
        </p:nvSpPr>
        <p:spPr bwMode="auto">
          <a:xfrm>
            <a:off x="4800600" y="114300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>
                <a:solidFill>
                  <a:schemeClr val="tx2"/>
                </a:solidFill>
              </a:rPr>
              <a:t>Test Data</a:t>
            </a:r>
            <a:endParaRPr lang="en-US" altLang="en-US" sz="2000" b="0">
              <a:solidFill>
                <a:schemeClr val="bg2"/>
              </a:solidFill>
            </a:endParaRPr>
          </a:p>
        </p:txBody>
      </p:sp>
      <p:sp>
        <p:nvSpPr>
          <p:cNvPr id="18458" name="Line 28"/>
          <p:cNvSpPr>
            <a:spLocks noChangeShapeType="1"/>
          </p:cNvSpPr>
          <p:nvPr/>
        </p:nvSpPr>
        <p:spPr bwMode="auto">
          <a:xfrm flipH="1">
            <a:off x="4495800" y="2590800"/>
            <a:ext cx="3124200" cy="1828800"/>
          </a:xfrm>
          <a:prstGeom prst="line">
            <a:avLst/>
          </a:prstGeom>
          <a:noFill/>
          <a:ln w="15875">
            <a:solidFill>
              <a:srgbClr val="FF0000"/>
            </a:solidFill>
            <a:prstDash val="dash"/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9" name="Text Box 29"/>
          <p:cNvSpPr txBox="1">
            <a:spLocks noChangeArrowheads="1"/>
          </p:cNvSpPr>
          <p:nvPr/>
        </p:nvSpPr>
        <p:spPr bwMode="auto">
          <a:xfrm>
            <a:off x="6019800" y="3581400"/>
            <a:ext cx="26670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2000" b="0"/>
              <a:t>Assign Defaulted to “No”</a:t>
            </a:r>
            <a:endParaRPr lang="en-US" altLang="en-US" sz="2000" b="0"/>
          </a:p>
        </p:txBody>
      </p:sp>
      <p:sp>
        <p:nvSpPr>
          <p:cNvPr id="18460" name="Text Box 30"/>
          <p:cNvSpPr txBox="1">
            <a:spLocks noChangeArrowheads="1"/>
          </p:cNvSpPr>
          <p:nvPr/>
        </p:nvSpPr>
        <p:spPr bwMode="auto">
          <a:xfrm>
            <a:off x="1606550" y="2362200"/>
            <a:ext cx="1027113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2E9FB-D088-443F-98CA-C22614E314EC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Another Example of Decision Tree</a:t>
            </a:r>
            <a:endParaRPr lang="en-US">
              <a:cs typeface="+mj-cs"/>
            </a:endParaRPr>
          </a:p>
        </p:txBody>
      </p:sp>
      <p:sp>
        <p:nvSpPr>
          <p:cNvPr id="12290" name="Text Box 4"/>
          <p:cNvSpPr txBox="1">
            <a:spLocks noChangeArrowheads="1"/>
          </p:cNvSpPr>
          <p:nvPr/>
        </p:nvSpPr>
        <p:spPr bwMode="auto">
          <a:xfrm rot="-2416809">
            <a:off x="990600" y="14478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1" name="Text Box 5"/>
          <p:cNvSpPr txBox="1">
            <a:spLocks noChangeArrowheads="1"/>
          </p:cNvSpPr>
          <p:nvPr/>
        </p:nvSpPr>
        <p:spPr bwMode="auto">
          <a:xfrm rot="-2416809">
            <a:off x="1676400" y="1447800"/>
            <a:ext cx="12573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categorical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2" name="Text Box 6"/>
          <p:cNvSpPr txBox="1">
            <a:spLocks noChangeArrowheads="1"/>
          </p:cNvSpPr>
          <p:nvPr/>
        </p:nvSpPr>
        <p:spPr bwMode="auto">
          <a:xfrm rot="-2416809">
            <a:off x="2514600" y="1447800"/>
            <a:ext cx="1277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continuous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 rot="-2416809">
            <a:off x="3276600" y="1600200"/>
            <a:ext cx="692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006600"/>
                </a:solidFill>
              </a:rPr>
              <a:t>class</a:t>
            </a:r>
            <a:endParaRPr lang="en-US" altLang="en-US" sz="1600">
              <a:solidFill>
                <a:schemeClr val="bg2"/>
              </a:solidFill>
            </a:endParaRPr>
          </a:p>
        </p:txBody>
      </p:sp>
      <p:sp>
        <p:nvSpPr>
          <p:cNvPr id="12294" name="Line 8"/>
          <p:cNvSpPr>
            <a:spLocks noChangeShapeType="1"/>
          </p:cNvSpPr>
          <p:nvPr/>
        </p:nvSpPr>
        <p:spPr bwMode="auto">
          <a:xfrm>
            <a:off x="8005763" y="3497263"/>
            <a:ext cx="242887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5" name="Line 9"/>
          <p:cNvSpPr>
            <a:spLocks noChangeShapeType="1"/>
          </p:cNvSpPr>
          <p:nvPr/>
        </p:nvSpPr>
        <p:spPr bwMode="auto">
          <a:xfrm flipH="1">
            <a:off x="6875463" y="3497263"/>
            <a:ext cx="323850" cy="527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6" name="Line 10"/>
          <p:cNvSpPr>
            <a:spLocks noChangeShapeType="1"/>
          </p:cNvSpPr>
          <p:nvPr/>
        </p:nvSpPr>
        <p:spPr bwMode="auto">
          <a:xfrm flipH="1">
            <a:off x="5881688" y="2733675"/>
            <a:ext cx="403225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7" name="Line 11"/>
          <p:cNvSpPr>
            <a:spLocks noChangeShapeType="1"/>
          </p:cNvSpPr>
          <p:nvPr/>
        </p:nvSpPr>
        <p:spPr bwMode="auto">
          <a:xfrm>
            <a:off x="7092950" y="2733675"/>
            <a:ext cx="484188" cy="528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8" name="Line 12"/>
          <p:cNvSpPr>
            <a:spLocks noChangeShapeType="1"/>
          </p:cNvSpPr>
          <p:nvPr/>
        </p:nvSpPr>
        <p:spPr bwMode="auto">
          <a:xfrm>
            <a:off x="6043613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299" name="Line 13"/>
          <p:cNvSpPr>
            <a:spLocks noChangeShapeType="1"/>
          </p:cNvSpPr>
          <p:nvPr/>
        </p:nvSpPr>
        <p:spPr bwMode="auto">
          <a:xfrm flipH="1">
            <a:off x="4670425" y="2006600"/>
            <a:ext cx="565150" cy="463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00" name="Text Box 14"/>
          <p:cNvSpPr txBox="1">
            <a:spLocks noChangeArrowheads="1"/>
          </p:cNvSpPr>
          <p:nvPr/>
        </p:nvSpPr>
        <p:spPr bwMode="auto">
          <a:xfrm>
            <a:off x="5187950" y="1743075"/>
            <a:ext cx="93662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MarSt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1" name="Text Box 15"/>
          <p:cNvSpPr txBox="1">
            <a:spLocks noChangeArrowheads="1"/>
          </p:cNvSpPr>
          <p:nvPr/>
        </p:nvSpPr>
        <p:spPr bwMode="auto">
          <a:xfrm>
            <a:off x="6203950" y="2470150"/>
            <a:ext cx="935038" cy="593725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Home Owner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2" name="Text Box 16"/>
          <p:cNvSpPr txBox="1">
            <a:spLocks noChangeArrowheads="1"/>
          </p:cNvSpPr>
          <p:nvPr/>
        </p:nvSpPr>
        <p:spPr bwMode="auto">
          <a:xfrm>
            <a:off x="7118350" y="3232150"/>
            <a:ext cx="968375" cy="349250"/>
          </a:xfrm>
          <a:prstGeom prst="rect">
            <a:avLst/>
          </a:prstGeom>
          <a:solidFill>
            <a:srgbClr val="FFFF00"/>
          </a:solidFill>
          <a:ln w="12700">
            <a:solidFill>
              <a:srgbClr val="0000FF"/>
            </a:solidFill>
            <a:miter lim="800000"/>
          </a:ln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2D1993"/>
                </a:solidFill>
              </a:rPr>
              <a:t>Income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3" name="AutoShape 17"/>
          <p:cNvSpPr>
            <a:spLocks noChangeArrowheads="1"/>
          </p:cNvSpPr>
          <p:nvPr/>
        </p:nvSpPr>
        <p:spPr bwMode="auto">
          <a:xfrm>
            <a:off x="8045450" y="4021138"/>
            <a:ext cx="627063" cy="366712"/>
          </a:xfrm>
          <a:prstGeom prst="roundRect">
            <a:avLst>
              <a:gd name="adj" fmla="val 16769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4" name="Text Box 18"/>
          <p:cNvSpPr txBox="1">
            <a:spLocks noChangeArrowheads="1"/>
          </p:cNvSpPr>
          <p:nvPr/>
        </p:nvSpPr>
        <p:spPr bwMode="auto">
          <a:xfrm>
            <a:off x="7969250" y="4021138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5" name="AutoShape 19"/>
          <p:cNvSpPr>
            <a:spLocks noChangeArrowheads="1"/>
          </p:cNvSpPr>
          <p:nvPr/>
        </p:nvSpPr>
        <p:spPr bwMode="auto">
          <a:xfrm>
            <a:off x="6553200" y="4038600"/>
            <a:ext cx="654050" cy="363538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6" name="Text Box 20"/>
          <p:cNvSpPr txBox="1">
            <a:spLocks noChangeArrowheads="1"/>
          </p:cNvSpPr>
          <p:nvPr/>
        </p:nvSpPr>
        <p:spPr bwMode="auto">
          <a:xfrm>
            <a:off x="6650038" y="4024313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07" name="AutoShape 21"/>
          <p:cNvSpPr>
            <a:spLocks noChangeArrowheads="1"/>
          </p:cNvSpPr>
          <p:nvPr/>
        </p:nvSpPr>
        <p:spPr bwMode="auto">
          <a:xfrm>
            <a:off x="4348163" y="2484438"/>
            <a:ext cx="685800" cy="347662"/>
          </a:xfrm>
          <a:prstGeom prst="roundRect">
            <a:avLst>
              <a:gd name="adj" fmla="val 16667"/>
            </a:avLst>
          </a:prstGeom>
          <a:solidFill>
            <a:srgbClr val="33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308" name="Text Box 22"/>
          <p:cNvSpPr txBox="1">
            <a:spLocks noChangeArrowheads="1"/>
          </p:cNvSpPr>
          <p:nvPr/>
        </p:nvSpPr>
        <p:spPr bwMode="auto">
          <a:xfrm>
            <a:off x="4443413" y="2470150"/>
            <a:ext cx="4889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>
                <a:solidFill>
                  <a:srgbClr val="800000"/>
                </a:solidFill>
              </a:rPr>
              <a:t>NO</a:t>
            </a:r>
            <a:endParaRPr lang="en-US" altLang="en-US" sz="1600" b="0">
              <a:solidFill>
                <a:srgbClr val="00FFFF"/>
              </a:solidFill>
            </a:endParaRPr>
          </a:p>
        </p:txBody>
      </p:sp>
      <p:grpSp>
        <p:nvGrpSpPr>
          <p:cNvPr id="12309" name="Group 35"/>
          <p:cNvGrpSpPr/>
          <p:nvPr/>
        </p:nvGrpSpPr>
        <p:grpSpPr bwMode="auto">
          <a:xfrm>
            <a:off x="5594350" y="3232150"/>
            <a:ext cx="685800" cy="381000"/>
            <a:chOff x="4927" y="2340"/>
            <a:chExt cx="432" cy="240"/>
          </a:xfrm>
        </p:grpSpPr>
        <p:sp>
          <p:nvSpPr>
            <p:cNvPr id="12321" name="AutoShape 23"/>
            <p:cNvSpPr>
              <a:spLocks noChangeArrowheads="1"/>
            </p:cNvSpPr>
            <p:nvPr/>
          </p:nvSpPr>
          <p:spPr bwMode="auto">
            <a:xfrm>
              <a:off x="4927" y="2340"/>
              <a:ext cx="432" cy="240"/>
            </a:xfrm>
            <a:prstGeom prst="roundRect">
              <a:avLst>
                <a:gd name="adj" fmla="val 16667"/>
              </a:avLst>
            </a:prstGeom>
            <a:solidFill>
              <a:srgbClr val="33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12322" name="Text Box 24"/>
            <p:cNvSpPr txBox="1">
              <a:spLocks noChangeArrowheads="1"/>
            </p:cNvSpPr>
            <p:nvPr/>
          </p:nvSpPr>
          <p:spPr bwMode="auto">
            <a:xfrm>
              <a:off x="4975" y="2340"/>
              <a:ext cx="3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Monotype Sorts" pitchFamily="-84" charset="2"/>
                <a:buNone/>
              </a:pPr>
              <a:r>
                <a:rPr lang="en-US" altLang="en-US" sz="1600">
                  <a:solidFill>
                    <a:srgbClr val="800000"/>
                  </a:solidFill>
                </a:rPr>
                <a:t>NO</a:t>
              </a:r>
              <a:endParaRPr lang="en-US" altLang="en-US" sz="1600" b="0">
                <a:solidFill>
                  <a:schemeClr val="bg2"/>
                </a:solidFill>
              </a:endParaRPr>
            </a:p>
          </p:txBody>
        </p:sp>
      </p:grpSp>
      <p:sp>
        <p:nvSpPr>
          <p:cNvPr id="12310" name="Text Box 25"/>
          <p:cNvSpPr txBox="1">
            <a:spLocks noChangeArrowheads="1"/>
          </p:cNvSpPr>
          <p:nvPr/>
        </p:nvSpPr>
        <p:spPr bwMode="auto">
          <a:xfrm>
            <a:off x="5518150" y="277495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Yes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1" name="Text Box 26"/>
          <p:cNvSpPr txBox="1">
            <a:spLocks noChangeArrowheads="1"/>
          </p:cNvSpPr>
          <p:nvPr/>
        </p:nvSpPr>
        <p:spPr bwMode="auto">
          <a:xfrm>
            <a:off x="7270750" y="2698750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No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2" name="Text Box 27"/>
          <p:cNvSpPr txBox="1">
            <a:spLocks noChangeArrowheads="1"/>
          </p:cNvSpPr>
          <p:nvPr/>
        </p:nvSpPr>
        <p:spPr bwMode="auto">
          <a:xfrm>
            <a:off x="4146550" y="1936750"/>
            <a:ext cx="9302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Married</a:t>
            </a:r>
            <a:r>
              <a:rPr lang="en-US" altLang="en-US" sz="1600" b="0">
                <a:solidFill>
                  <a:schemeClr val="bg2"/>
                </a:solidFill>
              </a:rPr>
              <a:t> 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3" name="Text Box 28"/>
          <p:cNvSpPr txBox="1">
            <a:spLocks noChangeArrowheads="1"/>
          </p:cNvSpPr>
          <p:nvPr/>
        </p:nvSpPr>
        <p:spPr bwMode="auto">
          <a:xfrm>
            <a:off x="5746750" y="1708150"/>
            <a:ext cx="1398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Single, Divorced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4" name="Text Box 29"/>
          <p:cNvSpPr txBox="1">
            <a:spLocks noChangeArrowheads="1"/>
          </p:cNvSpPr>
          <p:nvPr/>
        </p:nvSpPr>
        <p:spPr bwMode="auto">
          <a:xfrm>
            <a:off x="6353175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&lt;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5" name="Text Box 30"/>
          <p:cNvSpPr txBox="1">
            <a:spLocks noChangeArrowheads="1"/>
          </p:cNvSpPr>
          <p:nvPr/>
        </p:nvSpPr>
        <p:spPr bwMode="auto">
          <a:xfrm>
            <a:off x="8128000" y="3562350"/>
            <a:ext cx="7207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Monotype Sorts" pitchFamily="-84" charset="2"/>
              <a:buNone/>
            </a:pPr>
            <a:r>
              <a:rPr lang="en-US" altLang="en-US" sz="1600" b="0"/>
              <a:t>&gt; 80K</a:t>
            </a:r>
            <a:endParaRPr lang="en-US" altLang="en-US" sz="1600" b="0">
              <a:solidFill>
                <a:schemeClr val="bg2"/>
              </a:solidFill>
            </a:endParaRPr>
          </a:p>
        </p:txBody>
      </p:sp>
      <p:sp>
        <p:nvSpPr>
          <p:cNvPr id="12316" name="Text Box 37"/>
          <p:cNvSpPr txBox="1">
            <a:spLocks noChangeArrowheads="1"/>
          </p:cNvSpPr>
          <p:nvPr/>
        </p:nvSpPr>
        <p:spPr bwMode="auto">
          <a:xfrm>
            <a:off x="4343400" y="5029200"/>
            <a:ext cx="4419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CC3300"/>
                </a:solidFill>
              </a:rPr>
              <a:t>There could be more than one tree that fits the same data!</a:t>
            </a:r>
            <a:endParaRPr lang="en-US" altLang="en-US" sz="1800">
              <a:solidFill>
                <a:srgbClr val="CC3300"/>
              </a:solidFill>
            </a:endParaRPr>
          </a:p>
        </p:txBody>
      </p:sp>
      <p:graphicFrame>
        <p:nvGraphicFramePr>
          <p:cNvPr id="12317" name="Object 38"/>
          <p:cNvGraphicFramePr>
            <a:graphicFrameLocks noGrp="1" noChangeAspect="1"/>
          </p:cNvGraphicFramePr>
          <p:nvPr>
            <p:ph idx="1"/>
          </p:nvPr>
        </p:nvGraphicFramePr>
        <p:xfrm>
          <a:off x="152400" y="2071688"/>
          <a:ext cx="3886200" cy="383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2" name="Document" r:id="rId1" imgW="5848350" imgH="5767705" progId="Word.Document.8">
                  <p:embed/>
                </p:oleObj>
              </mc:Choice>
              <mc:Fallback>
                <p:oleObj name="Document" r:id="rId1" imgW="5848350" imgH="5767705" progId="Word.Document.8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2071688"/>
                        <a:ext cx="3886200" cy="383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FB5405-7CE1-4177-9B10-0CA610354D57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Classification Task</a:t>
            </a:r>
            <a:endParaRPr lang="en-US">
              <a:cs typeface="+mj-cs"/>
            </a:endParaRPr>
          </a:p>
        </p:txBody>
      </p:sp>
      <p:graphicFrame>
        <p:nvGraphicFramePr>
          <p:cNvPr id="19458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1093788" y="1143000"/>
          <a:ext cx="6951662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5" name="Visio" r:id="rId1" imgW="8506460" imgH="6339205" progId="Visio.Drawing.6">
                  <p:embed/>
                </p:oleObj>
              </mc:Choice>
              <mc:Fallback>
                <p:oleObj name="Visio" r:id="rId1" imgW="8506460" imgH="6339205" progId="Visio.Drawing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143000"/>
                        <a:ext cx="6951662" cy="518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Line 4"/>
          <p:cNvSpPr>
            <a:spLocks noChangeShapeType="1"/>
          </p:cNvSpPr>
          <p:nvPr/>
        </p:nvSpPr>
        <p:spPr bwMode="auto">
          <a:xfrm flipH="1">
            <a:off x="6400800" y="2362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0" name="Text Box 5"/>
          <p:cNvSpPr txBox="1">
            <a:spLocks noChangeArrowheads="1"/>
          </p:cNvSpPr>
          <p:nvPr/>
        </p:nvSpPr>
        <p:spPr bwMode="auto">
          <a:xfrm>
            <a:off x="7086600" y="4283075"/>
            <a:ext cx="12192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Decision Tree</a:t>
            </a:r>
            <a:endParaRPr lang="en-US" alt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B1C1F-2B1A-4D96-AD0B-E4A81121055F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Induction</a:t>
            </a:r>
            <a:endParaRPr lang="en-US">
              <a:cs typeface="+mj-cs"/>
            </a:endParaRPr>
          </a:p>
        </p:txBody>
      </p:sp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Many Algorithms:</a:t>
            </a:r>
            <a:endParaRPr lang="en-US" altLang="en-US">
              <a:ea typeface="MS PGothic" panose="020B0600070205080204" pitchFamily="34" charset="-128"/>
            </a:endParaRPr>
          </a:p>
          <a:p>
            <a:pPr lvl="1"/>
            <a:r>
              <a:rPr lang="en-US" altLang="en-US">
                <a:ea typeface="MS PGothic" panose="020B0600070205080204" pitchFamily="34" charset="-128"/>
              </a:rPr>
              <a:t>Hunt’s Algorithm (one of the earliest)</a:t>
            </a:r>
            <a:endParaRPr lang="en-US" altLang="en-US">
              <a:ea typeface="MS PGothic" panose="020B0600070205080204" pitchFamily="34" charset="-128"/>
            </a:endParaRPr>
          </a:p>
          <a:p>
            <a:pPr lvl="1"/>
            <a:r>
              <a:rPr lang="en-US" altLang="en-US">
                <a:ea typeface="MS PGothic" panose="020B0600070205080204" pitchFamily="34" charset="-128"/>
              </a:rPr>
              <a:t>CART</a:t>
            </a:r>
            <a:endParaRPr lang="en-US" altLang="en-US">
              <a:ea typeface="MS PGothic" panose="020B0600070205080204" pitchFamily="34" charset="-128"/>
            </a:endParaRPr>
          </a:p>
          <a:p>
            <a:pPr lvl="1"/>
            <a:r>
              <a:rPr lang="en-US" altLang="en-US">
                <a:ea typeface="MS PGothic" panose="020B0600070205080204" pitchFamily="34" charset="-128"/>
              </a:rPr>
              <a:t>ID3, C4.5</a:t>
            </a:r>
            <a:endParaRPr lang="en-US" altLang="en-US">
              <a:ea typeface="MS PGothic" panose="020B0600070205080204" pitchFamily="34" charset="-128"/>
            </a:endParaRPr>
          </a:p>
          <a:p>
            <a:pPr lvl="1"/>
            <a:r>
              <a:rPr lang="en-US" altLang="en-US">
                <a:ea typeface="MS PGothic" panose="020B0600070205080204" pitchFamily="34" charset="-128"/>
              </a:rPr>
              <a:t>SLIQ,SPRINT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D3946A-9181-431C-9F3B-E440726DFE0F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General Structure of Hunt’s Algorithm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Let D</a:t>
            </a:r>
            <a:r>
              <a:rPr lang="en-US" sz="2000" baseline="-25000">
                <a:cs typeface="+mn-cs"/>
              </a:rPr>
              <a:t>t</a:t>
            </a:r>
            <a:r>
              <a:rPr lang="en-US" sz="2000">
                <a:cs typeface="+mn-cs"/>
              </a:rPr>
              <a:t> be the set of training records that reach a node t</a:t>
            </a:r>
            <a:endParaRPr lang="en-US" sz="2000">
              <a:cs typeface="+mn-cs"/>
            </a:endParaRPr>
          </a:p>
          <a:p>
            <a:pPr lvl="4">
              <a:defRPr/>
            </a:pPr>
            <a:endParaRPr lang="en-US" sz="1600">
              <a:latin typeface="Times New Roman" panose="02020603050405020304" pitchFamily="18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General Procedure:</a:t>
            </a:r>
            <a:endParaRPr lang="en-US" sz="200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the same class y</a:t>
            </a:r>
            <a:r>
              <a:rPr lang="en-US" sz="2000" baseline="-25000"/>
              <a:t>t</a:t>
            </a:r>
            <a:r>
              <a:rPr lang="en-US" sz="2000"/>
              <a:t>, then t is a leaf node labeled as y</a:t>
            </a:r>
            <a:r>
              <a:rPr lang="en-US" sz="2000" baseline="-25000"/>
              <a:t>t</a:t>
            </a:r>
            <a:endParaRPr lang="en-US" sz="2000" baseline="-2500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2000"/>
              <a:t>If D</a:t>
            </a:r>
            <a:r>
              <a:rPr lang="en-US" sz="2000" baseline="-25000"/>
              <a:t>t</a:t>
            </a:r>
            <a:r>
              <a:rPr lang="en-US" sz="2000"/>
              <a:t> contains records that belong to more than one class, use an attribute test to split the data into smaller subsets. Recursively apply the procedure to each subset.</a:t>
            </a:r>
            <a:endParaRPr lang="en-US" sz="2000"/>
          </a:p>
        </p:txBody>
      </p:sp>
      <p:sp>
        <p:nvSpPr>
          <p:cNvPr id="21507" name="Oval 11"/>
          <p:cNvSpPr>
            <a:spLocks noChangeArrowheads="1"/>
          </p:cNvSpPr>
          <p:nvPr/>
        </p:nvSpPr>
        <p:spPr bwMode="auto">
          <a:xfrm>
            <a:off x="6172200" y="4800600"/>
            <a:ext cx="14478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508" name="Line 12"/>
          <p:cNvSpPr>
            <a:spLocks noChangeShapeType="1"/>
          </p:cNvSpPr>
          <p:nvPr/>
        </p:nvSpPr>
        <p:spPr bwMode="auto">
          <a:xfrm flipH="1">
            <a:off x="5715000" y="55626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Line 13"/>
          <p:cNvSpPr>
            <a:spLocks noChangeShapeType="1"/>
          </p:cNvSpPr>
          <p:nvPr/>
        </p:nvSpPr>
        <p:spPr bwMode="auto">
          <a:xfrm>
            <a:off x="6858000" y="55626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0" name="Line 14"/>
          <p:cNvSpPr>
            <a:spLocks noChangeShapeType="1"/>
          </p:cNvSpPr>
          <p:nvPr/>
        </p:nvSpPr>
        <p:spPr bwMode="auto">
          <a:xfrm>
            <a:off x="7010400" y="5562600"/>
            <a:ext cx="990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1" name="Line 15"/>
          <p:cNvSpPr>
            <a:spLocks noChangeShapeType="1"/>
          </p:cNvSpPr>
          <p:nvPr/>
        </p:nvSpPr>
        <p:spPr bwMode="auto">
          <a:xfrm flipH="1">
            <a:off x="6858000" y="4419600"/>
            <a:ext cx="228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Text Box 16"/>
          <p:cNvSpPr txBox="1">
            <a:spLocks noChangeArrowheads="1"/>
          </p:cNvSpPr>
          <p:nvPr/>
        </p:nvSpPr>
        <p:spPr bwMode="auto">
          <a:xfrm>
            <a:off x="7086600" y="4267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D</a:t>
            </a:r>
            <a:r>
              <a:rPr lang="en-US" altLang="en-US" sz="2000" baseline="-25000"/>
              <a:t>t</a:t>
            </a:r>
            <a:endParaRPr lang="en-US" altLang="en-US" sz="2000" baseline="-25000"/>
          </a:p>
        </p:txBody>
      </p:sp>
      <p:sp>
        <p:nvSpPr>
          <p:cNvPr id="21513" name="Text Box 17"/>
          <p:cNvSpPr txBox="1">
            <a:spLocks noChangeArrowheads="1"/>
          </p:cNvSpPr>
          <p:nvPr/>
        </p:nvSpPr>
        <p:spPr bwMode="auto">
          <a:xfrm>
            <a:off x="6705600" y="495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dirty="0"/>
              <a:t>?</a:t>
            </a:r>
            <a:endParaRPr lang="en-US" altLang="en-US" sz="2400" dirty="0"/>
          </a:p>
        </p:txBody>
      </p:sp>
      <p:graphicFrame>
        <p:nvGraphicFramePr>
          <p:cNvPr id="21514" name="Object 21"/>
          <p:cNvGraphicFramePr>
            <a:graphicFrameLocks noGrp="1" noChangeAspect="1"/>
          </p:cNvGraphicFramePr>
          <p:nvPr>
            <p:ph sz="half" idx="2"/>
          </p:nvPr>
        </p:nvGraphicFramePr>
        <p:xfrm>
          <a:off x="5410200" y="1143000"/>
          <a:ext cx="3200400" cy="315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9" name="Document" r:id="rId1" imgW="5848350" imgH="5767705" progId="Word.Document.8">
                  <p:embed/>
                </p:oleObj>
              </mc:Choice>
              <mc:Fallback>
                <p:oleObj name="Document" r:id="rId1" imgW="5848350" imgH="5767705" progId="Word.Document.8">
                  <p:embed/>
                  <p:pic>
                    <p:nvPicPr>
                      <p:cNvPr id="0" name="Object 2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143000"/>
                        <a:ext cx="3200400" cy="315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57EC43-4E6A-4B0C-92C0-F5F14DCE6FB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Hunt’s Algorithm</a:t>
            </a:r>
            <a:endParaRPr lang="en-US" altLang="en-US">
              <a:ea typeface="MS PGothic" panose="020B0600070205080204" pitchFamily="34" charset="-128"/>
            </a:endParaRPr>
          </a:p>
        </p:txBody>
      </p:sp>
      <p:graphicFrame>
        <p:nvGraphicFramePr>
          <p:cNvPr id="22530" name="Object 56"/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1" name="Visio" r:id="rId1" imgW="8268335" imgH="6631305" progId="Visio.Drawing.6">
                  <p:embed/>
                </p:oleObj>
              </mc:Choice>
              <mc:Fallback>
                <p:oleObj name="Visio" r:id="rId1" imgW="8268335" imgH="6631305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1" name="TextBox 1"/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2532" name="TextBox 5"/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  <a:endParaRPr lang="en-US" altLang="en-US" sz="1400"/>
          </a:p>
        </p:txBody>
      </p:sp>
      <p:sp>
        <p:nvSpPr>
          <p:cNvPr id="22533" name="TextBox 6"/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2534" name="TextBox 7"/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  <a:endParaRPr lang="en-US" altLang="en-US" sz="1400"/>
          </a:p>
        </p:txBody>
      </p:sp>
      <p:sp>
        <p:nvSpPr>
          <p:cNvPr id="22535" name="TextBox 8"/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2536" name="TextBox 9"/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2537" name="TextBox 10"/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  <a:endParaRPr lang="en-US" altLang="en-US" sz="1400"/>
          </a:p>
        </p:txBody>
      </p:sp>
      <p:sp>
        <p:nvSpPr>
          <p:cNvPr id="22538" name="TextBox 11"/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  <a:endParaRPr lang="en-US" altLang="en-US" sz="1400"/>
          </a:p>
        </p:txBody>
      </p:sp>
      <p:sp>
        <p:nvSpPr>
          <p:cNvPr id="22539" name="TextBox 12"/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2540" name="TextBox 13"/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  <a:endParaRPr lang="en-US" altLang="en-US" sz="1400"/>
          </a:p>
        </p:txBody>
      </p:sp>
      <p:graphicFrame>
        <p:nvGraphicFramePr>
          <p:cNvPr id="22541" name="Object 54"/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2" name="Document" r:id="rId3" imgW="5510530" imgH="6059805" progId="Word.Document.8">
                  <p:embed/>
                </p:oleObj>
              </mc:Choice>
              <mc:Fallback>
                <p:oleObj name="Document" r:id="rId3" imgW="5510530" imgH="6059805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 bwMode="auto"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7150" y="3476625"/>
            <a:ext cx="2816225" cy="27717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198813" y="1104900"/>
            <a:ext cx="2816225" cy="27717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DB371F-FCEB-4D85-9DBB-4D3DE055E792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Hunt’s Algorithm</a:t>
            </a:r>
            <a:endParaRPr lang="en-US" altLang="en-US">
              <a:ea typeface="MS PGothic" panose="020B0600070205080204" pitchFamily="34" charset="-128"/>
            </a:endParaRPr>
          </a:p>
        </p:txBody>
      </p:sp>
      <p:graphicFrame>
        <p:nvGraphicFramePr>
          <p:cNvPr id="23554" name="Object 56"/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4" name="Visio" r:id="rId1" imgW="8268335" imgH="6631305" progId="Visio.Drawing.6">
                  <p:embed/>
                </p:oleObj>
              </mc:Choice>
              <mc:Fallback>
                <p:oleObj name="Visio" r:id="rId1" imgW="8268335" imgH="6631305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Box 1"/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3556" name="TextBox 5"/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  <a:endParaRPr lang="en-US" altLang="en-US" sz="1400"/>
          </a:p>
        </p:txBody>
      </p:sp>
      <p:sp>
        <p:nvSpPr>
          <p:cNvPr id="23557" name="TextBox 6"/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3558" name="TextBox 7"/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  <a:endParaRPr lang="en-US" altLang="en-US" sz="1400"/>
          </a:p>
        </p:txBody>
      </p:sp>
      <p:sp>
        <p:nvSpPr>
          <p:cNvPr id="23559" name="TextBox 8"/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3560" name="TextBox 9"/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3561" name="TextBox 10"/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  <a:endParaRPr lang="en-US" altLang="en-US" sz="1400"/>
          </a:p>
        </p:txBody>
      </p:sp>
      <p:sp>
        <p:nvSpPr>
          <p:cNvPr id="23562" name="TextBox 11"/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  <a:endParaRPr lang="en-US" altLang="en-US" sz="1400"/>
          </a:p>
        </p:txBody>
      </p:sp>
      <p:sp>
        <p:nvSpPr>
          <p:cNvPr id="23563" name="TextBox 12"/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3564" name="TextBox 13"/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  <a:endParaRPr lang="en-US" altLang="en-US" sz="1400"/>
          </a:p>
        </p:txBody>
      </p:sp>
      <p:graphicFrame>
        <p:nvGraphicFramePr>
          <p:cNvPr id="23565" name="Object 54"/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15" name="Document" r:id="rId3" imgW="5510530" imgH="6059805" progId="Word.Document.8">
                  <p:embed/>
                </p:oleObj>
              </mc:Choice>
              <mc:Fallback>
                <p:oleObj name="Document" r:id="rId3" imgW="5510530" imgH="6059805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 bwMode="auto"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7150" y="3476625"/>
            <a:ext cx="2816225" cy="27717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DF53F7-FF8C-43D3-84DB-83CC87EF03F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Hunt’s Algorithm</a:t>
            </a:r>
            <a:endParaRPr lang="en-US" altLang="en-US">
              <a:ea typeface="MS PGothic" panose="020B0600070205080204" pitchFamily="34" charset="-128"/>
            </a:endParaRPr>
          </a:p>
        </p:txBody>
      </p:sp>
      <p:graphicFrame>
        <p:nvGraphicFramePr>
          <p:cNvPr id="24578" name="Object 56"/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7" name="Visio" r:id="rId1" imgW="8268335" imgH="6631305" progId="Visio.Drawing.6">
                  <p:embed/>
                </p:oleObj>
              </mc:Choice>
              <mc:Fallback>
                <p:oleObj name="Visio" r:id="rId1" imgW="8268335" imgH="6631305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Box 1"/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4580" name="TextBox 5"/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  <a:endParaRPr lang="en-US" altLang="en-US" sz="1400"/>
          </a:p>
        </p:txBody>
      </p:sp>
      <p:sp>
        <p:nvSpPr>
          <p:cNvPr id="24581" name="TextBox 6"/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4582" name="TextBox 7"/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  <a:endParaRPr lang="en-US" altLang="en-US" sz="1400"/>
          </a:p>
        </p:txBody>
      </p:sp>
      <p:sp>
        <p:nvSpPr>
          <p:cNvPr id="24583" name="TextBox 8"/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4584" name="TextBox 9"/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4585" name="TextBox 10"/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  <a:endParaRPr lang="en-US" altLang="en-US" sz="1400"/>
          </a:p>
        </p:txBody>
      </p:sp>
      <p:sp>
        <p:nvSpPr>
          <p:cNvPr id="24586" name="TextBox 11"/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  <a:endParaRPr lang="en-US" altLang="en-US" sz="1400"/>
          </a:p>
        </p:txBody>
      </p:sp>
      <p:sp>
        <p:nvSpPr>
          <p:cNvPr id="24587" name="TextBox 12"/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4588" name="TextBox 13"/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  <a:endParaRPr lang="en-US" altLang="en-US" sz="1400"/>
          </a:p>
        </p:txBody>
      </p:sp>
      <p:graphicFrame>
        <p:nvGraphicFramePr>
          <p:cNvPr id="24589" name="Object 54"/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38" name="Document" r:id="rId3" imgW="5510530" imgH="6059805" progId="Word.Document.8">
                  <p:embed/>
                </p:oleObj>
              </mc:Choice>
              <mc:Fallback>
                <p:oleObj name="Document" r:id="rId3" imgW="5510530" imgH="6059805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 bwMode="auto">
          <a:xfrm>
            <a:off x="3200400" y="4330700"/>
            <a:ext cx="3276600" cy="19177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3048000" y="2919413"/>
            <a:ext cx="2816225" cy="1728787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9B7660-E5A7-4E19-9158-548A515C650E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Hunt’s Algorithm</a:t>
            </a:r>
            <a:endParaRPr lang="en-US" altLang="en-US">
              <a:ea typeface="MS PGothic" panose="020B0600070205080204" pitchFamily="34" charset="-128"/>
            </a:endParaRPr>
          </a:p>
        </p:txBody>
      </p:sp>
      <p:graphicFrame>
        <p:nvGraphicFramePr>
          <p:cNvPr id="25602" name="Object 56"/>
          <p:cNvGraphicFramePr>
            <a:graphicFrameLocks noGrp="1" noChangeAspect="1"/>
          </p:cNvGraphicFramePr>
          <p:nvPr>
            <p:ph sz="half" idx="2"/>
          </p:nvPr>
        </p:nvGraphicFramePr>
        <p:xfrm>
          <a:off x="76200" y="1174750"/>
          <a:ext cx="6324600" cy="507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59" name="Visio" r:id="rId1" imgW="8268335" imgH="6631305" progId="Visio.Drawing.6">
                  <p:embed/>
                </p:oleObj>
              </mc:Choice>
              <mc:Fallback>
                <p:oleObj name="Visio" r:id="rId1" imgW="8268335" imgH="6631305" progId="Visio.Drawing.6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" y="1174750"/>
                        <a:ext cx="6324600" cy="5073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TextBox 1"/>
          <p:cNvSpPr txBox="1">
            <a:spLocks noChangeArrowheads="1"/>
          </p:cNvSpPr>
          <p:nvPr/>
        </p:nvSpPr>
        <p:spPr bwMode="auto">
          <a:xfrm>
            <a:off x="373380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5604" name="TextBox 5"/>
          <p:cNvSpPr txBox="1">
            <a:spLocks noChangeArrowheads="1"/>
          </p:cNvSpPr>
          <p:nvPr/>
        </p:nvSpPr>
        <p:spPr bwMode="auto">
          <a:xfrm>
            <a:off x="5010150" y="22098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(4,3)</a:t>
            </a:r>
            <a:endParaRPr lang="en-US" altLang="en-US" sz="1400"/>
          </a:p>
        </p:txBody>
      </p:sp>
      <p:sp>
        <p:nvSpPr>
          <p:cNvPr id="25605" name="TextBox 6"/>
          <p:cNvSpPr txBox="1">
            <a:spLocks noChangeArrowheads="1"/>
          </p:cNvSpPr>
          <p:nvPr/>
        </p:nvSpPr>
        <p:spPr bwMode="auto">
          <a:xfrm>
            <a:off x="152400" y="4648200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5606" name="TextBox 7"/>
          <p:cNvSpPr txBox="1">
            <a:spLocks noChangeArrowheads="1"/>
          </p:cNvSpPr>
          <p:nvPr/>
        </p:nvSpPr>
        <p:spPr bwMode="auto">
          <a:xfrm>
            <a:off x="60960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(1,3)</a:t>
            </a:r>
            <a:endParaRPr lang="en-US" altLang="en-US" sz="1400"/>
          </a:p>
        </p:txBody>
      </p:sp>
      <p:sp>
        <p:nvSpPr>
          <p:cNvPr id="25607" name="TextBox 8"/>
          <p:cNvSpPr txBox="1">
            <a:spLocks noChangeArrowheads="1"/>
          </p:cNvSpPr>
          <p:nvPr/>
        </p:nvSpPr>
        <p:spPr bwMode="auto">
          <a:xfrm>
            <a:off x="2038350" y="54070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5608" name="TextBox 9"/>
          <p:cNvSpPr txBox="1">
            <a:spLocks noChangeArrowheads="1"/>
          </p:cNvSpPr>
          <p:nvPr/>
        </p:nvSpPr>
        <p:spPr bwMode="auto">
          <a:xfrm>
            <a:off x="3657600" y="41878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5609" name="TextBox 10"/>
          <p:cNvSpPr txBox="1">
            <a:spLocks noChangeArrowheads="1"/>
          </p:cNvSpPr>
          <p:nvPr/>
        </p:nvSpPr>
        <p:spPr bwMode="auto">
          <a:xfrm>
            <a:off x="365760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(1,0)</a:t>
            </a:r>
            <a:endParaRPr lang="en-US" altLang="en-US" sz="1400"/>
          </a:p>
        </p:txBody>
      </p:sp>
      <p:sp>
        <p:nvSpPr>
          <p:cNvPr id="25610" name="TextBox 11"/>
          <p:cNvSpPr txBox="1">
            <a:spLocks noChangeArrowheads="1"/>
          </p:cNvSpPr>
          <p:nvPr/>
        </p:nvSpPr>
        <p:spPr bwMode="auto">
          <a:xfrm>
            <a:off x="4857750" y="5635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(0,3)</a:t>
            </a:r>
            <a:endParaRPr lang="en-US" altLang="en-US" sz="1400"/>
          </a:p>
        </p:txBody>
      </p:sp>
      <p:sp>
        <p:nvSpPr>
          <p:cNvPr id="25611" name="TextBox 12"/>
          <p:cNvSpPr txBox="1">
            <a:spLocks noChangeArrowheads="1"/>
          </p:cNvSpPr>
          <p:nvPr/>
        </p:nvSpPr>
        <p:spPr bwMode="auto">
          <a:xfrm>
            <a:off x="5543550" y="48736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(3,0)</a:t>
            </a:r>
            <a:endParaRPr lang="en-US" altLang="en-US" sz="1400"/>
          </a:p>
        </p:txBody>
      </p:sp>
      <p:sp>
        <p:nvSpPr>
          <p:cNvPr id="25612" name="TextBox 13"/>
          <p:cNvSpPr txBox="1">
            <a:spLocks noChangeArrowheads="1"/>
          </p:cNvSpPr>
          <p:nvPr/>
        </p:nvSpPr>
        <p:spPr bwMode="auto">
          <a:xfrm>
            <a:off x="990600" y="2054225"/>
            <a:ext cx="5524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(7,3)</a:t>
            </a:r>
            <a:endParaRPr lang="en-US" altLang="en-US" sz="1400"/>
          </a:p>
        </p:txBody>
      </p:sp>
      <p:graphicFrame>
        <p:nvGraphicFramePr>
          <p:cNvPr id="25613" name="Object 54"/>
          <p:cNvGraphicFramePr>
            <a:graphicFrameLocks noGrp="1" noChangeAspect="1"/>
          </p:cNvGraphicFramePr>
          <p:nvPr>
            <p:ph sz="half" idx="1"/>
          </p:nvPr>
        </p:nvGraphicFramePr>
        <p:xfrm>
          <a:off x="6019800" y="914400"/>
          <a:ext cx="2979738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60" name="Document" r:id="rId3" imgW="5510530" imgH="6059805" progId="Word.Document.8">
                  <p:embed/>
                </p:oleObj>
              </mc:Choice>
              <mc:Fallback>
                <p:oleObj name="Document" r:id="rId3" imgW="5510530" imgH="6059805" progId="Word.Document.8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914400"/>
                        <a:ext cx="2979738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549EFE-B825-4CEE-ACAE-E9CA80B372AF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6106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Design Issues of Decision Tree Induction</a:t>
            </a:r>
            <a:endParaRPr lang="en-US">
              <a:cs typeface="+mj-cs"/>
            </a:endParaRPr>
          </a:p>
        </p:txBody>
      </p:sp>
      <p:sp>
        <p:nvSpPr>
          <p:cNvPr id="2048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How should training records be split?</a:t>
            </a:r>
            <a:endParaRPr lang="en-US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Method for expressing test condition </a:t>
            </a:r>
            <a:endParaRPr lang="en-US" dirty="0"/>
          </a:p>
          <a:p>
            <a:pPr lvl="2">
              <a:buFont typeface="Wingdings" panose="05000000000000000000" charset="0"/>
              <a:buChar char="u"/>
              <a:defRPr/>
            </a:pPr>
            <a:r>
              <a:rPr lang="en-US" dirty="0"/>
              <a:t> depending on attribute types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Measure for evaluating the goodness of a test condition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dirty="0"/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How should the splitting procedure stop?</a:t>
            </a:r>
            <a:endParaRPr lang="en-US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Stop splitting if all the records belong to the same class or have identical attribute values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Early termination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DE923A-7A08-4B88-BEF2-18FCA48FB701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Methods for Expressing Test Conditions</a:t>
            </a:r>
            <a:endParaRPr lang="en-US">
              <a:cs typeface="+mj-cs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Depends on attribute types</a:t>
            </a:r>
            <a:endParaRPr lang="en-US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Binary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Nominal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Ordinal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Continuous</a:t>
            </a:r>
            <a:endParaRPr lang="en-US" dirty="0"/>
          </a:p>
          <a:p>
            <a:pPr lvl="1">
              <a:buFont typeface="Arial" panose="020B0604020202020204" pitchFamily="34" charset="0"/>
              <a:buChar char="–"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CC4D0E1-CF69-438E-B8B9-B974011A8BC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Test Condition for Nominal Attributes</a:t>
            </a:r>
            <a:endParaRPr lang="en-US">
              <a:cs typeface="+mj-cs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5303837" cy="5181600"/>
          </a:xfrm>
        </p:spPr>
        <p:txBody>
          <a:bodyPr/>
          <a:lstStyle/>
          <a:p>
            <a:pPr marL="342900" indent="-342900">
              <a:buFont typeface="Monotype Sorts" pitchFamily="-84" charset="2"/>
              <a:buChar char="l"/>
              <a:defRPr/>
            </a:pPr>
            <a:r>
              <a:rPr lang="en-US" altLang="en-US" sz="2400" dirty="0">
                <a:solidFill>
                  <a:srgbClr val="FF0000"/>
                </a:solidFill>
                <a:ea typeface="+mn-ea"/>
                <a:cs typeface="+mn-cs"/>
              </a:rPr>
              <a:t>Multi-way split:</a:t>
            </a:r>
            <a:r>
              <a:rPr lang="en-US" altLang="en-US" sz="2400" dirty="0">
                <a:ea typeface="+mn-ea"/>
                <a:cs typeface="+mn-cs"/>
              </a:rPr>
              <a:t> </a:t>
            </a:r>
            <a:endParaRPr lang="en-US" altLang="en-US" sz="2400" dirty="0"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Use as many partitions as distinct values. </a:t>
            </a:r>
            <a:endParaRPr lang="en-US" altLang="en-US" sz="2400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sz="2400" dirty="0">
              <a:ea typeface="+mn-ea"/>
              <a:cs typeface="+mn-cs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sz="2400" dirty="0">
              <a:ea typeface="+mn-ea"/>
              <a:cs typeface="+mn-cs"/>
            </a:endParaRPr>
          </a:p>
          <a:p>
            <a:pPr marL="342900" indent="-342900">
              <a:buFont typeface="Monotype Sorts" pitchFamily="-84" charset="2"/>
              <a:buChar char="l"/>
              <a:defRPr/>
            </a:pPr>
            <a:r>
              <a:rPr lang="en-US" altLang="en-US" sz="2400" dirty="0">
                <a:solidFill>
                  <a:srgbClr val="FF0000"/>
                </a:solidFill>
                <a:ea typeface="+mn-ea"/>
                <a:cs typeface="+mn-cs"/>
              </a:rPr>
              <a:t>Binary split:</a:t>
            </a:r>
            <a:r>
              <a:rPr lang="en-US" altLang="en-US" sz="2400" dirty="0">
                <a:ea typeface="+mn-ea"/>
                <a:cs typeface="+mn-cs"/>
              </a:rPr>
              <a:t>  </a:t>
            </a:r>
            <a:endParaRPr lang="en-US" altLang="en-US" sz="2400" dirty="0">
              <a:ea typeface="+mn-ea"/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altLang="en-US" sz="2400" dirty="0"/>
              <a:t>Divides values into two subsets</a:t>
            </a:r>
            <a:endParaRPr lang="en-US" altLang="en-US" sz="2400" dirty="0"/>
          </a:p>
        </p:txBody>
      </p:sp>
      <p:graphicFrame>
        <p:nvGraphicFramePr>
          <p:cNvPr id="28675" name="Object 2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34000" y="1371600"/>
          <a:ext cx="3352800" cy="182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4" name="Visio" r:id="rId1" imgW="4041775" imgH="2205355" progId="Visio.Drawing.6">
                  <p:embed/>
                </p:oleObj>
              </mc:Choice>
              <mc:Fallback>
                <p:oleObj name="Visio" r:id="rId1" imgW="4041775" imgH="2205355" progId="Visio.Drawing.6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371600"/>
                        <a:ext cx="3352800" cy="182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2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810000" y="4495800"/>
          <a:ext cx="3471863" cy="180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5" name="Visio" r:id="rId3" imgW="4856480" imgH="2535555" progId="Visio.Drawing.6">
                  <p:embed/>
                </p:oleObj>
              </mc:Choice>
              <mc:Fallback>
                <p:oleObj name="Visio" r:id="rId3" imgW="4856480" imgH="2535555" progId="Visio.Drawing.6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495800"/>
                        <a:ext cx="3471863" cy="1808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29"/>
          <p:cNvGraphicFramePr>
            <a:graphicFrameLocks noChangeAspect="1"/>
          </p:cNvGraphicFramePr>
          <p:nvPr/>
        </p:nvGraphicFramePr>
        <p:xfrm>
          <a:off x="7086600" y="4495800"/>
          <a:ext cx="2022475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96" name="Visio" r:id="rId5" imgW="2735580" imgH="2451100" progId="Visio.Drawing.6">
                  <p:embed/>
                </p:oleObj>
              </mc:Choice>
              <mc:Fallback>
                <p:oleObj name="Visio" r:id="rId5" imgW="2735580" imgH="2451100" progId="Visio.Drawing.6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4495800"/>
                        <a:ext cx="2022475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6D3CB4-708B-4B73-95BA-B3B3B1DD14F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Test Condition for Ordinal Attributes</a:t>
            </a:r>
            <a:endParaRPr lang="en-US">
              <a:cs typeface="+mj-cs"/>
            </a:endParaRPr>
          </a:p>
        </p:txBody>
      </p:sp>
      <p:sp>
        <p:nvSpPr>
          <p:cNvPr id="23555" name="Rectangle 3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342900" indent="-342900">
              <a:buFont typeface="Monotype Sorts" charset="0"/>
              <a:buChar char="l"/>
              <a:defRPr/>
            </a:pPr>
            <a:r>
              <a:rPr lang="en-US" sz="2400">
                <a:solidFill>
                  <a:srgbClr val="FF0000"/>
                </a:solidFill>
                <a:cs typeface="+mn-cs"/>
              </a:rPr>
              <a:t>Multi-way split:</a:t>
            </a:r>
            <a:r>
              <a:rPr lang="en-US" sz="2400">
                <a:cs typeface="+mn-cs"/>
              </a:rPr>
              <a:t> </a:t>
            </a:r>
            <a:endParaRPr lang="en-US" sz="2400"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sz="2400"/>
              <a:t>Use as many partitions as distinct values</a:t>
            </a:r>
            <a:endParaRPr lang="en-US" sz="2400"/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endParaRPr lang="en-US" sz="2400"/>
          </a:p>
          <a:p>
            <a:pPr marL="342900" indent="-342900">
              <a:buFont typeface="Monotype Sorts" charset="0"/>
              <a:buChar char="l"/>
              <a:defRPr/>
            </a:pPr>
            <a:r>
              <a:rPr lang="en-US" sz="2400">
                <a:solidFill>
                  <a:srgbClr val="FF0000"/>
                </a:solidFill>
                <a:cs typeface="+mn-cs"/>
              </a:rPr>
              <a:t>Binary split:</a:t>
            </a:r>
            <a:r>
              <a:rPr lang="en-US" sz="2400">
                <a:cs typeface="+mn-cs"/>
              </a:rPr>
              <a:t>  </a:t>
            </a:r>
            <a:endParaRPr lang="en-US" sz="2400">
              <a:cs typeface="+mn-cs"/>
            </a:endParaRPr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sz="2400"/>
              <a:t>Divides values into two subsets</a:t>
            </a:r>
            <a:endParaRPr lang="en-US" sz="2400"/>
          </a:p>
          <a:p>
            <a:pPr marL="742950" lvl="1" indent="-285750">
              <a:buFont typeface="Arial" panose="020B0604020202020204" pitchFamily="34" charset="0"/>
              <a:buChar char="–"/>
              <a:defRPr/>
            </a:pPr>
            <a:r>
              <a:rPr lang="en-US" sz="2400"/>
              <a:t>Preserve order property among attribute values</a:t>
            </a:r>
            <a:endParaRPr lang="en-US" sz="2400"/>
          </a:p>
        </p:txBody>
      </p:sp>
      <p:graphicFrame>
        <p:nvGraphicFramePr>
          <p:cNvPr id="29699" name="Object 4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334000" y="1143000"/>
          <a:ext cx="2951163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19" name="Visio" r:id="rId1" imgW="3995420" imgH="2143760" progId="Visio.Drawing.6">
                  <p:embed/>
                </p:oleObj>
              </mc:Choice>
              <mc:Fallback>
                <p:oleObj name="Visio" r:id="rId1" imgW="3995420" imgH="2143760" progId="Visio.Drawing.6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1143000"/>
                        <a:ext cx="2951163" cy="1582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0" name="Object 4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029200" y="2819400"/>
          <a:ext cx="3352800" cy="174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0" name="Visio" r:id="rId3" imgW="4495165" imgH="2343785" progId="Visio.Drawing.6">
                  <p:embed/>
                </p:oleObj>
              </mc:Choice>
              <mc:Fallback>
                <p:oleObj name="Visio" r:id="rId3" imgW="4495165" imgH="2343785" progId="Visio.Drawing.6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819400"/>
                        <a:ext cx="3352800" cy="174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43"/>
          <p:cNvGraphicFramePr>
            <a:graphicFrameLocks noChangeAspect="1"/>
          </p:cNvGraphicFramePr>
          <p:nvPr/>
        </p:nvGraphicFramePr>
        <p:xfrm>
          <a:off x="4953000" y="4648200"/>
          <a:ext cx="1460500" cy="176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21" name="Visio" r:id="rId5" imgW="1936115" imgH="2343785" progId="Visio.Drawing.6">
                  <p:embed/>
                </p:oleObj>
              </mc:Choice>
              <mc:Fallback>
                <p:oleObj name="Visio" r:id="rId5" imgW="1936115" imgH="2343785" progId="Visio.Drawing.6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648200"/>
                        <a:ext cx="1460500" cy="176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6653" name="AutoShape 45"/>
          <p:cNvSpPr/>
          <p:nvPr/>
        </p:nvSpPr>
        <p:spPr bwMode="auto">
          <a:xfrm>
            <a:off x="7086600" y="5105400"/>
            <a:ext cx="1524000" cy="723900"/>
          </a:xfrm>
          <a:prstGeom prst="borderCallout2">
            <a:avLst>
              <a:gd name="adj1" fmla="val 15792"/>
              <a:gd name="adj2" fmla="val -5000"/>
              <a:gd name="adj3" fmla="val 15792"/>
              <a:gd name="adj4" fmla="val -29898"/>
              <a:gd name="adj5" fmla="val 102412"/>
              <a:gd name="adj6" fmla="val -55625"/>
            </a:avLst>
          </a:prstGeom>
          <a:noFill/>
          <a:ln w="127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This grouping violates order property</a:t>
            </a:r>
            <a:endParaRPr lang="en-US" altLang="en-US" sz="1400"/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58AD22-6FE2-48DF-97D6-2E47F1F4643D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66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Test Condition for Continuous Attributes</a:t>
            </a:r>
            <a:endParaRPr lang="en-US">
              <a:cs typeface="+mj-cs"/>
            </a:endParaRPr>
          </a:p>
        </p:txBody>
      </p:sp>
      <p:graphicFrame>
        <p:nvGraphicFramePr>
          <p:cNvPr id="30722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738188" y="1746250"/>
          <a:ext cx="7608887" cy="328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7" name="Visio" r:id="rId1" imgW="8621395" imgH="3726815" progId="Visio.Drawing.6">
                  <p:embed/>
                </p:oleObj>
              </mc:Choice>
              <mc:Fallback>
                <p:oleObj name="Visio" r:id="rId1" imgW="8621395" imgH="3726815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188" y="1746250"/>
                        <a:ext cx="7608887" cy="328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C0F45B-8088-480D-848D-D09825134EBE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Splitting Based on Continuous Attributes</a:t>
            </a:r>
            <a:endParaRPr lang="en-US">
              <a:cs typeface="+mj-cs"/>
            </a:endParaRPr>
          </a:p>
        </p:txBody>
      </p:sp>
      <p:sp>
        <p:nvSpPr>
          <p:cNvPr id="3174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ea typeface="MS PGothic" panose="020B0600070205080204" pitchFamily="34" charset="-128"/>
              </a:rPr>
              <a:t>Different ways of handling</a:t>
            </a:r>
            <a:endParaRPr lang="en-US" altLang="en-US">
              <a:ea typeface="MS PGothic" panose="020B0600070205080204" pitchFamily="34" charset="-128"/>
            </a:endParaRPr>
          </a:p>
          <a:p>
            <a:pPr lvl="1"/>
            <a:r>
              <a:rPr lang="en-US" altLang="en-US">
                <a:solidFill>
                  <a:srgbClr val="CC3300"/>
                </a:solidFill>
                <a:ea typeface="MS PGothic" panose="020B0600070205080204" pitchFamily="34" charset="-128"/>
              </a:rPr>
              <a:t>Discretization</a:t>
            </a:r>
            <a:r>
              <a:rPr lang="en-US" altLang="en-US">
                <a:ea typeface="MS PGothic" panose="020B0600070205080204" pitchFamily="34" charset="-128"/>
              </a:rPr>
              <a:t> to form an ordinal categorical attribute</a:t>
            </a:r>
            <a:endParaRPr lang="en-US" altLang="en-US">
              <a:ea typeface="MS PGothic" panose="020B0600070205080204" pitchFamily="34" charset="-128"/>
            </a:endParaRP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>
                <a:ea typeface="MS PGothic" panose="020B0600070205080204" pitchFamily="34" charset="-128"/>
              </a:rPr>
              <a:t> Ranges can be found by equal interval bucketing, equal frequency bucketing (percentiles), or clustering.</a:t>
            </a:r>
            <a:endParaRPr lang="en-US" altLang="en-US">
              <a:ea typeface="MS PGothic" panose="020B0600070205080204" pitchFamily="34" charset="-128"/>
            </a:endParaRPr>
          </a:p>
          <a:p>
            <a:pPr lvl="2"/>
            <a:r>
              <a:rPr lang="en-US" altLang="en-US">
                <a:ea typeface="MS PGothic" panose="020B0600070205080204" pitchFamily="34" charset="-128"/>
              </a:rPr>
              <a:t> Static – discretize once at the beginning</a:t>
            </a:r>
            <a:endParaRPr lang="en-US" altLang="en-US">
              <a:ea typeface="MS PGothic" panose="020B0600070205080204" pitchFamily="34" charset="-128"/>
            </a:endParaRPr>
          </a:p>
          <a:p>
            <a:pPr lvl="2"/>
            <a:r>
              <a:rPr lang="en-US" altLang="en-US">
                <a:ea typeface="MS PGothic" panose="020B0600070205080204" pitchFamily="34" charset="-128"/>
              </a:rPr>
              <a:t> Dynamic – repeat at each node</a:t>
            </a:r>
            <a:endParaRPr lang="en-US" altLang="en-US">
              <a:ea typeface="MS PGothic" panose="020B0600070205080204" pitchFamily="34" charset="-128"/>
            </a:endParaRPr>
          </a:p>
          <a:p>
            <a:pPr lvl="4"/>
            <a:endParaRPr lang="en-US" altLang="en-US">
              <a:solidFill>
                <a:srgbClr val="CC3300"/>
              </a:solidFill>
              <a:ea typeface="MS PGothic" panose="020B0600070205080204" pitchFamily="34" charset="-128"/>
            </a:endParaRPr>
          </a:p>
          <a:p>
            <a:pPr lvl="1"/>
            <a:r>
              <a:rPr lang="en-US" altLang="en-US">
                <a:solidFill>
                  <a:srgbClr val="CC3300"/>
                </a:solidFill>
                <a:ea typeface="MS PGothic" panose="020B0600070205080204" pitchFamily="34" charset="-128"/>
              </a:rPr>
              <a:t>Binary Decision</a:t>
            </a:r>
            <a:r>
              <a:rPr lang="en-US" altLang="en-US">
                <a:ea typeface="MS PGothic" panose="020B0600070205080204" pitchFamily="34" charset="-128"/>
              </a:rPr>
              <a:t>: (A &lt; v) or (A </a:t>
            </a:r>
            <a:r>
              <a:rPr lang="en-US" altLang="en-US">
                <a:ea typeface="MS PGothic" panose="020B0600070205080204" pitchFamily="34" charset="-128"/>
                <a:sym typeface="Symbol" panose="05050102010706020507" pitchFamily="18" charset="2"/>
              </a:rPr>
              <a:t> v)</a:t>
            </a:r>
            <a:endParaRPr lang="en-US" altLang="en-US">
              <a:ea typeface="MS PGothic" panose="020B0600070205080204" pitchFamily="34" charset="-128"/>
            </a:endParaRPr>
          </a:p>
          <a:p>
            <a:pPr lvl="2"/>
            <a:r>
              <a:rPr lang="en-US" altLang="en-US">
                <a:ea typeface="MS PGothic" panose="020B0600070205080204" pitchFamily="34" charset="-128"/>
              </a:rPr>
              <a:t> consider all possible splits and finds the best cut</a:t>
            </a:r>
            <a:endParaRPr lang="en-US" altLang="en-US">
              <a:ea typeface="MS PGothic" panose="020B0600070205080204" pitchFamily="34" charset="-128"/>
            </a:endParaRPr>
          </a:p>
          <a:p>
            <a:pPr lvl="2"/>
            <a:r>
              <a:rPr lang="en-US" altLang="en-US">
                <a:ea typeface="MS PGothic" panose="020B0600070205080204" pitchFamily="34" charset="-128"/>
              </a:rPr>
              <a:t> can be more compute intensive</a:t>
            </a:r>
            <a:endParaRPr lang="en-US" altLang="en-US">
              <a:ea typeface="MS PGothic" panose="020B0600070205080204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7BC3DC-97F5-419B-A87C-21871F4EC09C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0" y="1009650"/>
            <a:ext cx="3170238" cy="3105150"/>
          </a:xfrm>
        </p:spPr>
      </p:pic>
      <p:sp>
        <p:nvSpPr>
          <p:cNvPr id="266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How to determine the Best Split</a:t>
            </a:r>
            <a:endParaRPr lang="en-US">
              <a:cs typeface="+mj-cs"/>
            </a:endParaRPr>
          </a:p>
        </p:txBody>
      </p:sp>
      <p:graphicFrame>
        <p:nvGraphicFramePr>
          <p:cNvPr id="32771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1020763" y="4129088"/>
          <a:ext cx="7589837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8" name="Visio" r:id="rId2" imgW="9728200" imgH="2266950" progId="Visio.Drawing.6">
                  <p:embed/>
                </p:oleObj>
              </mc:Choice>
              <mc:Fallback>
                <p:oleObj name="Visio" r:id="rId2" imgW="9728200" imgH="2266950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0763" y="4129088"/>
                        <a:ext cx="7589837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Text Box 8"/>
          <p:cNvSpPr txBox="1">
            <a:spLocks noChangeArrowheads="1"/>
          </p:cNvSpPr>
          <p:nvPr/>
        </p:nvSpPr>
        <p:spPr bwMode="auto">
          <a:xfrm>
            <a:off x="533400" y="2286000"/>
            <a:ext cx="510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Before Splitting: 10 records of class 0,</a:t>
            </a:r>
            <a:br>
              <a:rPr lang="en-US" altLang="en-US" sz="1800"/>
            </a:br>
            <a:r>
              <a:rPr lang="en-US" altLang="en-US" sz="1800"/>
              <a:t>		10 records of class 1</a:t>
            </a:r>
            <a:endParaRPr lang="en-US" altLang="en-US" sz="1800"/>
          </a:p>
        </p:txBody>
      </p:sp>
      <p:sp>
        <p:nvSpPr>
          <p:cNvPr id="32773" name="Text Box 9"/>
          <p:cNvSpPr txBox="1">
            <a:spLocks noChangeArrowheads="1"/>
          </p:cNvSpPr>
          <p:nvPr/>
        </p:nvSpPr>
        <p:spPr bwMode="auto">
          <a:xfrm>
            <a:off x="1981200" y="5957888"/>
            <a:ext cx="510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Which test condition is the best?</a:t>
            </a:r>
            <a:endParaRPr lang="en-US" alt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1B2881E-104F-4428-945D-FE5790AEABC9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How to determine the Best Split</a:t>
            </a:r>
            <a:endParaRPr lang="en-US">
              <a:cs typeface="+mj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Greedy approach: </a:t>
            </a:r>
            <a:endParaRPr lang="en-US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/>
              <a:t>Nodes with </a:t>
            </a:r>
            <a:r>
              <a:rPr lang="en-US">
                <a:solidFill>
                  <a:srgbClr val="FF0000"/>
                </a:solidFill>
              </a:rPr>
              <a:t>purer</a:t>
            </a:r>
            <a:r>
              <a:rPr lang="en-US"/>
              <a:t> class distribution are preferred</a:t>
            </a:r>
            <a:endParaRPr lang="en-US"/>
          </a:p>
          <a:p>
            <a:pPr lvl="4">
              <a:defRPr/>
            </a:pPr>
            <a:endParaRPr lang="en-US">
              <a:latin typeface="Times New Roman" panose="02020603050405020304" pitchFamily="18" charset="0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>
                <a:cs typeface="+mn-cs"/>
              </a:rPr>
              <a:t>Need a measure of node impurity:</a:t>
            </a:r>
            <a:endParaRPr lang="en-US">
              <a:cs typeface="+mn-cs"/>
            </a:endParaRPr>
          </a:p>
          <a:p>
            <a:pPr lvl="1">
              <a:buFont typeface="Arial" panose="020B0604020202020204" pitchFamily="34" charset="0"/>
              <a:buNone/>
              <a:defRPr/>
            </a:pPr>
            <a:endParaRPr lang="en-US"/>
          </a:p>
        </p:txBody>
      </p:sp>
      <p:graphicFrame>
        <p:nvGraphicFramePr>
          <p:cNvPr id="33795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2209800" y="40386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4" name="Visio" r:id="rId1" imgW="668655" imgH="599440" progId="Visio.Drawing.6">
                  <p:embed/>
                </p:oleObj>
              </mc:Choice>
              <mc:Fallback>
                <p:oleObj name="Visio" r:id="rId1" imgW="668655" imgH="599440" progId="Visio.Drawing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0386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10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715000" y="4038600"/>
          <a:ext cx="912813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5" name="Visio" r:id="rId3" imgW="668655" imgH="599440" progId="Visio.Drawing.6">
                  <p:embed/>
                </p:oleObj>
              </mc:Choice>
              <mc:Fallback>
                <p:oleObj name="Visio" r:id="rId3" imgW="668655" imgH="599440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38600"/>
                        <a:ext cx="912813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Text Box 12"/>
          <p:cNvSpPr txBox="1">
            <a:spLocks noChangeArrowheads="1"/>
          </p:cNvSpPr>
          <p:nvPr/>
        </p:nvSpPr>
        <p:spPr bwMode="auto">
          <a:xfrm>
            <a:off x="1371600" y="5029200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High degree of impurity</a:t>
            </a:r>
            <a:endParaRPr lang="en-US" altLang="en-US" sz="1800"/>
          </a:p>
        </p:txBody>
      </p:sp>
      <p:sp>
        <p:nvSpPr>
          <p:cNvPr id="33798" name="Text Box 13"/>
          <p:cNvSpPr txBox="1">
            <a:spLocks noChangeArrowheads="1"/>
          </p:cNvSpPr>
          <p:nvPr/>
        </p:nvSpPr>
        <p:spPr bwMode="auto">
          <a:xfrm>
            <a:off x="5181600" y="5029200"/>
            <a:ext cx="2819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Low degree of impurity</a:t>
            </a:r>
            <a:endParaRPr lang="en-US" alt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8DB3AA-7E9D-4145-BD5E-7F396D8044A4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Measures of Node Impurity</a:t>
            </a:r>
            <a:endParaRPr lang="en-US">
              <a:cs typeface="+mj-cs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Gini Index</a:t>
            </a: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Entropy</a:t>
            </a: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endParaRPr lang="en-US" dirty="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dirty="0">
                <a:cs typeface="+mn-cs"/>
              </a:rPr>
              <a:t>Misclassification error</a:t>
            </a:r>
            <a:endParaRPr lang="en-US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5D98BA-5D74-4A99-B019-B5438A47F31F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613727" y="1503551"/>
                <a:ext cx="3781484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1503551"/>
                <a:ext cx="3781484" cy="1037848"/>
              </a:xfrm>
              <a:prstGeom prst="rect">
                <a:avLst/>
              </a:prstGeom>
              <a:blipFill rotWithShape="1">
                <a:blip r:embed="rId1"/>
                <a:stretch>
                  <a:fillRect l="-5" t="-49" r="7" b="-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613727" y="2857566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2857566"/>
                <a:ext cx="4259243" cy="1037848"/>
              </a:xfrm>
              <a:prstGeom prst="rect">
                <a:avLst/>
              </a:prstGeom>
              <a:blipFill rotWithShape="1">
                <a:blip r:embed="rId2"/>
                <a:stretch>
                  <a:fillRect l="-5" t="-6" r="12" b="-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613727" y="4953000"/>
                <a:ext cx="531530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𝐶𝑙𝑎𝑠𝑠𝑖𝑓𝑖𝑐𝑎𝑡𝑖𝑜𝑛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𝑒𝑟𝑟𝑜𝑟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US" sz="2400" b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400" b="0"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4953000"/>
                <a:ext cx="5315301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4" r="10" b="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562600" y="1492518"/>
                <a:ext cx="341426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000" b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is the frequency of class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0" dirty="0"/>
                  <a:t>at node </a:t>
                </a:r>
                <a:r>
                  <a:rPr lang="en-US" sz="2000" dirty="0"/>
                  <a:t>t</a:t>
                </a:r>
                <a:r>
                  <a:rPr lang="en-US" sz="2000" b="0" dirty="0"/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0" dirty="0"/>
                  <a:t>is the total number of classes  </a:t>
                </a:r>
                <a:endParaRPr lang="en-US" sz="2000" b="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492518"/>
                <a:ext cx="3414268" cy="1015663"/>
              </a:xfrm>
              <a:prstGeom prst="rect">
                <a:avLst/>
              </a:prstGeom>
              <a:blipFill rotWithShape="1">
                <a:blip r:embed="rId4"/>
                <a:stretch>
                  <a:fillRect t="-26" r="15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Finding the Best Split</a:t>
            </a:r>
            <a:endParaRPr lang="en-US">
              <a:cs typeface="+mj-cs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Monotype Sorts" charset="0"/>
              <a:buAutoNum type="arabicPeriod"/>
              <a:defRPr/>
            </a:pPr>
            <a:r>
              <a:rPr lang="en-US" dirty="0">
                <a:cs typeface="+mn-cs"/>
              </a:rPr>
              <a:t>Compute impurity measure (P) before splitting</a:t>
            </a:r>
            <a:endParaRPr lang="en-US" dirty="0">
              <a:cs typeface="+mn-cs"/>
            </a:endParaRPr>
          </a:p>
          <a:p>
            <a:pPr marL="533400" indent="-533400">
              <a:buFont typeface="Monotype Sorts" charset="0"/>
              <a:buAutoNum type="arabicPeriod"/>
              <a:defRPr/>
            </a:pPr>
            <a:r>
              <a:rPr lang="en-US" dirty="0">
                <a:cs typeface="+mn-cs"/>
              </a:rPr>
              <a:t>Compute impurity measure (M) after splitting</a:t>
            </a:r>
            <a:endParaRPr lang="en-US" dirty="0">
              <a:cs typeface="+mn-cs"/>
            </a:endParaRPr>
          </a:p>
          <a:p>
            <a:pPr lvl="2">
              <a:buFont typeface="Monotype Sorts" charset="0"/>
              <a:buChar char="l"/>
              <a:defRPr/>
            </a:pPr>
            <a:r>
              <a:rPr lang="en-US" dirty="0"/>
              <a:t> Compute impurity measure of each child node</a:t>
            </a:r>
            <a:endParaRPr lang="en-US" dirty="0"/>
          </a:p>
          <a:p>
            <a:pPr lvl="2">
              <a:buFont typeface="Monotype Sorts" charset="0"/>
              <a:buChar char="l"/>
              <a:defRPr/>
            </a:pPr>
            <a:r>
              <a:rPr lang="en-US" dirty="0"/>
              <a:t> M is the weighted impurity of child nodes</a:t>
            </a:r>
            <a:endParaRPr lang="en-US" dirty="0"/>
          </a:p>
          <a:p>
            <a:pPr marL="533400" indent="-533400">
              <a:buFont typeface="Monotype Sorts" charset="0"/>
              <a:buAutoNum type="arabicPeriod"/>
              <a:defRPr/>
            </a:pPr>
            <a:r>
              <a:rPr lang="en-US" dirty="0">
                <a:cs typeface="+mn-cs"/>
              </a:rPr>
              <a:t>Choose the attribute test condition that produces the highest gain</a:t>
            </a:r>
            <a:br>
              <a:rPr lang="en-US" dirty="0">
                <a:cs typeface="+mn-cs"/>
              </a:rPr>
            </a:br>
            <a:r>
              <a:rPr lang="en-US" dirty="0">
                <a:cs typeface="+mn-cs"/>
              </a:rPr>
              <a:t> </a:t>
            </a:r>
            <a:endParaRPr lang="en-US" dirty="0">
              <a:cs typeface="+mn-cs"/>
            </a:endParaRPr>
          </a:p>
          <a:p>
            <a:pPr marL="622300" lvl="2">
              <a:buNone/>
              <a:defRPr/>
            </a:pPr>
            <a:r>
              <a:rPr lang="en-US" b="1" dirty="0">
                <a:cs typeface="+mn-cs"/>
              </a:rPr>
              <a:t>		Gain = P - M</a:t>
            </a:r>
            <a:br>
              <a:rPr lang="en-US" b="1" dirty="0">
                <a:cs typeface="+mn-cs"/>
              </a:rPr>
            </a:br>
            <a:br>
              <a:rPr lang="en-US" dirty="0">
                <a:cs typeface="+mn-cs"/>
              </a:rPr>
            </a:br>
            <a:r>
              <a:rPr lang="en-US" dirty="0">
                <a:cs typeface="+mn-cs"/>
              </a:rPr>
              <a:t>or equivalently, lowest impurity measure after splitting (M) </a:t>
            </a:r>
            <a:endParaRPr lang="en-US" dirty="0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3FB04-30F3-4A8B-896F-A2FC78A6A289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Finding the Best Split</a:t>
            </a:r>
            <a:endParaRPr lang="en-US">
              <a:cs typeface="+mj-cs"/>
            </a:endParaRPr>
          </a:p>
        </p:txBody>
      </p:sp>
      <p:sp>
        <p:nvSpPr>
          <p:cNvPr id="36866" name="Oval 4"/>
          <p:cNvSpPr>
            <a:spLocks noChangeArrowheads="1"/>
          </p:cNvSpPr>
          <p:nvPr/>
        </p:nvSpPr>
        <p:spPr bwMode="auto">
          <a:xfrm>
            <a:off x="6477000" y="18288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6867" name="Line 5"/>
          <p:cNvSpPr>
            <a:spLocks noChangeShapeType="1"/>
          </p:cNvSpPr>
          <p:nvPr/>
        </p:nvSpPr>
        <p:spPr bwMode="auto">
          <a:xfrm flipH="1">
            <a:off x="5902325" y="22860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8" name="Line 6"/>
          <p:cNvSpPr>
            <a:spLocks noChangeShapeType="1"/>
          </p:cNvSpPr>
          <p:nvPr/>
        </p:nvSpPr>
        <p:spPr bwMode="auto">
          <a:xfrm>
            <a:off x="7010400" y="22860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69" name="Text Box 7"/>
          <p:cNvSpPr txBox="1">
            <a:spLocks noChangeArrowheads="1"/>
          </p:cNvSpPr>
          <p:nvPr/>
        </p:nvSpPr>
        <p:spPr bwMode="auto">
          <a:xfrm>
            <a:off x="5629275" y="24018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8118475" y="24018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1" name="Rectangle 9"/>
          <p:cNvSpPr>
            <a:spLocks noChangeArrowheads="1"/>
          </p:cNvSpPr>
          <p:nvPr/>
        </p:nvSpPr>
        <p:spPr bwMode="auto">
          <a:xfrm>
            <a:off x="5486400" y="30114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N3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2" name="Rectangle 10"/>
          <p:cNvSpPr>
            <a:spLocks noChangeArrowheads="1"/>
          </p:cNvSpPr>
          <p:nvPr/>
        </p:nvSpPr>
        <p:spPr bwMode="auto">
          <a:xfrm>
            <a:off x="7673975" y="30114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N4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3" name="Oval 11"/>
          <p:cNvSpPr>
            <a:spLocks noChangeArrowheads="1"/>
          </p:cNvSpPr>
          <p:nvPr/>
        </p:nvSpPr>
        <p:spPr bwMode="auto">
          <a:xfrm>
            <a:off x="1447800" y="17526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36874" name="Line 12"/>
          <p:cNvSpPr>
            <a:spLocks noChangeShapeType="1"/>
          </p:cNvSpPr>
          <p:nvPr/>
        </p:nvSpPr>
        <p:spPr bwMode="auto">
          <a:xfrm flipH="1">
            <a:off x="873125" y="22098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5" name="Line 13"/>
          <p:cNvSpPr>
            <a:spLocks noChangeShapeType="1"/>
          </p:cNvSpPr>
          <p:nvPr/>
        </p:nvSpPr>
        <p:spPr bwMode="auto">
          <a:xfrm>
            <a:off x="1981200" y="22098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76" name="Text Box 14"/>
          <p:cNvSpPr txBox="1">
            <a:spLocks noChangeArrowheads="1"/>
          </p:cNvSpPr>
          <p:nvPr/>
        </p:nvSpPr>
        <p:spPr bwMode="auto">
          <a:xfrm>
            <a:off x="600075" y="23256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7" name="Text Box 15"/>
          <p:cNvSpPr txBox="1">
            <a:spLocks noChangeArrowheads="1"/>
          </p:cNvSpPr>
          <p:nvPr/>
        </p:nvSpPr>
        <p:spPr bwMode="auto">
          <a:xfrm>
            <a:off x="3089275" y="23256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8" name="Rectangle 16"/>
          <p:cNvSpPr>
            <a:spLocks noChangeArrowheads="1"/>
          </p:cNvSpPr>
          <p:nvPr/>
        </p:nvSpPr>
        <p:spPr bwMode="auto">
          <a:xfrm>
            <a:off x="457200" y="29352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79" name="Rectangle 17"/>
          <p:cNvSpPr>
            <a:spLocks noChangeArrowheads="1"/>
          </p:cNvSpPr>
          <p:nvPr/>
        </p:nvSpPr>
        <p:spPr bwMode="auto">
          <a:xfrm>
            <a:off x="2644775" y="29352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36880" name="Text Box 18"/>
          <p:cNvSpPr txBox="1">
            <a:spLocks noChangeArrowheads="1"/>
          </p:cNvSpPr>
          <p:nvPr/>
        </p:nvSpPr>
        <p:spPr bwMode="auto">
          <a:xfrm>
            <a:off x="1905000" y="1066800"/>
            <a:ext cx="198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Before Splitting:</a:t>
            </a:r>
            <a:endParaRPr lang="en-US" altLang="en-US" sz="1800"/>
          </a:p>
        </p:txBody>
      </p:sp>
      <p:graphicFrame>
        <p:nvGraphicFramePr>
          <p:cNvPr id="36881" name="Object 20"/>
          <p:cNvGraphicFramePr>
            <a:graphicFrameLocks noGrp="1" noChangeAspect="1"/>
          </p:cNvGraphicFramePr>
          <p:nvPr>
            <p:ph idx="1"/>
          </p:nvPr>
        </p:nvGraphicFramePr>
        <p:xfrm>
          <a:off x="80963" y="3581400"/>
          <a:ext cx="1665287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62" name="Document" r:id="rId1" imgW="3321050" imgH="1393825" progId="Word.Document.8">
                  <p:embed/>
                </p:oleObj>
              </mc:Choice>
              <mc:Fallback>
                <p:oleObj name="Document" r:id="rId1" imgW="3321050" imgH="1393825" progId="Word.Document.8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3" y="3581400"/>
                        <a:ext cx="1665287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2" name="Object 27"/>
          <p:cNvGraphicFramePr>
            <a:graphicFrameLocks noChangeAspect="1"/>
          </p:cNvGraphicFramePr>
          <p:nvPr/>
        </p:nvGraphicFramePr>
        <p:xfrm>
          <a:off x="2366963" y="35861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63" name="Document" r:id="rId3" imgW="3321050" imgH="1393825" progId="Word.Document.8">
                  <p:embed/>
                </p:oleObj>
              </mc:Choice>
              <mc:Fallback>
                <p:oleObj name="Document" r:id="rId3" imgW="3321050" imgH="1393825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35861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3" name="Object 28"/>
          <p:cNvGraphicFramePr>
            <a:graphicFrameLocks noChangeAspect="1"/>
          </p:cNvGraphicFramePr>
          <p:nvPr/>
        </p:nvGraphicFramePr>
        <p:xfrm>
          <a:off x="5110163" y="3586163"/>
          <a:ext cx="1636712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64" name="Document" r:id="rId5" imgW="3336290" imgH="1393825" progId="Word.Document.8">
                  <p:embed/>
                </p:oleObj>
              </mc:Choice>
              <mc:Fallback>
                <p:oleObj name="Document" r:id="rId5" imgW="3336290" imgH="1393825" progId="Word.Document.8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3586163"/>
                        <a:ext cx="1636712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4" name="Object 29"/>
          <p:cNvGraphicFramePr>
            <a:graphicFrameLocks noChangeAspect="1"/>
          </p:cNvGraphicFramePr>
          <p:nvPr/>
        </p:nvGraphicFramePr>
        <p:xfrm>
          <a:off x="7396163" y="3586163"/>
          <a:ext cx="1595437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65" name="Document" r:id="rId7" imgW="3343910" imgH="1393825" progId="Word.Document.8">
                  <p:embed/>
                </p:oleObj>
              </mc:Choice>
              <mc:Fallback>
                <p:oleObj name="Document" r:id="rId7" imgW="3343910" imgH="1393825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6163" y="3586163"/>
                        <a:ext cx="1595437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5" name="Object 33"/>
          <p:cNvGraphicFramePr>
            <a:graphicFrameLocks noChangeAspect="1"/>
          </p:cNvGraphicFramePr>
          <p:nvPr/>
        </p:nvGraphicFramePr>
        <p:xfrm>
          <a:off x="3962400" y="1066800"/>
          <a:ext cx="1595438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66" name="Document" r:id="rId9" imgW="3328670" imgH="1393825" progId="Word.Document.8">
                  <p:embed/>
                </p:oleObj>
              </mc:Choice>
              <mc:Fallback>
                <p:oleObj name="Document" r:id="rId9" imgW="3328670" imgH="1393825" progId="Word.Document.8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066800"/>
                        <a:ext cx="1595438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722" name="Group 50"/>
          <p:cNvGrpSpPr/>
          <p:nvPr/>
        </p:nvGrpSpPr>
        <p:grpSpPr bwMode="auto">
          <a:xfrm>
            <a:off x="5715000" y="1066800"/>
            <a:ext cx="1295400" cy="396875"/>
            <a:chOff x="3600" y="768"/>
            <a:chExt cx="816" cy="250"/>
          </a:xfrm>
        </p:grpSpPr>
        <p:sp>
          <p:nvSpPr>
            <p:cNvPr id="36905" name="Line 34"/>
            <p:cNvSpPr>
              <a:spLocks noChangeShapeType="1"/>
            </p:cNvSpPr>
            <p:nvPr/>
          </p:nvSpPr>
          <p:spPr bwMode="auto">
            <a:xfrm>
              <a:off x="3600" y="912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Text Box 35"/>
            <p:cNvSpPr txBox="1">
              <a:spLocks noChangeArrowheads="1"/>
            </p:cNvSpPr>
            <p:nvPr/>
          </p:nvSpPr>
          <p:spPr bwMode="auto">
            <a:xfrm>
              <a:off x="3984" y="76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P</a:t>
              </a:r>
              <a:endParaRPr lang="en-US" altLang="en-US" sz="2000"/>
            </a:p>
          </p:txBody>
        </p:sp>
      </p:grpSp>
      <p:grpSp>
        <p:nvGrpSpPr>
          <p:cNvPr id="924720" name="Group 48"/>
          <p:cNvGrpSpPr/>
          <p:nvPr/>
        </p:nvGrpSpPr>
        <p:grpSpPr bwMode="auto">
          <a:xfrm>
            <a:off x="609600" y="4343400"/>
            <a:ext cx="8001000" cy="854075"/>
            <a:chOff x="384" y="2832"/>
            <a:chExt cx="5040" cy="538"/>
          </a:xfrm>
        </p:grpSpPr>
        <p:sp>
          <p:nvSpPr>
            <p:cNvPr id="36897" name="Text Box 36"/>
            <p:cNvSpPr txBox="1">
              <a:spLocks noChangeArrowheads="1"/>
            </p:cNvSpPr>
            <p:nvPr/>
          </p:nvSpPr>
          <p:spPr bwMode="auto">
            <a:xfrm>
              <a:off x="384" y="312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M11</a:t>
              </a:r>
              <a:endParaRPr lang="en-US" altLang="en-US" sz="2000"/>
            </a:p>
          </p:txBody>
        </p:sp>
        <p:sp>
          <p:nvSpPr>
            <p:cNvPr id="36898" name="Text Box 37"/>
            <p:cNvSpPr txBox="1">
              <a:spLocks noChangeArrowheads="1"/>
            </p:cNvSpPr>
            <p:nvPr/>
          </p:nvSpPr>
          <p:spPr bwMode="auto">
            <a:xfrm>
              <a:off x="1824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M12</a:t>
              </a:r>
              <a:endParaRPr lang="en-US" altLang="en-US" sz="2000"/>
            </a:p>
          </p:txBody>
        </p:sp>
        <p:sp>
          <p:nvSpPr>
            <p:cNvPr id="36899" name="Text Box 38"/>
            <p:cNvSpPr txBox="1">
              <a:spLocks noChangeArrowheads="1"/>
            </p:cNvSpPr>
            <p:nvPr/>
          </p:nvSpPr>
          <p:spPr bwMode="auto">
            <a:xfrm>
              <a:off x="3600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M21</a:t>
              </a:r>
              <a:endParaRPr lang="en-US" altLang="en-US" sz="2000"/>
            </a:p>
          </p:txBody>
        </p:sp>
        <p:sp>
          <p:nvSpPr>
            <p:cNvPr id="36900" name="Text Box 39"/>
            <p:cNvSpPr txBox="1">
              <a:spLocks noChangeArrowheads="1"/>
            </p:cNvSpPr>
            <p:nvPr/>
          </p:nvSpPr>
          <p:spPr bwMode="auto">
            <a:xfrm>
              <a:off x="4992" y="3110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M22</a:t>
              </a:r>
              <a:endParaRPr lang="en-US" altLang="en-US" sz="2000"/>
            </a:p>
          </p:txBody>
        </p:sp>
        <p:sp>
          <p:nvSpPr>
            <p:cNvPr id="36901" name="Line 40"/>
            <p:cNvSpPr>
              <a:spLocks noChangeShapeType="1"/>
            </p:cNvSpPr>
            <p:nvPr/>
          </p:nvSpPr>
          <p:spPr bwMode="auto">
            <a:xfrm>
              <a:off x="528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Line 41"/>
            <p:cNvSpPr>
              <a:spLocks noChangeShapeType="1"/>
            </p:cNvSpPr>
            <p:nvPr/>
          </p:nvSpPr>
          <p:spPr bwMode="auto">
            <a:xfrm>
              <a:off x="2016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Line 42"/>
            <p:cNvSpPr>
              <a:spLocks noChangeShapeType="1"/>
            </p:cNvSpPr>
            <p:nvPr/>
          </p:nvSpPr>
          <p:spPr bwMode="auto">
            <a:xfrm>
              <a:off x="374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Line 43"/>
            <p:cNvSpPr>
              <a:spLocks noChangeShapeType="1"/>
            </p:cNvSpPr>
            <p:nvPr/>
          </p:nvSpPr>
          <p:spPr bwMode="auto">
            <a:xfrm>
              <a:off x="5184" y="2832"/>
              <a:ext cx="0" cy="2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4721" name="Group 49"/>
          <p:cNvGrpSpPr/>
          <p:nvPr/>
        </p:nvGrpSpPr>
        <p:grpSpPr bwMode="auto">
          <a:xfrm>
            <a:off x="762000" y="5257800"/>
            <a:ext cx="7620000" cy="777875"/>
            <a:chOff x="480" y="3408"/>
            <a:chExt cx="4800" cy="490"/>
          </a:xfrm>
        </p:grpSpPr>
        <p:sp>
          <p:nvSpPr>
            <p:cNvPr id="36893" name="AutoShape 44"/>
            <p:cNvSpPr/>
            <p:nvPr/>
          </p:nvSpPr>
          <p:spPr bwMode="auto">
            <a:xfrm rot="-5400000">
              <a:off x="1152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894" name="AutoShape 45"/>
            <p:cNvSpPr/>
            <p:nvPr/>
          </p:nvSpPr>
          <p:spPr bwMode="auto">
            <a:xfrm rot="-5400000">
              <a:off x="4416" y="2736"/>
              <a:ext cx="192" cy="1536"/>
            </a:xfrm>
            <a:prstGeom prst="leftBrace">
              <a:avLst>
                <a:gd name="adj1" fmla="val 66667"/>
                <a:gd name="adj2" fmla="val 50963"/>
              </a:avLst>
            </a:prstGeom>
            <a:noFill/>
            <a:ln w="25400">
              <a:solidFill>
                <a:srgbClr val="1C5A6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400"/>
            </a:p>
          </p:txBody>
        </p:sp>
        <p:sp>
          <p:nvSpPr>
            <p:cNvPr id="36895" name="Text Box 46"/>
            <p:cNvSpPr txBox="1">
              <a:spLocks noChangeArrowheads="1"/>
            </p:cNvSpPr>
            <p:nvPr/>
          </p:nvSpPr>
          <p:spPr bwMode="auto">
            <a:xfrm>
              <a:off x="1056" y="363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M1</a:t>
              </a:r>
              <a:endParaRPr lang="en-US" altLang="en-US" sz="2000"/>
            </a:p>
          </p:txBody>
        </p:sp>
        <p:sp>
          <p:nvSpPr>
            <p:cNvPr id="36896" name="Text Box 47"/>
            <p:cNvSpPr txBox="1">
              <a:spLocks noChangeArrowheads="1"/>
            </p:cNvSpPr>
            <p:nvPr/>
          </p:nvSpPr>
          <p:spPr bwMode="auto">
            <a:xfrm>
              <a:off x="4320" y="3648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2000"/>
                <a:t>M2</a:t>
              </a:r>
              <a:endParaRPr lang="en-US" altLang="en-US" sz="2000"/>
            </a:p>
          </p:txBody>
        </p:sp>
      </p:grpSp>
      <p:sp>
        <p:nvSpPr>
          <p:cNvPr id="924723" name="Text Box 51"/>
          <p:cNvSpPr txBox="1">
            <a:spLocks noChangeArrowheads="1"/>
          </p:cNvSpPr>
          <p:nvPr/>
        </p:nvSpPr>
        <p:spPr bwMode="auto">
          <a:xfrm>
            <a:off x="2819400" y="5927725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Gain = P – M1    vs      P – M2</a:t>
            </a: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D4573C-EC14-49A9-8668-FF8B33BC1AFD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7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Measure of Impurity: GINI</a:t>
            </a:r>
            <a:endParaRPr lang="en-US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890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11163" y="1143000"/>
                <a:ext cx="8318500" cy="43434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altLang="en-US" sz="2400" dirty="0">
                    <a:ea typeface="MS PGothic" panose="020B0600070205080204" pitchFamily="34" charset="-128"/>
                  </a:rPr>
                  <a:t>Gini Index for a given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en-US" sz="2400" dirty="0">
                    <a:ea typeface="MS PGothic" panose="020B0600070205080204" pitchFamily="34" charset="-128"/>
                  </a:rPr>
                  <a:t> </a:t>
                </a:r>
                <a:endParaRPr lang="en-US" altLang="en-US" sz="2400" dirty="0">
                  <a:ea typeface="MS PGothic" panose="020B0600070205080204" pitchFamily="34" charset="-128"/>
                </a:endParaRPr>
              </a:p>
              <a:p>
                <a:pPr>
                  <a:lnSpc>
                    <a:spcPct val="90000"/>
                  </a:lnSpc>
                </a:pPr>
                <a:endParaRPr lang="en-US" altLang="en-US" sz="2000" dirty="0">
                  <a:ea typeface="MS PGothic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2000" dirty="0">
                  <a:ea typeface="MS PGothic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800" dirty="0">
                  <a:ea typeface="MS PGothic" panose="020B0600070205080204" pitchFamily="34" charset="-128"/>
                </a:endParaRPr>
              </a:p>
              <a:p>
                <a:pPr lvl="2">
                  <a:lnSpc>
                    <a:spcPct val="90000"/>
                  </a:lnSpc>
                  <a:buNone/>
                </a:pPr>
                <a:br>
                  <a:rPr lang="en-US" altLang="en-US" sz="2000" dirty="0">
                    <a:ea typeface="MS PGothic" panose="020B0600070205080204" pitchFamily="34" charset="-128"/>
                  </a:rPr>
                </a:b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frequency of class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 at node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000" dirty="0"/>
                  <a:t> is the total number of classes  </a:t>
                </a:r>
                <a:endParaRPr lang="en-US" sz="2000" dirty="0"/>
              </a:p>
              <a:p>
                <a:pPr lvl="2"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endParaRPr lang="en-US" altLang="en-US" sz="800" dirty="0">
                  <a:ea typeface="MS PGothic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400" dirty="0">
                    <a:ea typeface="MS PGothic" panose="020B0600070205080204" pitchFamily="34" charset="-128"/>
                  </a:rPr>
                  <a:t>Maximum  of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400" dirty="0">
                    <a:ea typeface="MS PGothic" panose="020B0600070205080204" pitchFamily="34" charset="-128"/>
                  </a:rPr>
                  <a:t>when records are equally distributed among all classes, implying the least beneficial situation for classification</a:t>
                </a:r>
                <a:endParaRPr lang="en-US" altLang="en-US" sz="2400" dirty="0">
                  <a:ea typeface="MS PGothic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altLang="en-US" sz="2400" dirty="0">
                    <a:ea typeface="MS PGothic" panose="020B0600070205080204" pitchFamily="34" charset="-128"/>
                  </a:rPr>
                  <a:t>Minimum  of 0 when all records belong to one class, implying the most beneficial situation for classification</a:t>
                </a:r>
                <a:endParaRPr lang="en-US" altLang="en-US" sz="2400" dirty="0">
                  <a:ea typeface="MS PGothic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r>
                  <a:rPr lang="en-US" sz="2400" dirty="0"/>
                  <a:t>Gini index is used in decision tree algorithms such as CART, SLIQ, SPRINT</a:t>
                </a:r>
                <a:endParaRPr lang="en-US" sz="3200" dirty="0"/>
              </a:p>
              <a:p>
                <a:pPr lvl="1">
                  <a:lnSpc>
                    <a:spcPct val="90000"/>
                  </a:lnSpc>
                </a:pPr>
                <a:endParaRPr lang="en-US" altLang="en-US" sz="2400" dirty="0">
                  <a:ea typeface="MS PGothic" panose="020B0600070205080204" pitchFamily="34" charset="-128"/>
                </a:endParaRPr>
              </a:p>
              <a:p>
                <a:pPr lvl="1">
                  <a:lnSpc>
                    <a:spcPct val="90000"/>
                  </a:lnSpc>
                </a:pPr>
                <a:endParaRPr lang="en-US" altLang="en-US" sz="2400" baseline="-25000" dirty="0">
                  <a:ea typeface="MS PGothic" panose="020B0600070205080204" pitchFamily="34" charset="-128"/>
                </a:endParaRPr>
              </a:p>
            </p:txBody>
          </p:sp>
        </mc:Choice>
        <mc:Fallback>
          <p:sp>
            <p:nvSpPr>
              <p:cNvPr id="37890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1163" y="1143000"/>
                <a:ext cx="8318500" cy="4343400"/>
              </a:xfrm>
              <a:blipFill rotWithShape="1">
                <a:blip r:embed="rId1"/>
                <a:stretch>
                  <a:fillRect l="-4" r="4" b="-30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C5890E-E3F5-402E-A1DF-E58C362003D1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613727" y="1629152"/>
                <a:ext cx="384881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727" y="1629152"/>
                <a:ext cx="3848810" cy="1037848"/>
              </a:xfrm>
              <a:prstGeom prst="rect">
                <a:avLst/>
              </a:prstGeom>
              <a:blipFill rotWithShape="1">
                <a:blip r:embed="rId2"/>
                <a:stretch>
                  <a:fillRect l="-5" t="-36" r="-505" b="-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Measure of Impurity: GINI</a:t>
            </a:r>
            <a:endParaRPr lang="en-US">
              <a:cs typeface="+mj-cs"/>
            </a:endParaRP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3962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Gini Index for a given node t :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8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br>
              <a:rPr lang="en-US" altLang="en-US" sz="2000" dirty="0">
                <a:ea typeface="MS PGothic" panose="020B0600070205080204" pitchFamily="34" charset="-128"/>
              </a:rPr>
            </a:br>
            <a:endParaRPr lang="en-US" altLang="en-US" sz="800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sz="2400" dirty="0">
                <a:ea typeface="MS PGothic" panose="020B0600070205080204" pitchFamily="34" charset="-128"/>
              </a:rPr>
              <a:t>For 2-class problem (p, 1 – p):</a:t>
            </a:r>
            <a:endParaRPr lang="en-US" altLang="en-US" sz="2400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 GINI = 1 – p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2</a:t>
            </a:r>
            <a:r>
              <a:rPr lang="en-US" altLang="en-US" sz="2000" dirty="0">
                <a:ea typeface="MS PGothic" panose="020B0600070205080204" pitchFamily="34" charset="-128"/>
              </a:rPr>
              <a:t> – (1 – p)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2</a:t>
            </a:r>
            <a:r>
              <a:rPr lang="en-US" altLang="en-US" sz="2000" dirty="0">
                <a:ea typeface="MS PGothic" panose="020B0600070205080204" pitchFamily="34" charset="-128"/>
              </a:rPr>
              <a:t> = 2p (1-p)</a:t>
            </a:r>
            <a:endParaRPr lang="en-US" altLang="en-US" sz="1600" baseline="30000" dirty="0">
              <a:ea typeface="MS PGothic" panose="020B0600070205080204" pitchFamily="34" charset="-128"/>
            </a:endParaRPr>
          </a:p>
        </p:txBody>
      </p:sp>
      <p:graphicFrame>
        <p:nvGraphicFramePr>
          <p:cNvPr id="38916" name="Object 1"/>
          <p:cNvGraphicFramePr>
            <a:graphicFrameLocks noChangeAspect="1"/>
          </p:cNvGraphicFramePr>
          <p:nvPr/>
        </p:nvGraphicFramePr>
        <p:xfrm>
          <a:off x="1295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8" name="Document" r:id="rId1" imgW="3284220" imgH="1970405" progId="Word.Document.8">
                  <p:embed/>
                </p:oleObj>
              </mc:Choice>
              <mc:Fallback>
                <p:oleObj name="Document" r:id="rId1" imgW="3284220" imgH="1970405" progId="Word.Documen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2"/>
          <p:cNvGraphicFramePr>
            <a:graphicFrameLocks noChangeAspect="1"/>
          </p:cNvGraphicFramePr>
          <p:nvPr/>
        </p:nvGraphicFramePr>
        <p:xfrm>
          <a:off x="45720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29" name="Document" r:id="rId3" imgW="3284220" imgH="1970405" progId="Word.Document.8">
                  <p:embed/>
                </p:oleObj>
              </mc:Choice>
              <mc:Fallback>
                <p:oleObj name="Document" r:id="rId3" imgW="3284220" imgH="197040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3"/>
          <p:cNvGraphicFramePr>
            <a:graphicFrameLocks noChangeAspect="1"/>
          </p:cNvGraphicFramePr>
          <p:nvPr/>
        </p:nvGraphicFramePr>
        <p:xfrm>
          <a:off x="62484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0" name="Document" r:id="rId5" imgW="3284220" imgH="1970405" progId="Word.Document.8">
                  <p:embed/>
                </p:oleObj>
              </mc:Choice>
              <mc:Fallback>
                <p:oleObj name="Document" r:id="rId5" imgW="3284220" imgH="1970405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9" name="Object 4"/>
          <p:cNvGraphicFramePr>
            <a:graphicFrameLocks noChangeAspect="1"/>
          </p:cNvGraphicFramePr>
          <p:nvPr/>
        </p:nvGraphicFramePr>
        <p:xfrm>
          <a:off x="2971800" y="4572000"/>
          <a:ext cx="1371600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1" name="Document" r:id="rId7" imgW="3284220" imgH="1970405" progId="Word.Document.8">
                  <p:embed/>
                </p:oleObj>
              </mc:Choice>
              <mc:Fallback>
                <p:oleObj name="Document" r:id="rId7" imgW="3284220" imgH="197040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572000"/>
                        <a:ext cx="1371600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62B9CE-DD13-4C04-8E3A-BE1A957B656B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657350" y="1819652"/>
                <a:ext cx="384881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1819652"/>
                <a:ext cx="3848810" cy="1037848"/>
              </a:xfrm>
              <a:prstGeom prst="rect">
                <a:avLst/>
              </a:prstGeom>
              <a:blipFill rotWithShape="1">
                <a:blip r:embed="rId9"/>
                <a:stretch>
                  <a:fillRect t="-36" r="-510" b="-3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Gini Index of a Single Node</a:t>
            </a:r>
            <a:endParaRPr lang="en-US">
              <a:cs typeface="+mj-cs"/>
            </a:endParaRPr>
          </a:p>
        </p:txBody>
      </p:sp>
      <p:graphicFrame>
        <p:nvGraphicFramePr>
          <p:cNvPr id="39938" name="Object 5"/>
          <p:cNvGraphicFramePr>
            <a:graphicFrameLocks noChangeAspect="1"/>
          </p:cNvGraphicFramePr>
          <p:nvPr/>
        </p:nvGraphicFramePr>
        <p:xfrm>
          <a:off x="4572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8" name="Document" r:id="rId1" imgW="3238500" imgH="1357630" progId="Word.Document.8">
                  <p:embed/>
                </p:oleObj>
              </mc:Choice>
              <mc:Fallback>
                <p:oleObj name="Document" r:id="rId1" imgW="3238500" imgH="135763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6"/>
          <p:cNvGraphicFramePr>
            <a:graphicFrameLocks noChangeAspect="1"/>
          </p:cNvGraphicFramePr>
          <p:nvPr/>
        </p:nvGraphicFramePr>
        <p:xfrm>
          <a:off x="5334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9" name="Document" r:id="rId3" imgW="3238500" imgH="1382395" progId="Word.Document.8">
                  <p:embed/>
                </p:oleObj>
              </mc:Choice>
              <mc:Fallback>
                <p:oleObj name="Document" r:id="rId3" imgW="3238500" imgH="138239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8"/>
          <p:cNvGraphicFramePr>
            <a:graphicFrameLocks noChangeAspect="1"/>
          </p:cNvGraphicFramePr>
          <p:nvPr/>
        </p:nvGraphicFramePr>
        <p:xfrm>
          <a:off x="5334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80" name="Document" r:id="rId5" imgW="3238500" imgH="1357630" progId="Word.Document.8">
                  <p:embed/>
                </p:oleObj>
              </mc:Choice>
              <mc:Fallback>
                <p:oleObj name="Document" r:id="rId5" imgW="3238500" imgH="1357630" progId="Word.Documen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10"/>
          <p:cNvSpPr txBox="1">
            <a:spLocks noChangeArrowheads="1"/>
          </p:cNvSpPr>
          <p:nvPr/>
        </p:nvSpPr>
        <p:spPr bwMode="auto">
          <a:xfrm>
            <a:off x="3048000" y="2339975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0/6 = 0     P(C2) = 6/6 = 1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 = 1 – P(C1)</a:t>
            </a:r>
            <a:r>
              <a:rPr lang="en-US" altLang="en-US" sz="2000" baseline="30000"/>
              <a:t>2 </a:t>
            </a:r>
            <a:r>
              <a:rPr lang="en-US" altLang="en-US" sz="2000"/>
              <a:t>– P(C2)</a:t>
            </a:r>
            <a:r>
              <a:rPr lang="en-US" altLang="en-US" sz="2000" baseline="30000"/>
              <a:t>2</a:t>
            </a:r>
            <a:r>
              <a:rPr lang="en-US" altLang="en-US" sz="2000"/>
              <a:t> = 1 – 0 – 1 = 0 </a:t>
            </a:r>
            <a:endParaRPr lang="en-US" altLang="en-US" sz="2000"/>
          </a:p>
        </p:txBody>
      </p:sp>
      <p:sp>
        <p:nvSpPr>
          <p:cNvPr id="39943" name="Text Box 12"/>
          <p:cNvSpPr txBox="1">
            <a:spLocks noChangeArrowheads="1"/>
          </p:cNvSpPr>
          <p:nvPr/>
        </p:nvSpPr>
        <p:spPr bwMode="auto">
          <a:xfrm>
            <a:off x="3124200" y="3817938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1/6          P(C2) = 5/6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 = 1 – (1/6)</a:t>
            </a:r>
            <a:r>
              <a:rPr lang="en-US" altLang="en-US" sz="2000" baseline="30000"/>
              <a:t>2 </a:t>
            </a:r>
            <a:r>
              <a:rPr lang="en-US" altLang="en-US" sz="2000"/>
              <a:t>– (5/6)</a:t>
            </a:r>
            <a:r>
              <a:rPr lang="en-US" altLang="en-US" sz="2000" baseline="30000"/>
              <a:t>2</a:t>
            </a:r>
            <a:r>
              <a:rPr lang="en-US" altLang="en-US" sz="2000"/>
              <a:t> = 0.278</a:t>
            </a:r>
            <a:endParaRPr lang="en-US" altLang="en-US" sz="2000"/>
          </a:p>
        </p:txBody>
      </p:sp>
      <p:sp>
        <p:nvSpPr>
          <p:cNvPr id="39944" name="Text Box 13"/>
          <p:cNvSpPr txBox="1">
            <a:spLocks noChangeArrowheads="1"/>
          </p:cNvSpPr>
          <p:nvPr/>
        </p:nvSpPr>
        <p:spPr bwMode="auto">
          <a:xfrm>
            <a:off x="3124200" y="5105400"/>
            <a:ext cx="5181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 = 1 – (2/6)</a:t>
            </a:r>
            <a:r>
              <a:rPr lang="en-US" altLang="en-US" sz="2000" baseline="30000"/>
              <a:t>2 </a:t>
            </a:r>
            <a:r>
              <a:rPr lang="en-US" altLang="en-US" sz="2000"/>
              <a:t>– (4/6)</a:t>
            </a:r>
            <a:r>
              <a:rPr lang="en-US" altLang="en-US" sz="2000" baseline="30000"/>
              <a:t>2</a:t>
            </a:r>
            <a:r>
              <a:rPr lang="en-US" altLang="en-US" sz="2000"/>
              <a:t> = 0.444</a:t>
            </a: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0C5DB0-FAEB-48A8-BECF-D2B899EB371D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209800" y="1031458"/>
                <a:ext cx="3848810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𝐼𝑛𝑑𝑒𝑥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1031458"/>
                <a:ext cx="3848810" cy="1037848"/>
              </a:xfrm>
              <a:prstGeom prst="rect">
                <a:avLst/>
              </a:prstGeom>
              <a:blipFill rotWithShape="1">
                <a:blip r:embed="rId7"/>
                <a:stretch>
                  <a:fillRect t="-21" r="-510" b="-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Gini Index for a Collection of Nodes</a:t>
            </a:r>
            <a:endParaRPr lang="en-US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819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5181600"/>
              </a:xfrm>
            </p:spPr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400" dirty="0">
                    <a:cs typeface="+mn-cs"/>
                  </a:rPr>
                  <a:t>When a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cs typeface="+mn-cs"/>
                  </a:rPr>
                  <a:t> is split into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cs typeface="+mn-cs"/>
                  </a:rPr>
                  <a:t> partitions (children)</a:t>
                </a: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>
                    <a:cs typeface="+mn-cs"/>
                  </a:rPr>
                  <a:t>	</a:t>
                </a: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>
                    <a:cs typeface="+mn-cs"/>
                  </a:rPr>
                  <a:t>	where,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cs typeface="+mn-cs"/>
                  </a:rPr>
                  <a:t> = number of records at child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cs typeface="+mn-cs"/>
                  </a:rPr>
                  <a:t>,</a:t>
                </a: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>
                    <a:cs typeface="+mn-cs"/>
                  </a:rPr>
                  <a:t>    			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aseline="-25000" dirty="0">
                    <a:cs typeface="+mn-cs"/>
                  </a:rPr>
                  <a:t> </a:t>
                </a:r>
                <a:r>
                  <a:rPr lang="en-US" sz="2400" dirty="0">
                    <a:cs typeface="+mn-cs"/>
                  </a:rPr>
                  <a:t> = number of records at parent node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cs typeface="+mn-cs"/>
                  </a:rPr>
                  <a:t>.</a:t>
                </a:r>
                <a:endParaRPr lang="en-US" sz="2400" dirty="0">
                  <a:cs typeface="+mn-cs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cs typeface="+mn-cs"/>
                </a:endParaRPr>
              </a:p>
              <a:p>
                <a:pPr lvl="4">
                  <a:defRPr/>
                </a:pPr>
                <a:endParaRPr lang="en-US" sz="18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81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51816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3FBC28-9F6C-4917-A5BA-4447E0D72FE2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981200" y="1752600"/>
                <a:ext cx="3535007" cy="10459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𝐺𝐼𝑁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𝐺𝐼𝑁𝐼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752600"/>
                <a:ext cx="3535007" cy="1045927"/>
              </a:xfrm>
              <a:prstGeom prst="rect">
                <a:avLst/>
              </a:prstGeom>
              <a:blipFill rotWithShape="1">
                <a:blip r:embed="rId2"/>
                <a:stretch>
                  <a:fillRect r="-594" b="-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106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Binary Attributes: Computing GINI Index</a:t>
            </a:r>
            <a:endParaRPr lang="en-US" sz="2800">
              <a:cs typeface="+mj-cs"/>
            </a:endParaRPr>
          </a:p>
        </p:txBody>
      </p:sp>
      <p:sp>
        <p:nvSpPr>
          <p:cNvPr id="41986" name="Rectangle 3"/>
          <p:cNvSpPr>
            <a:spLocks noChangeArrowheads="1"/>
          </p:cNvSpPr>
          <p:nvPr/>
        </p:nvSpPr>
        <p:spPr bwMode="auto">
          <a:xfrm>
            <a:off x="304800" y="1143000"/>
            <a:ext cx="8178800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92100" indent="-2921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400" b="0" dirty="0"/>
              <a:t>Splits into two partitions (child nodes)</a:t>
            </a:r>
            <a:endParaRPr lang="en-US" altLang="en-US" sz="2400" b="0" dirty="0"/>
          </a:p>
          <a:p>
            <a:r>
              <a:rPr lang="en-US" altLang="en-US" sz="2400" b="0" dirty="0"/>
              <a:t>Effect of Weighing partitions: </a:t>
            </a:r>
            <a:endParaRPr lang="en-US" altLang="en-US" sz="2400" b="0" dirty="0"/>
          </a:p>
          <a:p>
            <a:pPr lvl="1"/>
            <a:r>
              <a:rPr lang="en-US" altLang="en-US" sz="2400" b="0" dirty="0"/>
              <a:t>Larger and purer partitions are sought</a:t>
            </a:r>
            <a:endParaRPr lang="en-US" altLang="en-US" sz="2400" b="0" dirty="0"/>
          </a:p>
        </p:txBody>
      </p:sp>
      <p:sp>
        <p:nvSpPr>
          <p:cNvPr id="41987" name="Oval 4"/>
          <p:cNvSpPr>
            <a:spLocks noChangeArrowheads="1"/>
          </p:cNvSpPr>
          <p:nvPr/>
        </p:nvSpPr>
        <p:spPr bwMode="auto">
          <a:xfrm>
            <a:off x="3657600" y="2862263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B?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41988" name="Line 5"/>
          <p:cNvSpPr>
            <a:spLocks noChangeShapeType="1"/>
          </p:cNvSpPr>
          <p:nvPr/>
        </p:nvSpPr>
        <p:spPr bwMode="auto">
          <a:xfrm flipH="1">
            <a:off x="3082925" y="3319463"/>
            <a:ext cx="11080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89" name="Line 6"/>
          <p:cNvSpPr>
            <a:spLocks noChangeShapeType="1"/>
          </p:cNvSpPr>
          <p:nvPr/>
        </p:nvSpPr>
        <p:spPr bwMode="auto">
          <a:xfrm>
            <a:off x="4191000" y="3319463"/>
            <a:ext cx="118427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990" name="Text Box 7"/>
          <p:cNvSpPr txBox="1">
            <a:spLocks noChangeArrowheads="1"/>
          </p:cNvSpPr>
          <p:nvPr/>
        </p:nvSpPr>
        <p:spPr bwMode="auto">
          <a:xfrm>
            <a:off x="2809875" y="343535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41991" name="Text Box 8"/>
          <p:cNvSpPr txBox="1">
            <a:spLocks noChangeArrowheads="1"/>
          </p:cNvSpPr>
          <p:nvPr/>
        </p:nvSpPr>
        <p:spPr bwMode="auto">
          <a:xfrm>
            <a:off x="5299075" y="3435350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41992" name="Rectangle 9"/>
          <p:cNvSpPr>
            <a:spLocks noChangeArrowheads="1"/>
          </p:cNvSpPr>
          <p:nvPr/>
        </p:nvSpPr>
        <p:spPr bwMode="auto">
          <a:xfrm>
            <a:off x="2667000" y="4044950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41993" name="Rectangle 10"/>
          <p:cNvSpPr>
            <a:spLocks noChangeArrowheads="1"/>
          </p:cNvSpPr>
          <p:nvPr/>
        </p:nvSpPr>
        <p:spPr bwMode="auto">
          <a:xfrm>
            <a:off x="4854575" y="4044950"/>
            <a:ext cx="936625" cy="3413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graphicFrame>
        <p:nvGraphicFramePr>
          <p:cNvPr id="41994" name="Object 11"/>
          <p:cNvGraphicFramePr>
            <a:graphicFrameLocks noChangeAspect="1"/>
          </p:cNvGraphicFramePr>
          <p:nvPr/>
        </p:nvGraphicFramePr>
        <p:xfrm>
          <a:off x="6553200" y="2590800"/>
          <a:ext cx="1981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6" name="Document" r:id="rId1" imgW="3177540" imgH="3047365" progId="Word.Document.8">
                  <p:embed/>
                </p:oleObj>
              </mc:Choice>
              <mc:Fallback>
                <p:oleObj name="Document" r:id="rId1" imgW="3177540" imgH="3047365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590800"/>
                        <a:ext cx="19812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5" name="Object 12"/>
          <p:cNvGraphicFramePr>
            <a:graphicFrameLocks noChangeAspect="1"/>
          </p:cNvGraphicFramePr>
          <p:nvPr/>
        </p:nvGraphicFramePr>
        <p:xfrm>
          <a:off x="3276600" y="46482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47" name="Document" r:id="rId3" imgW="3265805" imgH="2548255" progId="Word.Document.8">
                  <p:embed/>
                </p:oleObj>
              </mc:Choice>
              <mc:Fallback>
                <p:oleObj name="Document" r:id="rId3" imgW="3265805" imgH="2548255" progId="Word.Document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6482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6" name="Text Box 13"/>
          <p:cNvSpPr txBox="1">
            <a:spLocks noChangeArrowheads="1"/>
          </p:cNvSpPr>
          <p:nvPr/>
        </p:nvSpPr>
        <p:spPr bwMode="auto">
          <a:xfrm>
            <a:off x="381000" y="4191000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Gini(N1) </a:t>
            </a:r>
            <a:br>
              <a:rPr lang="en-US" altLang="en-US" sz="2000"/>
            </a:br>
            <a:r>
              <a:rPr lang="en-US" altLang="en-US" sz="2000"/>
              <a:t>= 1 – (5/6)</a:t>
            </a:r>
            <a:r>
              <a:rPr lang="en-US" altLang="en-US" sz="2000" baseline="30000"/>
              <a:t>2 </a:t>
            </a:r>
            <a:r>
              <a:rPr lang="en-US" altLang="en-US" sz="2000"/>
              <a:t>– (1/6)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0.278 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Gini(N2) </a:t>
            </a:r>
            <a:br>
              <a:rPr lang="en-US" altLang="en-US" sz="2000"/>
            </a:br>
            <a:r>
              <a:rPr lang="en-US" altLang="en-US" sz="2000"/>
              <a:t>= 1 – (2/6)</a:t>
            </a:r>
            <a:r>
              <a:rPr lang="en-US" altLang="en-US" sz="2000" baseline="30000"/>
              <a:t>2 </a:t>
            </a:r>
            <a:r>
              <a:rPr lang="en-US" altLang="en-US" sz="2000"/>
              <a:t>– (4/6)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0.444</a:t>
            </a:r>
            <a:endParaRPr lang="en-US" altLang="en-US" sz="2000"/>
          </a:p>
        </p:txBody>
      </p:sp>
      <p:sp>
        <p:nvSpPr>
          <p:cNvPr id="41997" name="Text Box 14"/>
          <p:cNvSpPr txBox="1">
            <a:spLocks noChangeArrowheads="1"/>
          </p:cNvSpPr>
          <p:nvPr/>
        </p:nvSpPr>
        <p:spPr bwMode="auto">
          <a:xfrm>
            <a:off x="5791200" y="4695825"/>
            <a:ext cx="3352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Weighted Gini of N1 N2</a:t>
            </a:r>
            <a:br>
              <a:rPr lang="en-US" altLang="en-US" sz="2000"/>
            </a:br>
            <a:r>
              <a:rPr lang="en-US" altLang="en-US" sz="1800"/>
              <a:t>= 6/12 * 0.278 + </a:t>
            </a:r>
            <a:br>
              <a:rPr lang="en-US" altLang="en-US" sz="1800"/>
            </a:br>
            <a:r>
              <a:rPr lang="en-US" altLang="en-US" sz="1800"/>
              <a:t>   6/12 * 0.444</a:t>
            </a:r>
            <a:br>
              <a:rPr lang="en-US" altLang="en-US" sz="1800"/>
            </a:br>
            <a:r>
              <a:rPr lang="en-US" altLang="en-US" sz="1800"/>
              <a:t>= 0.361</a:t>
            </a:r>
            <a:endParaRPr lang="en-US" altLang="en-US" sz="1800"/>
          </a:p>
        </p:txBody>
      </p:sp>
      <p:sp>
        <p:nvSpPr>
          <p:cNvPr id="41998" name="TextBox 1"/>
          <p:cNvSpPr txBox="1">
            <a:spLocks noChangeArrowheads="1"/>
          </p:cNvSpPr>
          <p:nvPr/>
        </p:nvSpPr>
        <p:spPr bwMode="auto">
          <a:xfrm>
            <a:off x="5551488" y="5867400"/>
            <a:ext cx="3211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Gain = 0.486 – 0.361 = 0.125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A5E14C-141B-412E-97C6-45929F0772CF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4582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Categorical Attributes: Computing Gini Index</a:t>
            </a:r>
            <a:endParaRPr lang="en-US" sz="2800">
              <a:cs typeface="+mj-cs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For each distinct value, gather counts for each class in the dataset</a:t>
            </a:r>
            <a:endParaRPr lang="en-US" sz="2400">
              <a:cs typeface="+mn-cs"/>
            </a:endParaRPr>
          </a:p>
          <a:p>
            <a:pPr>
              <a:buFont typeface="Monotype Sorts" charset="0"/>
              <a:buChar char="l"/>
              <a:defRPr/>
            </a:pPr>
            <a:r>
              <a:rPr lang="en-US" sz="2400">
                <a:cs typeface="+mn-cs"/>
              </a:rPr>
              <a:t>Use the count matrix to make decisions</a:t>
            </a:r>
            <a:endParaRPr lang="en-US" sz="2400">
              <a:cs typeface="+mn-cs"/>
            </a:endParaRPr>
          </a:p>
        </p:txBody>
      </p:sp>
      <p:graphicFrame>
        <p:nvGraphicFramePr>
          <p:cNvPr id="43011" name="Object 4"/>
          <p:cNvGraphicFramePr>
            <a:graphicFrameLocks noChangeAspect="1"/>
          </p:cNvGraphicFramePr>
          <p:nvPr/>
        </p:nvGraphicFramePr>
        <p:xfrm>
          <a:off x="3890963" y="3810000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4" name="Document" r:id="rId1" imgW="5850255" imgH="3998595" progId="Word.Document.8">
                  <p:embed/>
                </p:oleObj>
              </mc:Choice>
              <mc:Fallback>
                <p:oleObj name="Document" r:id="rId1" imgW="5850255" imgH="399859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3810000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/>
          <p:cNvGraphicFramePr>
            <a:graphicFrameLocks noChangeAspect="1"/>
          </p:cNvGraphicFramePr>
          <p:nvPr/>
        </p:nvGraphicFramePr>
        <p:xfrm>
          <a:off x="6421438" y="3805238"/>
          <a:ext cx="2570162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5" name="Document" r:id="rId3" imgW="5850255" imgH="3998595" progId="Word.Document.8">
                  <p:embed/>
                </p:oleObj>
              </mc:Choice>
              <mc:Fallback>
                <p:oleObj name="Document" r:id="rId3" imgW="5850255" imgH="399859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438" y="3805238"/>
                        <a:ext cx="2570162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6"/>
          <p:cNvGraphicFramePr>
            <a:graphicFrameLocks noChangeAspect="1"/>
          </p:cNvGraphicFramePr>
          <p:nvPr/>
        </p:nvGraphicFramePr>
        <p:xfrm>
          <a:off x="304800" y="3810000"/>
          <a:ext cx="3048000" cy="157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36" name="Document" r:id="rId5" imgW="6205855" imgH="3185795" progId="Word.Document.8">
                  <p:embed/>
                </p:oleObj>
              </mc:Choice>
              <mc:Fallback>
                <p:oleObj name="Document" r:id="rId5" imgW="6205855" imgH="318579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810000"/>
                        <a:ext cx="3048000" cy="157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4" name="Line 7"/>
          <p:cNvSpPr>
            <a:spLocks noChangeShapeType="1"/>
          </p:cNvSpPr>
          <p:nvPr/>
        </p:nvSpPr>
        <p:spPr bwMode="auto">
          <a:xfrm flipH="1">
            <a:off x="3581400" y="2971800"/>
            <a:ext cx="1588" cy="2438400"/>
          </a:xfrm>
          <a:prstGeom prst="line">
            <a:avLst/>
          </a:prstGeom>
          <a:noFill/>
          <a:ln w="38100">
            <a:solidFill>
              <a:schemeClr val="tx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5" name="Text Box 8"/>
          <p:cNvSpPr txBox="1">
            <a:spLocks noChangeArrowheads="1"/>
          </p:cNvSpPr>
          <p:nvPr/>
        </p:nvSpPr>
        <p:spPr bwMode="auto">
          <a:xfrm>
            <a:off x="915988" y="2868613"/>
            <a:ext cx="1752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Multi-way split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43016" name="Text Box 9"/>
          <p:cNvSpPr txBox="1">
            <a:spLocks noChangeArrowheads="1"/>
          </p:cNvSpPr>
          <p:nvPr/>
        </p:nvSpPr>
        <p:spPr bwMode="auto">
          <a:xfrm>
            <a:off x="4719638" y="2868613"/>
            <a:ext cx="31384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Two-way split </a:t>
            </a:r>
            <a:endParaRPr lang="en-US" altLang="en-US" sz="2000" b="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(find best partition of values)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2514600" y="5726113"/>
            <a:ext cx="31734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B050"/>
                </a:solidFill>
              </a:rPr>
              <a:t>Which of these is the best?</a:t>
            </a:r>
            <a:endParaRPr lang="en-US" altLang="en-US" sz="1800">
              <a:solidFill>
                <a:srgbClr val="00B05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186DF-3DCE-4318-8030-356931D4FA47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Continuous Attributes: Computing Gini Index</a:t>
            </a:r>
            <a:endParaRPr lang="en-US" sz="2800">
              <a:cs typeface="+mj-cs"/>
            </a:endParaRPr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4999037" cy="51816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Use Binary Decisions based on one value</a:t>
            </a:r>
            <a:endParaRPr lang="en-US" sz="2000" dirty="0">
              <a:cs typeface="+mn-cs"/>
            </a:endParaRPr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Several Choices for the splitting value</a:t>
            </a:r>
            <a:endParaRPr lang="en-US" sz="2000" dirty="0"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Number of possible splitting values </a:t>
            </a:r>
            <a:br>
              <a:rPr lang="en-US" sz="2000" dirty="0"/>
            </a:br>
            <a:r>
              <a:rPr lang="en-US" sz="2000" dirty="0"/>
              <a:t>= Number of distinct values</a:t>
            </a:r>
            <a:endParaRPr lang="en-US" sz="2000" dirty="0"/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Each splitting value has a count matrix associated with it</a:t>
            </a:r>
            <a:endParaRPr lang="en-US" sz="2000" dirty="0"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Class counts in each of the partitions, A ≤ v and A </a:t>
            </a:r>
            <a:r>
              <a:rPr lang="en-US" sz="2000" dirty="0">
                <a:sym typeface="Symbol" panose="05050102010706020507" charset="0"/>
              </a:rPr>
              <a:t>&gt;</a:t>
            </a:r>
            <a:r>
              <a:rPr lang="en-US" sz="2000" dirty="0"/>
              <a:t> v</a:t>
            </a:r>
            <a:endParaRPr lang="en-US" sz="2000" dirty="0"/>
          </a:p>
          <a:p>
            <a:pPr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 dirty="0">
                <a:cs typeface="+mn-cs"/>
              </a:rPr>
              <a:t>Simple method to choose best v</a:t>
            </a:r>
            <a:endParaRPr lang="en-US" sz="2000" dirty="0">
              <a:cs typeface="+mn-cs"/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For each v, scan the database to gather count matrix and compute its Gini index</a:t>
            </a:r>
            <a:endParaRPr lang="en-US" sz="2000" dirty="0"/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 dirty="0"/>
              <a:t>Computationally Inefficient! Repetition of work.</a:t>
            </a:r>
            <a:endParaRPr lang="en-US" sz="2000" dirty="0"/>
          </a:p>
        </p:txBody>
      </p:sp>
      <p:graphicFrame>
        <p:nvGraphicFramePr>
          <p:cNvPr id="44035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08638" y="1152525"/>
          <a:ext cx="3311525" cy="337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38" name="Document" r:id="rId1" imgW="5666105" imgH="5767705" progId="Word.Document.8">
                  <p:embed/>
                </p:oleObj>
              </mc:Choice>
              <mc:Fallback>
                <p:oleObj name="Document" r:id="rId1" imgW="5666105" imgH="576770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274"/>
                      <a:stretch>
                        <a:fillRect/>
                      </a:stretch>
                    </p:blipFill>
                    <p:spPr bwMode="auto">
                      <a:xfrm>
                        <a:off x="5608638" y="1152525"/>
                        <a:ext cx="3311525" cy="337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181600" y="5097463"/>
          <a:ext cx="2743200" cy="1114425"/>
        </p:xfrm>
        <a:graphic>
          <a:graphicData uri="http://schemas.openxmlformats.org/drawingml/2006/table">
            <a:tbl>
              <a:tblPr/>
              <a:tblGrid>
                <a:gridCol w="1538288"/>
                <a:gridCol w="603250"/>
                <a:gridCol w="601662"/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≤ 80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&gt; 80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Defaulted Yes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0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Defaulted No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3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5000"/>
                        <a:buFont typeface="Monotype Sorts" pitchFamily="-84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100000"/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10000"/>
                        </a:spcBef>
                        <a:spcAft>
                          <a:spcPts val="400"/>
                        </a:spcAft>
                        <a:buClr>
                          <a:srgbClr val="0C7B9C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100000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</a:rPr>
                        <a:t>4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</a:endParaRPr>
                    </a:p>
                  </a:txBody>
                  <a:tcPr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6629400" y="5868988"/>
            <a:ext cx="762000" cy="303212"/>
          </a:xfrm>
          <a:prstGeom prst="ellipse">
            <a:avLst/>
          </a:prstGeom>
          <a:solidFill>
            <a:srgbClr val="FFFF00">
              <a:alpha val="41176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553200" y="4495800"/>
            <a:ext cx="1752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400"/>
              <a:t>Annual Income ?</a:t>
            </a:r>
            <a:endParaRPr lang="en-US" altLang="en-US" sz="1400"/>
          </a:p>
        </p:txBody>
      </p:sp>
      <p:cxnSp>
        <p:nvCxnSpPr>
          <p:cNvPr id="5" name="Straight Arrow Connector 4"/>
          <p:cNvCxnSpPr>
            <a:cxnSpLocks noChangeShapeType="1"/>
          </p:cNvCxnSpPr>
          <p:nvPr/>
        </p:nvCxnSpPr>
        <p:spPr bwMode="auto">
          <a:xfrm flipH="1">
            <a:off x="7086600" y="4800600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>
            <a:off x="7391400" y="4800600"/>
            <a:ext cx="304800" cy="30162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7399338" y="2214563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7402513" y="3048000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7429500" y="3894138"/>
            <a:ext cx="1104900" cy="203200"/>
          </a:xfrm>
          <a:prstGeom prst="rect">
            <a:avLst/>
          </a:prstGeom>
          <a:solidFill>
            <a:srgbClr val="FFFF00">
              <a:alpha val="45882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7239000" y="5502275"/>
            <a:ext cx="762000" cy="303213"/>
          </a:xfrm>
          <a:prstGeom prst="ellipse">
            <a:avLst/>
          </a:prstGeom>
          <a:solidFill>
            <a:schemeClr val="accent2">
              <a:lumMod val="60000"/>
              <a:lumOff val="40000"/>
              <a:alpha val="41000"/>
            </a:scheme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22" name="Rectangle 21"/>
          <p:cNvSpPr/>
          <p:nvPr/>
        </p:nvSpPr>
        <p:spPr bwMode="auto">
          <a:xfrm>
            <a:off x="7448550" y="4170363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427913" y="360203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7405688" y="2770188"/>
            <a:ext cx="1104900" cy="203200"/>
          </a:xfrm>
          <a:prstGeom prst="rect">
            <a:avLst/>
          </a:prstGeom>
          <a:solidFill>
            <a:schemeClr val="accent2">
              <a:lumMod val="60000"/>
              <a:lumOff val="40000"/>
              <a:alpha val="46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5550F7-DE17-4B9E-B3E5-C1A623AA0BCE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081" name="Object 4"/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6" name="Document" r:id="rId1" imgW="10591165" imgH="3552825" progId="Word.Document.8">
                  <p:embed/>
                </p:oleObj>
              </mc:Choice>
              <mc:Fallback>
                <p:oleObj name="Document" r:id="rId1" imgW="10591165" imgH="35528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Continuous Attributes: Computing Gini Index...</a:t>
            </a:r>
            <a:endParaRPr lang="en-US" sz="2800">
              <a:cs typeface="+mj-cs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For efficient computation: for each attribute,</a:t>
            </a:r>
            <a:endParaRPr lang="en-US" sz="2000">
              <a:cs typeface="+mn-cs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Sort the attribute on values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Linearly scan these values, each time updating the count matrix and computing gini index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Choose the split position that has the least gini index</a:t>
            </a:r>
            <a:endParaRPr lang="en-US" sz="2000"/>
          </a:p>
        </p:txBody>
      </p:sp>
      <p:sp>
        <p:nvSpPr>
          <p:cNvPr id="46084" name="Line 5"/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3" name="Line 8"/>
          <p:cNvSpPr>
            <a:spLocks noChangeShapeType="1"/>
          </p:cNvSpPr>
          <p:nvPr/>
        </p:nvSpPr>
        <p:spPr bwMode="auto">
          <a:xfrm>
            <a:off x="1676400" y="-270074"/>
            <a:ext cx="304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Text Box 9"/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  <a:endParaRPr lang="en-US" altLang="en-US" sz="1600"/>
          </a:p>
        </p:txBody>
      </p:sp>
      <p:sp>
        <p:nvSpPr>
          <p:cNvPr id="46087" name="Rectangle 1"/>
          <p:cNvSpPr>
            <a:spLocks noChangeArrowheads="1"/>
          </p:cNvSpPr>
          <p:nvPr/>
        </p:nvSpPr>
        <p:spPr bwMode="auto">
          <a:xfrm>
            <a:off x="3810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/>
          <p:cNvSpPr/>
          <p:nvPr/>
        </p:nvSpPr>
        <p:spPr bwMode="auto">
          <a:xfrm>
            <a:off x="76200" y="4330700"/>
            <a:ext cx="8763000" cy="18415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E75C25-30F7-4D83-8216-643D1301EECA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4"/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9" name="Document" r:id="rId1" imgW="10591165" imgH="3552825" progId="Word.Document.8">
                  <p:embed/>
                </p:oleObj>
              </mc:Choice>
              <mc:Fallback>
                <p:oleObj name="Document" r:id="rId1" imgW="10591165" imgH="35528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Continuous Attributes: Computing Gini Index...</a:t>
            </a:r>
            <a:endParaRPr lang="en-US" sz="2800">
              <a:cs typeface="+mj-cs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For efficient computation: for each attribute,</a:t>
            </a:r>
            <a:endParaRPr lang="en-US" sz="2000">
              <a:cs typeface="+mn-cs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Sort the attribute on values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Linearly scan these values, each time updating the count matrix and computing gini index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Choose the split position that has the least gini index</a:t>
            </a:r>
            <a:endParaRPr lang="en-US" sz="2000"/>
          </a:p>
        </p:txBody>
      </p:sp>
      <p:sp>
        <p:nvSpPr>
          <p:cNvPr id="47108" name="Line 5"/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7109" name="Group 6"/>
          <p:cNvGrpSpPr/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47115" name="Text Box 7"/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  <a:endParaRPr kumimoji="1" lang="en-US" altLang="en-US" sz="1600"/>
            </a:p>
          </p:txBody>
        </p:sp>
        <p:sp>
          <p:nvSpPr>
            <p:cNvPr id="47116" name="Line 8"/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7110" name="Text Box 9"/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  <a:endParaRPr lang="en-US" altLang="en-US" sz="1600"/>
          </a:p>
        </p:txBody>
      </p:sp>
      <p:sp>
        <p:nvSpPr>
          <p:cNvPr id="3" name="Rectangle 2"/>
          <p:cNvSpPr/>
          <p:nvPr/>
        </p:nvSpPr>
        <p:spPr bwMode="auto">
          <a:xfrm>
            <a:off x="88900" y="4821238"/>
            <a:ext cx="8763000" cy="13874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1389A-83FD-46DA-A36A-55DF4198D2A2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129" name="Object 4"/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6" name="Document" r:id="rId1" imgW="10591165" imgH="3552825" progId="Word.Document.8">
                  <p:embed/>
                </p:oleObj>
              </mc:Choice>
              <mc:Fallback>
                <p:oleObj name="Document" r:id="rId1" imgW="10591165" imgH="35528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Continuous Attributes: Computing Gini Index...</a:t>
            </a:r>
            <a:endParaRPr lang="en-US" sz="2800">
              <a:cs typeface="+mj-cs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For efficient computation: for each attribute,</a:t>
            </a:r>
            <a:endParaRPr lang="en-US" sz="2000">
              <a:cs typeface="+mn-cs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Sort the attribute on values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Linearly scan these values, each time updating the count matrix and computing gini index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Choose the split position that has the least gini index</a:t>
            </a:r>
            <a:endParaRPr lang="en-US" sz="2000"/>
          </a:p>
        </p:txBody>
      </p:sp>
      <p:sp>
        <p:nvSpPr>
          <p:cNvPr id="48132" name="Line 5"/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33" name="Group 6"/>
          <p:cNvGrpSpPr/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48142" name="Text Box 7"/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  <a:endParaRPr kumimoji="1" lang="en-US" altLang="en-US" sz="1600"/>
            </a:p>
          </p:txBody>
        </p:sp>
        <p:sp>
          <p:nvSpPr>
            <p:cNvPr id="48143" name="Line 8"/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8134" name="Text Box 9"/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  <a:endParaRPr lang="en-US" altLang="en-US" sz="1600"/>
          </a:p>
        </p:txBody>
      </p:sp>
      <p:sp>
        <p:nvSpPr>
          <p:cNvPr id="48135" name="Rectangle 1"/>
          <p:cNvSpPr>
            <a:spLocks noChangeArrowheads="1"/>
          </p:cNvSpPr>
          <p:nvPr/>
        </p:nvSpPr>
        <p:spPr bwMode="auto">
          <a:xfrm>
            <a:off x="38100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/>
          <p:cNvSpPr/>
          <p:nvPr/>
        </p:nvSpPr>
        <p:spPr bwMode="auto">
          <a:xfrm>
            <a:off x="2057400" y="4821238"/>
            <a:ext cx="1752600" cy="1350962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419600" y="4856163"/>
            <a:ext cx="4267200" cy="13493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48138" name="Straight Arrow Connector 13"/>
          <p:cNvCxnSpPr>
            <a:cxnSpLocks noChangeShapeType="1"/>
          </p:cNvCxnSpPr>
          <p:nvPr/>
        </p:nvCxnSpPr>
        <p:spPr bwMode="auto">
          <a:xfrm>
            <a:off x="40386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D98951-D407-43F1-821A-21E573B23752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/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1" name="Document" r:id="rId1" imgW="10591165" imgH="3552825" progId="Word.Document.8">
                  <p:embed/>
                </p:oleObj>
              </mc:Choice>
              <mc:Fallback>
                <p:oleObj name="Document" r:id="rId1" imgW="10591165" imgH="35528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Continuous Attributes: Computing Gini Index...</a:t>
            </a:r>
            <a:endParaRPr lang="en-US" sz="2800">
              <a:cs typeface="+mj-cs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For efficient computation: for each attribute,</a:t>
            </a:r>
            <a:endParaRPr lang="en-US" sz="2000">
              <a:cs typeface="+mn-cs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Sort the attribute on values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Linearly scan these values, each time updating the count matrix and computing gini index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Choose the split position that has the least gini index</a:t>
            </a:r>
            <a:endParaRPr lang="en-US" sz="2000"/>
          </a:p>
        </p:txBody>
      </p:sp>
      <p:sp>
        <p:nvSpPr>
          <p:cNvPr id="49156" name="Line 5"/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9157" name="Group 6"/>
          <p:cNvGrpSpPr/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49167" name="Text Box 7"/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  <a:endParaRPr kumimoji="1" lang="en-US" altLang="en-US" sz="1600"/>
            </a:p>
          </p:txBody>
        </p:sp>
        <p:sp>
          <p:nvSpPr>
            <p:cNvPr id="49168" name="Line 8"/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9158" name="Text Box 9"/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  <a:endParaRPr lang="en-US" altLang="en-US" sz="1600"/>
          </a:p>
        </p:txBody>
      </p:sp>
      <p:sp>
        <p:nvSpPr>
          <p:cNvPr id="49159" name="Rectangle 1"/>
          <p:cNvSpPr>
            <a:spLocks noChangeArrowheads="1"/>
          </p:cNvSpPr>
          <p:nvPr/>
        </p:nvSpPr>
        <p:spPr bwMode="auto">
          <a:xfrm>
            <a:off x="4368800" y="4800600"/>
            <a:ext cx="609600" cy="838200"/>
          </a:xfrm>
          <a:prstGeom prst="rect">
            <a:avLst/>
          </a:prstGeom>
          <a:solidFill>
            <a:srgbClr val="FFFF00">
              <a:alpha val="52156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sp>
        <p:nvSpPr>
          <p:cNvPr id="3" name="Rectangle 2"/>
          <p:cNvSpPr/>
          <p:nvPr/>
        </p:nvSpPr>
        <p:spPr bwMode="auto">
          <a:xfrm>
            <a:off x="2057400" y="4821238"/>
            <a:ext cx="1739900" cy="1350962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4992688" y="4899025"/>
            <a:ext cx="3694112" cy="1349375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49162" name="Oval 12"/>
          <p:cNvSpPr>
            <a:spLocks noChangeArrowheads="1"/>
          </p:cNvSpPr>
          <p:nvPr/>
        </p:nvSpPr>
        <p:spPr bwMode="auto">
          <a:xfrm>
            <a:off x="3911600" y="4038600"/>
            <a:ext cx="762000" cy="303213"/>
          </a:xfrm>
          <a:prstGeom prst="ellipse">
            <a:avLst/>
          </a:prstGeom>
          <a:solidFill>
            <a:srgbClr val="FFFF00">
              <a:alpha val="61176"/>
            </a:srgbClr>
          </a:solidFill>
          <a:ln w="12700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400"/>
          </a:p>
        </p:txBody>
      </p:sp>
      <p:cxnSp>
        <p:nvCxnSpPr>
          <p:cNvPr id="49163" name="Straight Arrow Connector 14"/>
          <p:cNvCxnSpPr>
            <a:cxnSpLocks noChangeShapeType="1"/>
          </p:cNvCxnSpPr>
          <p:nvPr/>
        </p:nvCxnSpPr>
        <p:spPr bwMode="auto">
          <a:xfrm>
            <a:off x="4648200" y="3016250"/>
            <a:ext cx="0" cy="457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9B1AAA-9C7F-4D2A-A525-12F7D075D017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4"/>
          <p:cNvGraphicFramePr>
            <a:graphicFrameLocks noChangeAspect="1"/>
          </p:cNvGraphicFramePr>
          <p:nvPr/>
        </p:nvGraphicFramePr>
        <p:xfrm>
          <a:off x="1365250" y="3473450"/>
          <a:ext cx="7893050" cy="262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59" name="Document" r:id="rId1" imgW="10591165" imgH="3552825" progId="Word.Document.8">
                  <p:embed/>
                </p:oleObj>
              </mc:Choice>
              <mc:Fallback>
                <p:oleObj name="Document" r:id="rId1" imgW="10591165" imgH="355282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5250" y="3473450"/>
                        <a:ext cx="7893050" cy="262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6868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Continuous Attributes: Computing Gini Index...</a:t>
            </a:r>
            <a:endParaRPr lang="en-US" sz="2800">
              <a:cs typeface="+mj-cs"/>
            </a:endParaRPr>
          </a:p>
        </p:txBody>
      </p:sp>
      <p:sp>
        <p:nvSpPr>
          <p:cNvPr id="389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178800" cy="15240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buFont typeface="Monotype Sorts" charset="0"/>
              <a:buChar char="l"/>
              <a:defRPr/>
            </a:pPr>
            <a:r>
              <a:rPr lang="en-US" sz="2000">
                <a:cs typeface="+mn-cs"/>
              </a:rPr>
              <a:t>For efficient computation: for each attribute,</a:t>
            </a:r>
            <a:endParaRPr lang="en-US" sz="2000">
              <a:cs typeface="+mn-cs"/>
            </a:endParaRP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Sort the attribute on values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Linearly scan these values, each time updating the count matrix and computing gini index</a:t>
            </a:r>
            <a:endParaRPr lang="en-US" sz="2000"/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–"/>
              <a:defRPr/>
            </a:pPr>
            <a:r>
              <a:rPr lang="en-US" sz="2000"/>
              <a:t>Choose the split position that has the least gini index</a:t>
            </a:r>
            <a:endParaRPr lang="en-US" sz="2000"/>
          </a:p>
        </p:txBody>
      </p:sp>
      <p:sp>
        <p:nvSpPr>
          <p:cNvPr id="50180" name="Line 5"/>
          <p:cNvSpPr>
            <a:spLocks noChangeShapeType="1"/>
          </p:cNvSpPr>
          <p:nvPr/>
        </p:nvSpPr>
        <p:spPr bwMode="auto">
          <a:xfrm>
            <a:off x="1676400" y="4146550"/>
            <a:ext cx="304800" cy="1588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0181" name="Group 6"/>
          <p:cNvGrpSpPr/>
          <p:nvPr/>
        </p:nvGrpSpPr>
        <p:grpSpPr bwMode="auto">
          <a:xfrm>
            <a:off x="76200" y="4222750"/>
            <a:ext cx="1905000" cy="336550"/>
            <a:chOff x="144" y="2832"/>
            <a:chExt cx="1200" cy="212"/>
          </a:xfrm>
        </p:grpSpPr>
        <p:sp>
          <p:nvSpPr>
            <p:cNvPr id="50186" name="Text Box 7"/>
            <p:cNvSpPr txBox="1">
              <a:spLocks noChangeArrowheads="1"/>
            </p:cNvSpPr>
            <p:nvPr/>
          </p:nvSpPr>
          <p:spPr bwMode="auto">
            <a:xfrm>
              <a:off x="144" y="2832"/>
              <a:ext cx="100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5000"/>
                <a:buFont typeface="Monotype Sorts" pitchFamily="-84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 defTabSz="927100">
                <a:spcBef>
                  <a:spcPct val="10000"/>
                </a:spcBef>
                <a:spcAft>
                  <a:spcPts val="400"/>
                </a:spcAft>
                <a:buClr>
                  <a:srgbClr val="0C7B9C"/>
                </a:buClr>
                <a:buSzPct val="70000"/>
                <a:buFont typeface="Wingdings" panose="05000000000000000000" pitchFamily="2" charset="2"/>
                <a:buChar char="u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 defTabSz="927100">
                <a:spcBef>
                  <a:spcPct val="20000"/>
                </a:spcBef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defTabSz="9271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defTabSz="9271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Tx/>
                <a:buFont typeface="Monotype Sorts" pitchFamily="-84" charset="2"/>
                <a:buNone/>
              </a:pPr>
              <a:r>
                <a:rPr kumimoji="1" lang="en-US" altLang="en-US" sz="1600"/>
                <a:t>Split Positions</a:t>
              </a:r>
              <a:endParaRPr kumimoji="1" lang="en-US" altLang="en-US" sz="1600"/>
            </a:p>
          </p:txBody>
        </p:sp>
        <p:sp>
          <p:nvSpPr>
            <p:cNvPr id="50187" name="Line 8"/>
            <p:cNvSpPr>
              <a:spLocks noChangeShapeType="1"/>
            </p:cNvSpPr>
            <p:nvPr/>
          </p:nvSpPr>
          <p:spPr bwMode="auto">
            <a:xfrm>
              <a:off x="1152" y="2976"/>
              <a:ext cx="192" cy="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0182" name="Text Box 9"/>
          <p:cNvSpPr txBox="1">
            <a:spLocks noChangeArrowheads="1"/>
          </p:cNvSpPr>
          <p:nvPr/>
        </p:nvSpPr>
        <p:spPr bwMode="auto">
          <a:xfrm>
            <a:off x="76200" y="3917950"/>
            <a:ext cx="160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Sorted Values</a:t>
            </a:r>
            <a:endParaRPr lang="en-US" alt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F20258-E45F-4E65-A1C7-7C0B85C920E7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cs typeface="+mj-cs"/>
              </a:rPr>
              <a:t>Measure of Impurity: Entropy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93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143000"/>
                <a:ext cx="8763000" cy="5181600"/>
              </a:xfrm>
            </p:spPr>
            <p:txBody>
              <a:bodyPr>
                <a:normAutofit lnSpcReduction="10000"/>
              </a:bodyPr>
              <a:lstStyle/>
              <a:p>
                <a:pPr marL="342900" indent="-342900">
                  <a:lnSpc>
                    <a:spcPct val="90000"/>
                  </a:lnSpc>
                  <a:buFont typeface="Monotype Sorts" charset="0"/>
                  <a:buChar char="l"/>
                  <a:defRPr/>
                </a:pPr>
                <a:r>
                  <a:rPr lang="en-US" sz="2400" dirty="0">
                    <a:cs typeface="+mn-cs"/>
                  </a:rPr>
                  <a:t>Entropy at a given node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>
                  <a:cs typeface="+mn-cs"/>
                </a:endParaRPr>
              </a:p>
              <a:p>
                <a:pPr marL="742950" lvl="1" indent="-285750">
                  <a:lnSpc>
                    <a:spcPct val="90000"/>
                  </a:lnSpc>
                  <a:buFont typeface="Arial" panose="020B0604020202020204" pitchFamily="34" charset="0"/>
                  <a:buChar char="–"/>
                  <a:defRPr/>
                </a:pPr>
                <a:endParaRPr lang="en-US" dirty="0"/>
              </a:p>
              <a:p>
                <a:pPr lvl="4">
                  <a:lnSpc>
                    <a:spcPct val="90000"/>
                  </a:lnSpc>
                  <a:defRPr/>
                </a:pPr>
                <a:endParaRPr lang="en-US" dirty="0">
                  <a:latin typeface="Times New Roman" panose="02020603050405020304" pitchFamily="18" charset="0"/>
                </a:endParaRPr>
              </a:p>
              <a:p>
                <a:pPr lvl="4">
                  <a:lnSpc>
                    <a:spcPct val="90000"/>
                  </a:lnSpc>
                  <a:defRPr/>
                </a:pPr>
                <a:endParaRPr lang="en-US" dirty="0">
                  <a:latin typeface="Times New Roman" panose="02020603050405020304" pitchFamily="18" charset="0"/>
                </a:endParaRPr>
              </a:p>
              <a:p>
                <a:pPr marL="342900" indent="-342900">
                  <a:buFont typeface="Monotype Sorts" charset="0"/>
                  <a:buNone/>
                  <a:defRPr/>
                </a:pPr>
                <a:r>
                  <a:rPr lang="en-US" sz="2400" dirty="0"/>
                  <a:t>	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is the frequency of class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 at node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sz="2000" dirty="0"/>
                  <a:t> is the total number of classes </a:t>
                </a:r>
                <a:endParaRPr lang="en-US" sz="2000" dirty="0"/>
              </a:p>
              <a:p>
                <a:pPr marL="342900" indent="-342900">
                  <a:buFont typeface="Monotype Sorts" charset="0"/>
                  <a:buNone/>
                  <a:defRPr/>
                </a:pPr>
                <a:endParaRPr lang="en-US" sz="2400" dirty="0">
                  <a:latin typeface="Times New Roman" panose="02020603050405020304" pitchFamily="18" charset="0"/>
                </a:endParaRPr>
              </a:p>
              <a:p>
                <a:pPr marL="1205230" lvl="2" indent="-347980">
                  <a:lnSpc>
                    <a:spcPct val="90000"/>
                  </a:lnSpc>
                  <a:buFont typeface="Wingdings" panose="05000000000000000000" charset="0"/>
                  <a:buChar char="u"/>
                  <a:defRPr/>
                </a:pPr>
                <a:r>
                  <a:rPr lang="en-US" sz="2200" dirty="0"/>
                  <a:t>Maximum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200" dirty="0"/>
                  <a:t> when records are equally distributed among all classes, implying the least beneficial situation for classification</a:t>
                </a:r>
                <a:endParaRPr lang="en-US" sz="2200" dirty="0"/>
              </a:p>
              <a:p>
                <a:pPr marL="1205230" lvl="2" indent="-347980">
                  <a:lnSpc>
                    <a:spcPct val="90000"/>
                  </a:lnSpc>
                  <a:buFont typeface="Wingdings" panose="05000000000000000000" charset="0"/>
                  <a:buChar char="u"/>
                  <a:defRPr/>
                </a:pPr>
                <a:r>
                  <a:rPr lang="en-US" sz="2200" dirty="0"/>
                  <a:t>Minimum of 0 when all records belong to one class, implying most beneficial situation for classification</a:t>
                </a:r>
                <a:endParaRPr lang="en-US" sz="2200" dirty="0"/>
              </a:p>
              <a:p>
                <a:pPr marL="742950" lvl="1" indent="-285750">
                  <a:lnSpc>
                    <a:spcPct val="90000"/>
                  </a:lnSpc>
                  <a:buFont typeface="Arial" panose="020B0604020202020204" pitchFamily="34" charset="0"/>
                  <a:buChar char="–"/>
                  <a:defRPr/>
                </a:pPr>
                <a:endParaRPr lang="en-US" dirty="0"/>
              </a:p>
              <a:p>
                <a:pPr marL="742950" lvl="1" indent="-285750">
                  <a:lnSpc>
                    <a:spcPct val="90000"/>
                  </a:lnSpc>
                  <a:buFont typeface="Arial" panose="020B0604020202020204" pitchFamily="34" charset="0"/>
                  <a:buChar char="–"/>
                  <a:defRPr/>
                </a:pPr>
                <a:r>
                  <a:rPr lang="en-US" sz="2400" dirty="0"/>
                  <a:t>Entropy based computations are quite similar to the GINI index computations</a:t>
                </a:r>
                <a:endParaRPr lang="en-US" sz="2400" dirty="0"/>
              </a:p>
            </p:txBody>
          </p:sp>
        </mc:Choice>
        <mc:Fallback>
          <p:sp>
            <p:nvSpPr>
              <p:cNvPr id="3993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143000"/>
                <a:ext cx="8763000" cy="5181600"/>
              </a:xfrm>
              <a:blipFill rotWithShape="1">
                <a:blip r:embed="rId1"/>
                <a:stretch>
                  <a:fillRect t="-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7C351-DC12-45EB-B15E-0B7E4E090EF9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1447800" y="1524000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524000"/>
                <a:ext cx="4259243" cy="1037848"/>
              </a:xfrm>
              <a:prstGeom prst="rect">
                <a:avLst/>
              </a:prstGeom>
              <a:blipFill rotWithShape="1">
                <a:blip r:embed="rId2"/>
                <a:stretch>
                  <a:fillRect r="7" b="-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Entropy of a Single Node</a:t>
            </a:r>
            <a:endParaRPr lang="en-US">
              <a:cs typeface="+mj-cs"/>
            </a:endParaRPr>
          </a:p>
        </p:txBody>
      </p:sp>
      <p:graphicFrame>
        <p:nvGraphicFramePr>
          <p:cNvPr id="52226" name="Object 3"/>
          <p:cNvGraphicFramePr>
            <a:graphicFrameLocks noChangeAspect="1"/>
          </p:cNvGraphicFramePr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9" name="Document" r:id="rId1" imgW="3238500" imgH="1357630" progId="Word.Document.8">
                  <p:embed/>
                </p:oleObj>
              </mc:Choice>
              <mc:Fallback>
                <p:oleObj name="Document" r:id="rId1" imgW="3238500" imgH="135763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7" name="Object 4"/>
          <p:cNvGraphicFramePr>
            <a:graphicFrameLocks noChangeAspect="1"/>
          </p:cNvGraphicFramePr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0" name="Document" r:id="rId3" imgW="3238500" imgH="1382395" progId="Word.Document.8">
                  <p:embed/>
                </p:oleObj>
              </mc:Choice>
              <mc:Fallback>
                <p:oleObj name="Document" r:id="rId3" imgW="3238500" imgH="138239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5"/>
          <p:cNvGraphicFramePr>
            <a:graphicFrameLocks noChangeAspect="1"/>
          </p:cNvGraphicFramePr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71" name="Document" r:id="rId5" imgW="3238500" imgH="1357630" progId="Word.Document.8">
                  <p:embed/>
                </p:oleObj>
              </mc:Choice>
              <mc:Fallback>
                <p:oleObj name="Document" r:id="rId5" imgW="3238500" imgH="135763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Text Box 6"/>
          <p:cNvSpPr txBox="1">
            <a:spLocks noChangeArrowheads="1"/>
          </p:cNvSpPr>
          <p:nvPr/>
        </p:nvSpPr>
        <p:spPr bwMode="auto"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0/6 = 0     P(C2) = 6/6 = 1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0 log 0</a:t>
            </a:r>
            <a:r>
              <a:rPr lang="en-US" altLang="en-US" sz="2000" baseline="30000"/>
              <a:t> </a:t>
            </a:r>
            <a:r>
              <a:rPr lang="en-US" altLang="en-US" sz="2000"/>
              <a:t>– 1 log 1 = – 0 – 0 = 0 </a:t>
            </a:r>
            <a:endParaRPr lang="en-US" altLang="en-US" sz="2000"/>
          </a:p>
        </p:txBody>
      </p:sp>
      <p:sp>
        <p:nvSpPr>
          <p:cNvPr id="52230" name="Text Box 8"/>
          <p:cNvSpPr txBox="1">
            <a:spLocks noChangeArrowheads="1"/>
          </p:cNvSpPr>
          <p:nvPr/>
        </p:nvSpPr>
        <p:spPr bwMode="auto">
          <a:xfrm>
            <a:off x="2971800" y="37338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1/6          P(C2) = 5/6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(1/6) log</a:t>
            </a:r>
            <a:r>
              <a:rPr lang="en-US" altLang="en-US" sz="2000" baseline="-25000"/>
              <a:t>2</a:t>
            </a:r>
            <a:r>
              <a:rPr lang="en-US" altLang="en-US" sz="2000"/>
              <a:t> (1/6)</a:t>
            </a:r>
            <a:r>
              <a:rPr lang="en-US" altLang="en-US" sz="2000" baseline="30000"/>
              <a:t> </a:t>
            </a:r>
            <a:r>
              <a:rPr lang="en-US" altLang="en-US" sz="2000"/>
              <a:t>– (5/6) log</a:t>
            </a:r>
            <a:r>
              <a:rPr lang="en-US" altLang="en-US" sz="2000" baseline="-25000"/>
              <a:t>2</a:t>
            </a:r>
            <a:r>
              <a:rPr lang="en-US" altLang="en-US" sz="2000"/>
              <a:t> (1/6) = 0.65</a:t>
            </a:r>
            <a:endParaRPr lang="en-US" altLang="en-US" sz="2000"/>
          </a:p>
        </p:txBody>
      </p:sp>
      <p:sp>
        <p:nvSpPr>
          <p:cNvPr id="52231" name="Text Box 9"/>
          <p:cNvSpPr txBox="1">
            <a:spLocks noChangeArrowheads="1"/>
          </p:cNvSpPr>
          <p:nvPr/>
        </p:nvSpPr>
        <p:spPr bwMode="auto"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Entropy = – (2/6) log</a:t>
            </a:r>
            <a:r>
              <a:rPr lang="en-US" altLang="en-US" sz="2000" baseline="-25000"/>
              <a:t>2</a:t>
            </a:r>
            <a:r>
              <a:rPr lang="en-US" altLang="en-US" sz="2000"/>
              <a:t> (2/6)</a:t>
            </a:r>
            <a:r>
              <a:rPr lang="en-US" altLang="en-US" sz="2000" baseline="30000"/>
              <a:t> </a:t>
            </a:r>
            <a:r>
              <a:rPr lang="en-US" altLang="en-US" sz="2000"/>
              <a:t>– (4/6) log</a:t>
            </a:r>
            <a:r>
              <a:rPr lang="en-US" altLang="en-US" sz="2000" baseline="-25000"/>
              <a:t>2</a:t>
            </a:r>
            <a:r>
              <a:rPr lang="en-US" altLang="en-US" sz="2000"/>
              <a:t> (4/6) = 0.92</a:t>
            </a: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6DE6C9-B616-47A1-8DF4-C856A4D0ED42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797910" y="1119376"/>
                <a:ext cx="4259243" cy="10378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910" y="1119376"/>
                <a:ext cx="4259243" cy="1037848"/>
              </a:xfrm>
              <a:prstGeom prst="rect">
                <a:avLst/>
              </a:prstGeom>
              <a:blipFill rotWithShape="1">
                <a:blip r:embed="rId7"/>
                <a:stretch>
                  <a:fillRect l="-5" t="-49" r="12" b="-3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Computing Information Gain After Splitting</a:t>
            </a:r>
            <a:endParaRPr lang="en-US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98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400" dirty="0">
                    <a:cs typeface="+mn-cs"/>
                  </a:rPr>
                  <a:t>Information Gain: </a:t>
                </a:r>
                <a:endParaRPr lang="en-US" sz="2400" dirty="0">
                  <a:cs typeface="+mn-cs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400" dirty="0"/>
              </a:p>
              <a:p>
                <a:pPr marL="1146175" lvl="2" indent="-228600">
                  <a:buFont typeface="Wingdings" panose="05000000000000000000" charset="0"/>
                  <a:buNone/>
                  <a:defRPr/>
                </a:pPr>
                <a:endParaRPr lang="en-US" sz="2000" dirty="0"/>
              </a:p>
              <a:p>
                <a:pPr marL="1146175" lvl="2" indent="-228600">
                  <a:buFont typeface="Wingdings" panose="05000000000000000000" charset="0"/>
                  <a:buNone/>
                  <a:defRPr/>
                </a:pPr>
                <a:endParaRPr lang="en-US" sz="2000" dirty="0"/>
              </a:p>
              <a:p>
                <a:pPr marL="1146175" lvl="2" indent="-228600">
                  <a:buFont typeface="Wingdings" panose="05000000000000000000" charset="0"/>
                  <a:buNone/>
                  <a:defRPr/>
                </a:pPr>
                <a:r>
                  <a:rPr lang="en-US" sz="2000" dirty="0"/>
                  <a:t>		Parent Node,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/>
                  <a:t> is split 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partitions (children)</a:t>
                </a:r>
                <a:endParaRPr lang="en-US" sz="2000" dirty="0"/>
              </a:p>
              <a:p>
                <a:pPr marL="1146175" lvl="2" indent="-228600">
                  <a:buFont typeface="Wingdings" panose="05000000000000000000" charset="0"/>
                  <a:buNone/>
                  <a:defRPr/>
                </a:pPr>
                <a:r>
                  <a:rPr lang="en-US" sz="2000" dirty="0"/>
                  <a:t>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is number of records in child node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sz="1800" dirty="0">
                    <a:latin typeface="Times New Roman" panose="02020603050405020304" pitchFamily="18" charset="0"/>
                  </a:rPr>
                </a:br>
                <a:endParaRPr lang="en-US" sz="1800" dirty="0">
                  <a:latin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400" dirty="0"/>
                  <a:t>Choose the split that achieves most reduction (maximizes GAIN)</a:t>
                </a:r>
                <a:endParaRPr lang="en-US" sz="2400" dirty="0"/>
              </a:p>
              <a:p>
                <a:pPr lvl="4">
                  <a:defRPr/>
                </a:pPr>
                <a:endParaRPr lang="en-US" sz="1800" dirty="0">
                  <a:latin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400" dirty="0"/>
                  <a:t>Used in the ID3 and C4.5 decision tree algorithms</a:t>
                </a: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400" dirty="0"/>
                  <a:t>Information gain is the mutual information between the class variable and the splitting variable  </a:t>
                </a:r>
                <a:endParaRPr lang="en-US" sz="2400" dirty="0"/>
              </a:p>
            </p:txBody>
          </p:sp>
        </mc:Choice>
        <mc:Fallback>
          <p:sp>
            <p:nvSpPr>
              <p:cNvPr id="41987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81000" y="1143000"/>
                <a:ext cx="8382000" cy="49530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66C636-268E-4FBD-BBA5-0BB0761D90FF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533140" y="1600200"/>
                <a:ext cx="4924810" cy="8717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𝐺𝑎𝑖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𝑠𝑝𝑙𝑖𝑡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𝐸𝑛𝑡𝑟𝑜𝑝𝑦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𝐸𝑛𝑡𝑟𝑜𝑝𝑦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140" y="1600200"/>
                <a:ext cx="4924810" cy="871713"/>
              </a:xfrm>
              <a:prstGeom prst="rect">
                <a:avLst/>
              </a:prstGeom>
              <a:blipFill rotWithShape="1">
                <a:blip r:embed="rId2"/>
                <a:stretch>
                  <a:fillRect l="-5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000">
                <a:cs typeface="+mj-cs"/>
              </a:rPr>
              <a:t>Problem with large number of partitions</a:t>
            </a:r>
            <a:endParaRPr lang="en-US" sz="3000">
              <a:cs typeface="+mj-cs"/>
            </a:endParaRPr>
          </a:p>
        </p:txBody>
      </p:sp>
      <p:sp>
        <p:nvSpPr>
          <p:cNvPr id="957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-84" charset="2"/>
              <a:buChar char="l"/>
              <a:defRPr/>
            </a:pPr>
            <a:r>
              <a:rPr lang="en-US" dirty="0">
                <a:ea typeface="+mn-ea"/>
                <a:cs typeface="+mn-cs"/>
              </a:rPr>
              <a:t>Node impurity measures tend to prefer splits that result in large number of partitions, each being small but pure</a:t>
            </a:r>
            <a:endParaRPr lang="en-US" dirty="0">
              <a:ea typeface="+mn-ea"/>
              <a:cs typeface="+mn-cs"/>
            </a:endParaRPr>
          </a:p>
          <a:p>
            <a:pPr>
              <a:buFont typeface="Monotype Sorts" pitchFamily="-84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-84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-84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 typeface="Monotype Sorts" pitchFamily="-84" charset="2"/>
              <a:buChar char="l"/>
              <a:defRPr/>
            </a:pPr>
            <a:endParaRPr lang="en-US" dirty="0">
              <a:ea typeface="+mn-ea"/>
              <a:cs typeface="+mn-cs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dirty="0"/>
              <a:t>Customer ID has highest information gain because entropy for all the children is zero</a:t>
            </a:r>
            <a:endParaRPr lang="en-US" dirty="0"/>
          </a:p>
        </p:txBody>
      </p:sp>
      <p:graphicFrame>
        <p:nvGraphicFramePr>
          <p:cNvPr id="54275" name="Object 4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533400" y="2743200"/>
          <a:ext cx="8001000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50" name="Visio" r:id="rId1" imgW="9728200" imgH="2266950" progId="Visio.Drawing.6">
                  <p:embed/>
                </p:oleObj>
              </mc:Choice>
              <mc:Fallback>
                <p:oleObj name="Visio" r:id="rId1" imgW="9728200" imgH="2266950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743200"/>
                        <a:ext cx="8001000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A6884D-0358-41A0-8B86-2E8936DC407F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cs typeface="+mj-cs"/>
              </a:rPr>
              <a:t>Gain Ratio</a:t>
            </a:r>
            <a:endParaRPr lang="en-US" dirty="0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035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</p:spPr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000" dirty="0">
                    <a:cs typeface="+mn-cs"/>
                  </a:rPr>
                  <a:t>Gain Ratio: </a:t>
                </a:r>
                <a:endParaRPr lang="en-US" sz="2000" dirty="0">
                  <a:cs typeface="+mn-cs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000" dirty="0"/>
              </a:p>
              <a:p>
                <a:pPr marL="1146175" lvl="2" indent="-228600">
                  <a:buFont typeface="Wingdings" panose="05000000000000000000" charset="0"/>
                  <a:buChar char="u"/>
                  <a:defRPr/>
                </a:pPr>
                <a:endParaRPr lang="en-US" sz="1800" dirty="0"/>
              </a:p>
              <a:p>
                <a:pPr marL="1146175" lvl="2" indent="-228600">
                  <a:buFont typeface="Wingdings" panose="05000000000000000000" charset="0"/>
                  <a:buChar char="u"/>
                  <a:defRPr/>
                </a:pPr>
                <a:endParaRPr lang="en-US" sz="1800" dirty="0"/>
              </a:p>
              <a:p>
                <a:pPr marL="457200" lvl="2">
                  <a:buFont typeface="Wingdings" panose="05000000000000000000" charset="0"/>
                  <a:buNone/>
                  <a:defRPr/>
                </a:pPr>
                <a:r>
                  <a:rPr lang="en-US" sz="1800" dirty="0"/>
                  <a:t>	Parent Node,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 is split into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partitions (children)</a:t>
                </a:r>
                <a:endParaRPr lang="en-US" sz="1800" dirty="0"/>
              </a:p>
              <a:p>
                <a:pPr marL="457200" lvl="2">
                  <a:buFont typeface="Wingdings" panose="05000000000000000000" charset="0"/>
                  <a:buNone/>
                  <a:defRPr/>
                </a:pPr>
                <a:r>
                  <a:rPr lang="en-US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is number of records in child node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sz="1600" dirty="0">
                    <a:latin typeface="Times New Roman" panose="02020603050405020304" pitchFamily="18" charset="0"/>
                  </a:rPr>
                </a:br>
                <a:endParaRPr lang="en-US" sz="7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000" dirty="0"/>
                  <a:t>Adjusts Information Gain by the entropy of the partitioning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𝑆𝑝𝑙𝑖𝑡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𝐼𝑛𝑓𝑜</m:t>
                    </m:r>
                  </m:oMath>
                </a14:m>
                <a:r>
                  <a:rPr lang="en-US" sz="2000" dirty="0"/>
                  <a:t>). </a:t>
                </a:r>
                <a:endParaRPr lang="en-US" sz="2000" dirty="0"/>
              </a:p>
              <a:p>
                <a:pPr marL="1146175" lvl="2" indent="-228600">
                  <a:buFont typeface="Wingdings" panose="05000000000000000000" charset="0"/>
                  <a:buChar char="u"/>
                  <a:defRPr/>
                </a:pPr>
                <a:r>
                  <a:rPr lang="en-US" sz="1800" dirty="0"/>
                  <a:t>Higher entropy partitioning (large number of small partitions) is penalized!</a:t>
                </a:r>
                <a:endParaRPr lang="en-US" sz="18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000" dirty="0"/>
                  <a:t>Used in C4.5 algorithm</a:t>
                </a: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000" dirty="0"/>
                  <a:t>Designed to overcome the disadvantage of Information Gain</a:t>
                </a:r>
                <a:endParaRPr lang="en-US" sz="2000" dirty="0"/>
              </a:p>
            </p:txBody>
          </p:sp>
        </mc:Choice>
        <mc:Fallback>
          <p:sp>
            <p:nvSpPr>
              <p:cNvPr id="44035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7312-112F-4E03-894C-4187335F9BE3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𝐺𝑎𝑖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𝑆𝑝𝑙𝑖𝑡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𝐼𝑛𝑓𝑜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blipFill rotWithShape="1">
                <a:blip r:embed="rId2"/>
                <a:stretch>
                  <a:fillRect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Gain Ratio</a:t>
            </a:r>
            <a:endParaRPr lang="en-US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059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</p:spPr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sz="2000" dirty="0">
                    <a:cs typeface="+mn-cs"/>
                  </a:rPr>
                  <a:t>Gain Ratio: </a:t>
                </a:r>
                <a:endParaRPr lang="en-US" sz="2000" dirty="0">
                  <a:cs typeface="+mn-cs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000" dirty="0"/>
              </a:p>
              <a:p>
                <a:pPr marL="1146175" lvl="2" indent="-228600">
                  <a:buFont typeface="Wingdings" panose="05000000000000000000" charset="0"/>
                  <a:buChar char="u"/>
                  <a:defRPr/>
                </a:pPr>
                <a:endParaRPr lang="en-US" sz="1800" dirty="0"/>
              </a:p>
              <a:p>
                <a:pPr marL="1146175" lvl="2" indent="-228600">
                  <a:buFont typeface="Wingdings" panose="05000000000000000000" charset="0"/>
                  <a:buChar char="u"/>
                  <a:defRPr/>
                </a:pPr>
                <a:endParaRPr lang="en-US" sz="1800" dirty="0"/>
              </a:p>
              <a:p>
                <a:pPr marL="457200" lvl="2">
                  <a:buFont typeface="Wingdings" panose="05000000000000000000" charset="0"/>
                  <a:buNone/>
                  <a:defRPr/>
                </a:pPr>
                <a:r>
                  <a:rPr lang="en-US" sz="1800" dirty="0"/>
                  <a:t>	Parent Node,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dirty="0"/>
                  <a:t> is split into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800" dirty="0"/>
                  <a:t> partitions (children)</a:t>
                </a:r>
                <a:endParaRPr lang="en-US" sz="1800" dirty="0"/>
              </a:p>
              <a:p>
                <a:pPr marL="457200" lvl="2">
                  <a:buFont typeface="Wingdings" panose="05000000000000000000" charset="0"/>
                  <a:buNone/>
                  <a:defRPr/>
                </a:pPr>
                <a:r>
                  <a:rPr lang="en-US" sz="180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is number of records in child node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>
                  <a:rPr lang="en-US" sz="1600" dirty="0">
                    <a:latin typeface="Times New Roman" panose="02020603050405020304" pitchFamily="18" charset="0"/>
                  </a:rPr>
                </a:br>
                <a:endParaRPr lang="en-US" sz="700" dirty="0"/>
              </a:p>
              <a:p>
                <a:pPr marL="1146175" lvl="2" indent="-228600">
                  <a:buFont typeface="Wingdings" panose="05000000000000000000" charset="0"/>
                  <a:buNone/>
                  <a:defRPr/>
                </a:pPr>
                <a:endParaRPr lang="en-US" sz="700" dirty="0"/>
              </a:p>
            </p:txBody>
          </p:sp>
        </mc:Choice>
        <mc:Fallback>
          <p:sp>
            <p:nvSpPr>
              <p:cNvPr id="45059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43000"/>
                <a:ext cx="8382000" cy="5105400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6325" name="Object 4"/>
          <p:cNvGraphicFramePr>
            <a:graphicFrameLocks noChangeAspect="1"/>
          </p:cNvGraphicFramePr>
          <p:nvPr/>
        </p:nvGraphicFramePr>
        <p:xfrm>
          <a:off x="3657600" y="4110038"/>
          <a:ext cx="2570163" cy="175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0" name="Document" r:id="rId2" imgW="5850255" imgH="3998595" progId="Word.Document.8">
                  <p:embed/>
                </p:oleObj>
              </mc:Choice>
              <mc:Fallback>
                <p:oleObj name="Document" r:id="rId2" imgW="5850255" imgH="399859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110038"/>
                        <a:ext cx="2570163" cy="175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6" name="Object 5"/>
          <p:cNvGraphicFramePr>
            <a:graphicFrameLocks noChangeAspect="1"/>
          </p:cNvGraphicFramePr>
          <p:nvPr/>
        </p:nvGraphicFramePr>
        <p:xfrm>
          <a:off x="6421438" y="4105275"/>
          <a:ext cx="2570162" cy="175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1" name="Document" r:id="rId4" imgW="5850255" imgH="3998595" progId="Word.Document.8">
                  <p:embed/>
                </p:oleObj>
              </mc:Choice>
              <mc:Fallback>
                <p:oleObj name="Document" r:id="rId4" imgW="5850255" imgH="3998595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1438" y="4105275"/>
                        <a:ext cx="2570162" cy="175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327" name="Object 6"/>
          <p:cNvGraphicFramePr>
            <a:graphicFrameLocks noChangeAspect="1"/>
          </p:cNvGraphicFramePr>
          <p:nvPr/>
        </p:nvGraphicFramePr>
        <p:xfrm>
          <a:off x="304800" y="4110038"/>
          <a:ext cx="3048000" cy="157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592" name="Document" r:id="rId6" imgW="6205855" imgH="3185795" progId="Word.Document.8">
                  <p:embed/>
                </p:oleObj>
              </mc:Choice>
              <mc:Fallback>
                <p:oleObj name="Document" r:id="rId6" imgW="6205855" imgH="3185795" progId="Word.Documen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10038"/>
                        <a:ext cx="3048000" cy="1570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Box 1"/>
          <p:cNvSpPr txBox="1">
            <a:spLocks noChangeArrowheads="1"/>
          </p:cNvSpPr>
          <p:nvPr/>
        </p:nvSpPr>
        <p:spPr bwMode="auto">
          <a:xfrm>
            <a:off x="914400" y="5681663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1.52</a:t>
            </a:r>
            <a:endParaRPr lang="en-US" altLang="en-US" sz="1600"/>
          </a:p>
        </p:txBody>
      </p:sp>
      <p:sp>
        <p:nvSpPr>
          <p:cNvPr id="56329" name="TextBox 12"/>
          <p:cNvSpPr txBox="1">
            <a:spLocks noChangeArrowheads="1"/>
          </p:cNvSpPr>
          <p:nvPr/>
        </p:nvSpPr>
        <p:spPr bwMode="auto">
          <a:xfrm>
            <a:off x="3886200" y="5681663"/>
            <a:ext cx="17557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0.72</a:t>
            </a:r>
            <a:endParaRPr lang="en-US" altLang="en-US" sz="1600"/>
          </a:p>
        </p:txBody>
      </p:sp>
      <p:sp>
        <p:nvSpPr>
          <p:cNvPr id="56330" name="TextBox 13"/>
          <p:cNvSpPr txBox="1">
            <a:spLocks noChangeArrowheads="1"/>
          </p:cNvSpPr>
          <p:nvPr/>
        </p:nvSpPr>
        <p:spPr bwMode="auto">
          <a:xfrm>
            <a:off x="6629400" y="5638800"/>
            <a:ext cx="17557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600"/>
              <a:t>SplitINFO = 0.97</a:t>
            </a:r>
            <a:endParaRPr lang="en-US" altLang="en-US" sz="16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268759-9D09-4BF4-8B94-60AA69D680E6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𝑅𝑎𝑡𝑖𝑜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𝐺𝑎𝑖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𝑆𝑝𝑙𝑖𝑡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𝐼𝑛𝑓𝑜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𝑆𝑝𝑙𝑖𝑡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𝐼𝑛𝑓𝑜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𝑙𝑜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f>
                        <m:fPr>
                          <m:ctrlPr>
                            <a:rPr lang="en-US" sz="20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0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000" b="0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" y="1752600"/>
                <a:ext cx="6818662" cy="871713"/>
              </a:xfrm>
              <a:prstGeom prst="rect">
                <a:avLst/>
              </a:prstGeom>
              <a:blipFill rotWithShape="1">
                <a:blip r:embed="rId8"/>
                <a:stretch>
                  <a:fillRect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534400" cy="533400"/>
          </a:xfrm>
        </p:spPr>
        <p:txBody>
          <a:bodyPr/>
          <a:lstStyle/>
          <a:p>
            <a:pPr>
              <a:defRPr/>
            </a:pPr>
            <a:r>
              <a:rPr lang="en-US" sz="2800">
                <a:cs typeface="+mj-cs"/>
              </a:rPr>
              <a:t>Measure of Impurity: Classification Error</a:t>
            </a:r>
            <a:endParaRPr lang="en-US"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8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42900" indent="-342900">
                  <a:buFont typeface="Monotype Sorts" charset="0"/>
                  <a:buChar char="l"/>
                  <a:defRPr/>
                </a:pPr>
                <a:r>
                  <a:rPr lang="en-US" dirty="0">
                    <a:cs typeface="+mn-cs"/>
                  </a:rPr>
                  <a:t>Classification error at a node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dirty="0">
                  <a:cs typeface="+mn-cs"/>
                </a:endParaRPr>
              </a:p>
              <a:p>
                <a:pPr marL="342900" indent="-342900">
                  <a:buFont typeface="Monotype Sorts" charset="0"/>
                  <a:buChar char="l"/>
                  <a:defRPr/>
                </a:pPr>
                <a:endParaRPr lang="en-US" dirty="0">
                  <a:cs typeface="+mn-cs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400" dirty="0"/>
                  <a:t>Maximum of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when records are equally distributed among all classes, implying the least interesting situation</a:t>
                </a: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–"/>
                  <a:defRPr/>
                </a:pPr>
                <a:r>
                  <a:rPr lang="en-US" sz="2400" dirty="0"/>
                  <a:t>Minimum of 0 when all records belong to one class, implying the most interesting situation</a:t>
                </a:r>
                <a:endParaRPr lang="en-US" sz="2400" dirty="0"/>
              </a:p>
            </p:txBody>
          </p:sp>
        </mc:Choice>
        <mc:Fallback>
          <p:sp>
            <p:nvSpPr>
              <p:cNvPr id="46083" name="Rectangle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1"/>
                <a:stretch>
                  <a:fillRect l="-4" r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3D3DE-3006-4CC2-9A91-7E4C80B6FDC9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1524000" y="2133600"/>
                <a:ext cx="4304768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2133600"/>
                <a:ext cx="4304768" cy="563680"/>
              </a:xfrm>
              <a:prstGeom prst="rect">
                <a:avLst/>
              </a:prstGeom>
              <a:blipFill rotWithShape="1">
                <a:blip r:embed="rId2"/>
                <a:stretch>
                  <a:fillRect r="2" b="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Computing Error of a Single Node</a:t>
            </a:r>
            <a:endParaRPr lang="en-US">
              <a:cs typeface="+mj-cs"/>
            </a:endParaRPr>
          </a:p>
        </p:txBody>
      </p:sp>
      <p:graphicFrame>
        <p:nvGraphicFramePr>
          <p:cNvPr id="58370" name="Object 3"/>
          <p:cNvGraphicFramePr>
            <a:graphicFrameLocks noChangeAspect="1"/>
          </p:cNvGraphicFramePr>
          <p:nvPr/>
        </p:nvGraphicFramePr>
        <p:xfrm>
          <a:off x="304800" y="2339975"/>
          <a:ext cx="23622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15" name="Document" r:id="rId1" imgW="3238500" imgH="1357630" progId="Word.Document.8">
                  <p:embed/>
                </p:oleObj>
              </mc:Choice>
              <mc:Fallback>
                <p:oleObj name="Document" r:id="rId1" imgW="3238500" imgH="135763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339975"/>
                        <a:ext cx="23622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1" name="Object 4"/>
          <p:cNvGraphicFramePr>
            <a:graphicFrameLocks noChangeAspect="1"/>
          </p:cNvGraphicFramePr>
          <p:nvPr/>
        </p:nvGraphicFramePr>
        <p:xfrm>
          <a:off x="381000" y="5181600"/>
          <a:ext cx="2286000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16" name="Document" r:id="rId3" imgW="3238500" imgH="1382395" progId="Word.Document.8">
                  <p:embed/>
                </p:oleObj>
              </mc:Choice>
              <mc:Fallback>
                <p:oleObj name="Document" r:id="rId3" imgW="3238500" imgH="138239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5181600"/>
                        <a:ext cx="2286000" cy="938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2" name="Object 5"/>
          <p:cNvGraphicFramePr>
            <a:graphicFrameLocks noChangeAspect="1"/>
          </p:cNvGraphicFramePr>
          <p:nvPr/>
        </p:nvGraphicFramePr>
        <p:xfrm>
          <a:off x="381000" y="3817938"/>
          <a:ext cx="228600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17" name="Document" r:id="rId5" imgW="3238500" imgH="1357630" progId="Word.Document.8">
                  <p:embed/>
                </p:oleObj>
              </mc:Choice>
              <mc:Fallback>
                <p:oleObj name="Document" r:id="rId5" imgW="3238500" imgH="135763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817938"/>
                        <a:ext cx="2286000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3" name="Text Box 6"/>
          <p:cNvSpPr txBox="1">
            <a:spLocks noChangeArrowheads="1"/>
          </p:cNvSpPr>
          <p:nvPr/>
        </p:nvSpPr>
        <p:spPr bwMode="auto">
          <a:xfrm>
            <a:off x="2895600" y="2339975"/>
            <a:ext cx="5943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0/6 = 0     P(C2) = 6/6 = 1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Error = 1 – max (0, 1) = 1 – 1 = 0 </a:t>
            </a:r>
            <a:endParaRPr lang="en-US" altLang="en-US" sz="2000"/>
          </a:p>
        </p:txBody>
      </p:sp>
      <p:sp>
        <p:nvSpPr>
          <p:cNvPr id="58374" name="Text Box 7"/>
          <p:cNvSpPr txBox="1">
            <a:spLocks noChangeArrowheads="1"/>
          </p:cNvSpPr>
          <p:nvPr/>
        </p:nvSpPr>
        <p:spPr bwMode="auto">
          <a:xfrm>
            <a:off x="2971800" y="3733800"/>
            <a:ext cx="5105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1/6          P(C2) = 5/6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Error = 1 – max (1/6, 5/6) = 1 – 5/6 = 1/6</a:t>
            </a:r>
            <a:endParaRPr lang="en-US" altLang="en-US" sz="2000"/>
          </a:p>
        </p:txBody>
      </p:sp>
      <p:sp>
        <p:nvSpPr>
          <p:cNvPr id="58375" name="Text Box 8"/>
          <p:cNvSpPr txBox="1">
            <a:spLocks noChangeArrowheads="1"/>
          </p:cNvSpPr>
          <p:nvPr/>
        </p:nvSpPr>
        <p:spPr bwMode="auto">
          <a:xfrm>
            <a:off x="2971800" y="5105400"/>
            <a:ext cx="6172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P(C1) = 2/6          P(C2) = 4/6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Error = 1 – max (2/6, 4/6) = 1 – 4/6 = 1/3</a:t>
            </a:r>
            <a:endParaRPr lang="en-US" altLang="en-US" sz="2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2EFA7E-4E09-40EF-AB70-EBB452ADC926}" type="slidenum">
              <a:rPr lang="en-US"/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753132" y="1465636"/>
                <a:ext cx="4304768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⁡[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b="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132" y="1465636"/>
                <a:ext cx="4304768" cy="563680"/>
              </a:xfrm>
              <a:prstGeom prst="rect">
                <a:avLst/>
              </a:prstGeom>
              <a:blipFill rotWithShape="1">
                <a:blip r:embed="rId7"/>
                <a:stretch>
                  <a:fillRect l="-12" t="-10" b="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Comparison among Impurity Measures</a:t>
            </a:r>
            <a:endParaRPr lang="en-US">
              <a:cs typeface="+mj-cs"/>
            </a:endParaRPr>
          </a:p>
        </p:txBody>
      </p:sp>
      <p:pic>
        <p:nvPicPr>
          <p:cNvPr id="59394" name="Picture 3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714500"/>
            <a:ext cx="62484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4"/>
          <p:cNvSpPr txBox="1">
            <a:spLocks noChangeArrowheads="1"/>
          </p:cNvSpPr>
          <p:nvPr/>
        </p:nvSpPr>
        <p:spPr bwMode="auto">
          <a:xfrm>
            <a:off x="381000" y="12192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/>
              <a:t>For a 2-class problem:</a:t>
            </a:r>
            <a:endParaRPr lang="en-US" altLang="en-US" sz="2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3406A5-55CE-4E30-887A-CB23CAA2D1E5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Misclassification Error vs Gini Index</a:t>
            </a:r>
            <a:endParaRPr lang="en-US">
              <a:cs typeface="+mj-cs"/>
            </a:endParaRPr>
          </a:p>
        </p:txBody>
      </p:sp>
      <p:sp>
        <p:nvSpPr>
          <p:cNvPr id="60418" name="Oval 3"/>
          <p:cNvSpPr>
            <a:spLocks noChangeArrowheads="1"/>
          </p:cNvSpPr>
          <p:nvPr/>
        </p:nvSpPr>
        <p:spPr bwMode="auto">
          <a:xfrm>
            <a:off x="3124200" y="12954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0419" name="Line 4"/>
          <p:cNvSpPr>
            <a:spLocks noChangeShapeType="1"/>
          </p:cNvSpPr>
          <p:nvPr/>
        </p:nvSpPr>
        <p:spPr bwMode="auto">
          <a:xfrm flipH="1">
            <a:off x="2549525" y="17526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0" name="Line 5"/>
          <p:cNvSpPr>
            <a:spLocks noChangeShapeType="1"/>
          </p:cNvSpPr>
          <p:nvPr/>
        </p:nvSpPr>
        <p:spPr bwMode="auto">
          <a:xfrm>
            <a:off x="3657600" y="17526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21" name="Text Box 6"/>
          <p:cNvSpPr txBox="1">
            <a:spLocks noChangeArrowheads="1"/>
          </p:cNvSpPr>
          <p:nvPr/>
        </p:nvSpPr>
        <p:spPr bwMode="auto">
          <a:xfrm>
            <a:off x="2276475" y="18684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60422" name="Text Box 7"/>
          <p:cNvSpPr txBox="1">
            <a:spLocks noChangeArrowheads="1"/>
          </p:cNvSpPr>
          <p:nvPr/>
        </p:nvSpPr>
        <p:spPr bwMode="auto">
          <a:xfrm>
            <a:off x="4765675" y="18684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60423" name="Rectangle 8"/>
          <p:cNvSpPr>
            <a:spLocks noChangeArrowheads="1"/>
          </p:cNvSpPr>
          <p:nvPr/>
        </p:nvSpPr>
        <p:spPr bwMode="auto">
          <a:xfrm>
            <a:off x="2133600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60424" name="Rectangle 9"/>
          <p:cNvSpPr>
            <a:spLocks noChangeArrowheads="1"/>
          </p:cNvSpPr>
          <p:nvPr/>
        </p:nvSpPr>
        <p:spPr bwMode="auto">
          <a:xfrm>
            <a:off x="4321175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graphicFrame>
        <p:nvGraphicFramePr>
          <p:cNvPr id="60425" name="Object 10"/>
          <p:cNvGraphicFramePr>
            <a:graphicFrameLocks noChangeAspect="1"/>
          </p:cNvGraphicFramePr>
          <p:nvPr/>
        </p:nvGraphicFramePr>
        <p:xfrm>
          <a:off x="6243638" y="1217613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4" name="Document" r:id="rId1" imgW="3177540" imgH="3054350" progId="Word.Document.8">
                  <p:embed/>
                </p:oleObj>
              </mc:Choice>
              <mc:Fallback>
                <p:oleObj name="Document" r:id="rId1" imgW="3177540" imgH="305435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1217613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426" name="Object 11"/>
          <p:cNvGraphicFramePr>
            <a:graphicFrameLocks noChangeAspect="1"/>
          </p:cNvGraphicFramePr>
          <p:nvPr/>
        </p:nvGraphicFramePr>
        <p:xfrm>
          <a:off x="2971800" y="37338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75" name="Document" r:id="rId3" imgW="3266440" imgH="2543175" progId="Word.Document.8">
                  <p:embed/>
                </p:oleObj>
              </mc:Choice>
              <mc:Fallback>
                <p:oleObj name="Document" r:id="rId3" imgW="3266440" imgH="2543175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7338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Text Box 12"/>
          <p:cNvSpPr txBox="1">
            <a:spLocks noChangeArrowheads="1"/>
          </p:cNvSpPr>
          <p:nvPr/>
        </p:nvSpPr>
        <p:spPr bwMode="auto">
          <a:xfrm>
            <a:off x="304800" y="3581400"/>
            <a:ext cx="2438400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Gini(N1) </a:t>
            </a:r>
            <a:br>
              <a:rPr lang="en-US" altLang="en-US" sz="2000"/>
            </a:br>
            <a:r>
              <a:rPr lang="en-US" altLang="en-US" sz="2000"/>
              <a:t>= 1 – (3/3)</a:t>
            </a:r>
            <a:r>
              <a:rPr lang="en-US" altLang="en-US" sz="2000" baseline="30000"/>
              <a:t>2 </a:t>
            </a:r>
            <a:r>
              <a:rPr lang="en-US" altLang="en-US" sz="2000"/>
              <a:t>– (0/3)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 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Gini(N2) </a:t>
            </a:r>
            <a:br>
              <a:rPr lang="en-US" altLang="en-US" sz="2000"/>
            </a:br>
            <a:r>
              <a:rPr lang="en-US" altLang="en-US" sz="2000"/>
              <a:t>= 1 – (4/7)</a:t>
            </a:r>
            <a:r>
              <a:rPr lang="en-US" altLang="en-US" sz="2000" baseline="30000"/>
              <a:t>2 </a:t>
            </a:r>
            <a:r>
              <a:rPr lang="en-US" altLang="en-US" sz="2000"/>
              <a:t>– (3/7)</a:t>
            </a:r>
            <a:r>
              <a:rPr lang="en-US" altLang="en-US" sz="2000" baseline="30000"/>
              <a:t>2</a:t>
            </a:r>
            <a:r>
              <a:rPr lang="en-US" altLang="en-US" sz="2000"/>
              <a:t> </a:t>
            </a:r>
            <a:br>
              <a:rPr lang="en-US" altLang="en-US" sz="2000"/>
            </a:br>
            <a:r>
              <a:rPr lang="en-US" altLang="en-US" sz="2000"/>
              <a:t>= 0.489</a:t>
            </a:r>
            <a:endParaRPr lang="en-US" altLang="en-US" sz="2000"/>
          </a:p>
        </p:txBody>
      </p:sp>
      <p:sp>
        <p:nvSpPr>
          <p:cNvPr id="60428" name="Text Box 13"/>
          <p:cNvSpPr txBox="1">
            <a:spLocks noChangeArrowheads="1"/>
          </p:cNvSpPr>
          <p:nvPr/>
        </p:nvSpPr>
        <p:spPr bwMode="auto">
          <a:xfrm>
            <a:off x="5638800" y="3810000"/>
            <a:ext cx="2438400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Gini(Children) </a:t>
            </a:r>
            <a:br>
              <a:rPr lang="en-US" altLang="en-US" sz="2000"/>
            </a:br>
            <a:r>
              <a:rPr lang="en-US" altLang="en-US" sz="2000"/>
              <a:t>= 3/10 * 0 </a:t>
            </a:r>
            <a:br>
              <a:rPr lang="en-US" altLang="en-US" sz="2000"/>
            </a:br>
            <a:r>
              <a:rPr lang="en-US" altLang="en-US" sz="2000"/>
              <a:t>+ 7/10 * 0.489</a:t>
            </a:r>
            <a:br>
              <a:rPr lang="en-US" altLang="en-US" sz="2000"/>
            </a:br>
            <a:r>
              <a:rPr lang="en-US" altLang="en-US" sz="2000"/>
              <a:t>= 0.342</a:t>
            </a:r>
            <a:endParaRPr lang="en-US" altLang="en-US" sz="2000"/>
          </a:p>
          <a:p>
            <a:pPr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</a:rPr>
              <a:t>Gini improves but error remains the same!!</a:t>
            </a: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A2910C-62C3-4E90-9528-AB415EE2307C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Misclassification Error vs Gini Index</a:t>
            </a:r>
            <a:endParaRPr lang="en-US">
              <a:cs typeface="+mj-cs"/>
            </a:endParaRPr>
          </a:p>
        </p:txBody>
      </p:sp>
      <p:sp>
        <p:nvSpPr>
          <p:cNvPr id="61442" name="Oval 3"/>
          <p:cNvSpPr>
            <a:spLocks noChangeArrowheads="1"/>
          </p:cNvSpPr>
          <p:nvPr/>
        </p:nvSpPr>
        <p:spPr bwMode="auto">
          <a:xfrm>
            <a:off x="3124200" y="1295400"/>
            <a:ext cx="1009650" cy="454025"/>
          </a:xfrm>
          <a:prstGeom prst="ellipse">
            <a:avLst/>
          </a:prstGeom>
          <a:solidFill>
            <a:srgbClr val="FFFFFF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0">
                <a:latin typeface="Times New Roman" panose="02020603050405020304" pitchFamily="18" charset="0"/>
              </a:rPr>
              <a:t>A?</a:t>
            </a:r>
            <a:endParaRPr lang="en-US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61443" name="Line 4"/>
          <p:cNvSpPr>
            <a:spLocks noChangeShapeType="1"/>
          </p:cNvSpPr>
          <p:nvPr/>
        </p:nvSpPr>
        <p:spPr bwMode="auto">
          <a:xfrm flipH="1">
            <a:off x="2549525" y="1752600"/>
            <a:ext cx="11080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4" name="Line 5"/>
          <p:cNvSpPr>
            <a:spLocks noChangeShapeType="1"/>
          </p:cNvSpPr>
          <p:nvPr/>
        </p:nvSpPr>
        <p:spPr bwMode="auto">
          <a:xfrm>
            <a:off x="3657600" y="1752600"/>
            <a:ext cx="118427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45" name="Text Box 6"/>
          <p:cNvSpPr txBox="1">
            <a:spLocks noChangeArrowheads="1"/>
          </p:cNvSpPr>
          <p:nvPr/>
        </p:nvSpPr>
        <p:spPr bwMode="auto">
          <a:xfrm>
            <a:off x="2276475" y="1868488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Yes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61446" name="Text Box 7"/>
          <p:cNvSpPr txBox="1">
            <a:spLocks noChangeArrowheads="1"/>
          </p:cNvSpPr>
          <p:nvPr/>
        </p:nvSpPr>
        <p:spPr bwMode="auto">
          <a:xfrm>
            <a:off x="4765675" y="1868488"/>
            <a:ext cx="463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61447" name="Rectangle 8"/>
          <p:cNvSpPr>
            <a:spLocks noChangeArrowheads="1"/>
          </p:cNvSpPr>
          <p:nvPr/>
        </p:nvSpPr>
        <p:spPr bwMode="auto">
          <a:xfrm>
            <a:off x="2133600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N1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sp>
        <p:nvSpPr>
          <p:cNvPr id="61448" name="Rectangle 9"/>
          <p:cNvSpPr>
            <a:spLocks noChangeArrowheads="1"/>
          </p:cNvSpPr>
          <p:nvPr/>
        </p:nvSpPr>
        <p:spPr bwMode="auto">
          <a:xfrm>
            <a:off x="4321175" y="2478088"/>
            <a:ext cx="936625" cy="3413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b="0">
                <a:latin typeface="Times New Roman" panose="02020603050405020304" pitchFamily="18" charset="0"/>
              </a:rPr>
              <a:t>Node N2</a:t>
            </a:r>
            <a:endParaRPr lang="en-US" altLang="en-US" sz="1800" b="0">
              <a:latin typeface="Times New Roman" panose="02020603050405020304" pitchFamily="18" charset="0"/>
            </a:endParaRPr>
          </a:p>
        </p:txBody>
      </p:sp>
      <p:graphicFrame>
        <p:nvGraphicFramePr>
          <p:cNvPr id="61449" name="Object 10"/>
          <p:cNvGraphicFramePr>
            <a:graphicFrameLocks noChangeAspect="1"/>
          </p:cNvGraphicFramePr>
          <p:nvPr/>
        </p:nvGraphicFramePr>
        <p:xfrm>
          <a:off x="6243638" y="1217613"/>
          <a:ext cx="1968500" cy="189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9" name="Document" r:id="rId1" imgW="3177540" imgH="3054350" progId="Word.Document.8">
                  <p:embed/>
                </p:oleObj>
              </mc:Choice>
              <mc:Fallback>
                <p:oleObj name="Document" r:id="rId1" imgW="3177540" imgH="3054350" progId="Word.Documen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3638" y="1217613"/>
                        <a:ext cx="1968500" cy="189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0" name="Object 11"/>
          <p:cNvGraphicFramePr>
            <a:graphicFrameLocks noChangeAspect="1"/>
          </p:cNvGraphicFramePr>
          <p:nvPr/>
        </p:nvGraphicFramePr>
        <p:xfrm>
          <a:off x="838200" y="3733800"/>
          <a:ext cx="1905000" cy="147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0" name="Document" r:id="rId3" imgW="3266440" imgH="2543175" progId="Word.Document.8">
                  <p:embed/>
                </p:oleObj>
              </mc:Choice>
              <mc:Fallback>
                <p:oleObj name="Document" r:id="rId3" imgW="3266440" imgH="2543175" progId="Word.Documen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733800"/>
                        <a:ext cx="1905000" cy="1471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51" name="Object 1"/>
          <p:cNvGraphicFramePr>
            <a:graphicFrameLocks noChangeAspect="1"/>
          </p:cNvGraphicFramePr>
          <p:nvPr/>
        </p:nvGraphicFramePr>
        <p:xfrm>
          <a:off x="3962400" y="3733800"/>
          <a:ext cx="1866900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1" name="Document" r:id="rId5" imgW="3266440" imgH="2543175" progId="Word.Document.8">
                  <p:embed/>
                </p:oleObj>
              </mc:Choice>
              <mc:Fallback>
                <p:oleObj name="Document" r:id="rId5" imgW="3266440" imgH="2543175" progId="Word.Document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3733800"/>
                        <a:ext cx="1866900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2" name="TextBox 2"/>
          <p:cNvSpPr txBox="1">
            <a:spLocks noChangeArrowheads="1"/>
          </p:cNvSpPr>
          <p:nvPr/>
        </p:nvSpPr>
        <p:spPr bwMode="auto">
          <a:xfrm>
            <a:off x="1149350" y="5624513"/>
            <a:ext cx="60896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Misclassification error for all three cases = 0.3 ! </a:t>
            </a:r>
            <a:endParaRPr lang="en-US" alt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F58235-7CDB-4D69-B45A-EA0C3A971689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cs typeface="+mj-cs"/>
              </a:rPr>
              <a:t>Decision Tree Based Classification</a:t>
            </a:r>
            <a:endParaRPr lang="en-US">
              <a:cs typeface="+mj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914400"/>
            <a:ext cx="8318500" cy="5181600"/>
          </a:xfrm>
        </p:spPr>
        <p:txBody>
          <a:bodyPr/>
          <a:lstStyle/>
          <a:p>
            <a:pPr>
              <a:buFont typeface="Monotype Sorts" charset="0"/>
              <a:buChar char="l"/>
              <a:defRPr/>
            </a:pPr>
            <a:r>
              <a:rPr lang="en-US" sz="2400" dirty="0">
                <a:cs typeface="+mn-cs"/>
              </a:rPr>
              <a:t>Advantages:</a:t>
            </a:r>
            <a:endParaRPr lang="en-US" sz="2400" dirty="0">
              <a:cs typeface="+mn-cs"/>
            </a:endParaRPr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Relatively inexpensive to construct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Extremely fast at classifying unknown records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Easy to interpret for small-sized trees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Robust to noise (especially when methods to avoid overfitting are employed)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Can easily handle redundant attributes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Can easily handle irrelevant attributes (unless the attributes are </a:t>
            </a:r>
            <a:r>
              <a:rPr lang="en-US" sz="1800" dirty="0">
                <a:solidFill>
                  <a:srgbClr val="FF0000"/>
                </a:solidFill>
              </a:rPr>
              <a:t>interacting</a:t>
            </a:r>
            <a:r>
              <a:rPr lang="en-US" sz="1800" dirty="0"/>
              <a:t>)</a:t>
            </a:r>
            <a:endParaRPr lang="en-US" sz="1800" dirty="0"/>
          </a:p>
          <a:p>
            <a:pPr>
              <a:buFont typeface="Monotype Sorts" charset="0"/>
              <a:buChar char="l"/>
              <a:defRPr/>
            </a:pPr>
            <a:r>
              <a:rPr lang="en-US" sz="2400" dirty="0">
                <a:cs typeface="+mn-cs"/>
              </a:rPr>
              <a:t>Disadvantages: </a:t>
            </a:r>
            <a:r>
              <a:rPr lang="en-US" sz="2200" dirty="0"/>
              <a:t>.</a:t>
            </a:r>
            <a:endParaRPr lang="en-US" sz="22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Due to the greedy nature of splitting criterion,  </a:t>
            </a:r>
            <a:r>
              <a:rPr lang="en-US" sz="1800" dirty="0">
                <a:solidFill>
                  <a:srgbClr val="FF0000"/>
                </a:solidFill>
              </a:rPr>
              <a:t>interacting</a:t>
            </a:r>
            <a:r>
              <a:rPr lang="en-US" sz="1800" dirty="0"/>
              <a:t> attributes (that can distinguish between classes together but not individually) may be passed over in favor of other attributed that are less discriminating.</a:t>
            </a:r>
            <a:endParaRPr lang="en-US" sz="1800" dirty="0"/>
          </a:p>
          <a:p>
            <a:pPr lvl="1">
              <a:buFont typeface="Arial" panose="020B0604020202020204" pitchFamily="34" charset="0"/>
              <a:buChar char="–"/>
              <a:defRPr/>
            </a:pPr>
            <a:r>
              <a:rPr lang="en-US" sz="1800" dirty="0"/>
              <a:t>Each decision boundary involves only a single attribute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20E007-BACA-4EDA-9D4C-E31FAF01E3B4}" type="slidenum">
              <a:rPr lang="en-US"/>
            </a:fld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381000" y="31750"/>
            <a:ext cx="8280400" cy="654050"/>
          </a:xfrm>
        </p:spPr>
        <p:txBody>
          <a:bodyPr/>
          <a:lstStyle/>
          <a:p>
            <a:pPr>
              <a:defRPr/>
            </a:pPr>
            <a:r>
              <a:rPr lang="en-US" dirty="0">
                <a:cs typeface="+mj-cs"/>
              </a:rPr>
              <a:t>Handling interactions</a:t>
            </a:r>
            <a:endParaRPr lang="en-US" dirty="0">
              <a:cs typeface="+mj-cs"/>
            </a:endParaRPr>
          </a:p>
        </p:txBody>
      </p:sp>
      <p:pic>
        <p:nvPicPr>
          <p:cNvPr id="63490" name="Content Placeholder 1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b="4614"/>
          <a:stretch>
            <a:fillRect/>
          </a:stretch>
        </p:blipFill>
        <p:spPr bwMode="auto">
          <a:xfrm>
            <a:off x="787400" y="1014413"/>
            <a:ext cx="340360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TextBox 14"/>
          <p:cNvSpPr txBox="1">
            <a:spLocks noChangeArrowheads="1"/>
          </p:cNvSpPr>
          <p:nvPr/>
        </p:nvSpPr>
        <p:spPr bwMode="auto">
          <a:xfrm>
            <a:off x="2209800" y="3429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X </a:t>
            </a:r>
            <a:endParaRPr lang="en-US" altLang="en-US" sz="1800"/>
          </a:p>
        </p:txBody>
      </p:sp>
      <p:sp>
        <p:nvSpPr>
          <p:cNvPr id="63492" name="TextBox 15"/>
          <p:cNvSpPr txBox="1">
            <a:spLocks noChangeArrowheads="1"/>
          </p:cNvSpPr>
          <p:nvPr/>
        </p:nvSpPr>
        <p:spPr bwMode="auto">
          <a:xfrm>
            <a:off x="350838" y="2057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endParaRPr lang="en-US" altLang="en-US" sz="1800"/>
          </a:p>
        </p:txBody>
      </p:sp>
      <p:sp>
        <p:nvSpPr>
          <p:cNvPr id="63493" name="TextBox 16"/>
          <p:cNvSpPr txBox="1">
            <a:spLocks noChangeArrowheads="1"/>
          </p:cNvSpPr>
          <p:nvPr/>
        </p:nvSpPr>
        <p:spPr bwMode="auto">
          <a:xfrm>
            <a:off x="4064000" y="1219200"/>
            <a:ext cx="23622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70C0"/>
                </a:solidFill>
              </a:rPr>
              <a:t>+ : 1000 instances</a:t>
            </a: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o : 1000 instances</a:t>
            </a: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63494" name="TextBox 17"/>
          <p:cNvSpPr txBox="1">
            <a:spLocks noChangeArrowheads="1"/>
          </p:cNvSpPr>
          <p:nvPr/>
        </p:nvSpPr>
        <p:spPr bwMode="auto">
          <a:xfrm>
            <a:off x="6477000" y="1219200"/>
            <a:ext cx="2362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Entropy (X) : 0.99 </a:t>
            </a: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Entropy (Y) : 0.99</a:t>
            </a: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8E6DBA-7726-4D4D-9332-A60DF1A4A5B7}" type="slidenum">
              <a:rPr lang="en-US"/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73" y="1206861"/>
            <a:ext cx="6061896" cy="3934796"/>
          </a:xfrm>
          <a:prstGeom prst="rect">
            <a:avLst/>
          </a:prstGeom>
        </p:spPr>
      </p:pic>
      <p:sp>
        <p:nvSpPr>
          <p:cNvPr id="4" name="Title 1"/>
          <p:cNvSpPr txBox="1"/>
          <p:nvPr/>
        </p:nvSpPr>
        <p:spPr>
          <a:xfrm>
            <a:off x="381000" y="31750"/>
            <a:ext cx="8280400" cy="65405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9144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13716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1828800" algn="l" rtl="0" eaLnBrk="0" fontAlgn="base" hangingPunct="0">
              <a:lnSpc>
                <a:spcPts val="36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defRPr/>
            </a:pPr>
            <a:r>
              <a:rPr lang="en-US" kern="0">
                <a:cs typeface="+mj-cs"/>
              </a:rPr>
              <a:t>Handling interactions</a:t>
            </a:r>
            <a:endParaRPr lang="en-US" kern="0" dirty="0">
              <a:cs typeface="+mj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E10A9-468F-43A0-AA1F-444D5252CD82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>
                <a:cs typeface="+mj-cs"/>
              </a:rPr>
              <a:t>Handling interactions given irrelevant attributes</a:t>
            </a:r>
            <a:endParaRPr lang="en-US" sz="2400" dirty="0">
              <a:cs typeface="+mj-cs"/>
            </a:endParaRPr>
          </a:p>
        </p:txBody>
      </p:sp>
      <p:pic>
        <p:nvPicPr>
          <p:cNvPr id="64514" name="Content Placeholder 1"/>
          <p:cNvPicPr>
            <a:picLocks noGrp="1" noChangeAspect="1"/>
          </p:cNvPicPr>
          <p:nvPr>
            <p:ph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3" t="-2" b="7790"/>
          <a:stretch>
            <a:fillRect/>
          </a:stretch>
        </p:blipFill>
        <p:spPr>
          <a:xfrm>
            <a:off x="787400" y="1014413"/>
            <a:ext cx="3403600" cy="2513012"/>
          </a:xfrm>
        </p:spPr>
      </p:pic>
      <p:sp>
        <p:nvSpPr>
          <p:cNvPr id="64515" name="TextBox 2"/>
          <p:cNvSpPr txBox="1">
            <a:spLocks noChangeArrowheads="1"/>
          </p:cNvSpPr>
          <p:nvPr/>
        </p:nvSpPr>
        <p:spPr bwMode="auto">
          <a:xfrm>
            <a:off x="4064000" y="1219200"/>
            <a:ext cx="2362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0070C0"/>
                </a:solidFill>
              </a:rPr>
              <a:t>+ : 1000 instances</a:t>
            </a: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0070C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o : 1000 instances</a:t>
            </a: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Adding Z as a noisy attribute generated from a uniform distribution</a:t>
            </a:r>
            <a:endParaRPr lang="en-US" altLang="en-US" sz="1800"/>
          </a:p>
        </p:txBody>
      </p:sp>
      <p:sp>
        <p:nvSpPr>
          <p:cNvPr id="64518" name="TextBox 7"/>
          <p:cNvSpPr txBox="1">
            <a:spLocks noChangeArrowheads="1"/>
          </p:cNvSpPr>
          <p:nvPr/>
        </p:nvSpPr>
        <p:spPr bwMode="auto">
          <a:xfrm>
            <a:off x="350838" y="20574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Y</a:t>
            </a:r>
            <a:endParaRPr lang="en-US" altLang="en-US" sz="1800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676103" y="1222836"/>
            <a:ext cx="2438400" cy="258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Entropy (X) : 0.99 </a:t>
            </a: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Entropy (Y) : 0.99</a:t>
            </a: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/>
              <a:t>Entropy (Z) : 0.98</a:t>
            </a: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B050"/>
                </a:solidFill>
              </a:rPr>
              <a:t>Attribute Z will be chosen for splitting!</a:t>
            </a:r>
            <a:endParaRPr lang="en-US" altLang="en-US" sz="1800" dirty="0">
              <a:solidFill>
                <a:srgbClr val="00B050"/>
              </a:solidFill>
            </a:endParaRPr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64524" name="TextBox 14"/>
          <p:cNvSpPr txBox="1">
            <a:spLocks noChangeArrowheads="1"/>
          </p:cNvSpPr>
          <p:nvPr/>
        </p:nvSpPr>
        <p:spPr bwMode="auto">
          <a:xfrm>
            <a:off x="2209800" y="34290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1800"/>
              <a:t>X </a:t>
            </a:r>
            <a:endParaRPr lang="en-US" altLang="en-US" sz="18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22617-F225-481C-ACCD-76CA721250CA}" type="slidenum">
              <a:rPr lang="en-US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794760"/>
            <a:ext cx="2743200" cy="26752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8839200" cy="533400"/>
          </a:xfrm>
        </p:spPr>
        <p:txBody>
          <a:bodyPr/>
          <a:lstStyle/>
          <a:p>
            <a:pPr>
              <a:defRPr/>
            </a:pPr>
            <a:r>
              <a:rPr lang="en-US" sz="2300">
                <a:cs typeface="+mj-cs"/>
              </a:rPr>
              <a:t>Limitations of single attribute-based decision boundaries</a:t>
            </a:r>
            <a:endParaRPr lang="en-US" sz="2300">
              <a:cs typeface="+mj-cs"/>
            </a:endParaRPr>
          </a:p>
        </p:txBody>
      </p:sp>
      <p:sp>
        <p:nvSpPr>
          <p:cNvPr id="65538" name="TextBox 6"/>
          <p:cNvSpPr txBox="1">
            <a:spLocks noChangeArrowheads="1"/>
          </p:cNvSpPr>
          <p:nvPr/>
        </p:nvSpPr>
        <p:spPr bwMode="auto">
          <a:xfrm>
            <a:off x="5956300" y="1828800"/>
            <a:ext cx="2895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pitchFamily="-84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/>
              <a:t>Both</a:t>
            </a:r>
            <a:r>
              <a:rPr lang="en-US" altLang="en-US" sz="2000">
                <a:solidFill>
                  <a:srgbClr val="0070C0"/>
                </a:solidFill>
              </a:rPr>
              <a:t> positive (+)</a:t>
            </a:r>
            <a:r>
              <a:rPr lang="en-US" altLang="en-US" sz="2000"/>
              <a:t> and </a:t>
            </a:r>
            <a:r>
              <a:rPr lang="en-US" altLang="en-US" sz="2000">
                <a:solidFill>
                  <a:srgbClr val="FF0000"/>
                </a:solidFill>
              </a:rPr>
              <a:t>negative (o)</a:t>
            </a:r>
            <a:r>
              <a:rPr lang="en-US" altLang="en-US" sz="2000"/>
              <a:t> classes generated from skewed Gaussians with centers at (8,8) and (12,12) respectively.  </a:t>
            </a:r>
            <a:endParaRPr lang="en-US" altLang="en-US" sz="2000"/>
          </a:p>
        </p:txBody>
      </p:sp>
      <p:pic>
        <p:nvPicPr>
          <p:cNvPr id="54277" name="Picture 5" descr="C:\Users\Ankush\Desktop\oblique.png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524000"/>
            <a:ext cx="61976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8" name="Picture 6" descr="C:\Users\Ankush\Desktop\oblique2.pn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0" y="1524000"/>
            <a:ext cx="6184900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D22FE4-A033-49DE-ADF8-701A1E3A2782}" type="slidenum">
              <a:rPr lang="en-US"/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5" name="Ink 4"/>
              <p14:cNvContentPartPr/>
              <p14:nvPr/>
            </p14:nvContentPartPr>
            <p14:xfrm>
              <a:off x="5722920" y="3593520"/>
              <a:ext cx="210960" cy="181800"/>
            </p14:xfrm>
          </p:contentPart>
        </mc:Choice>
        <mc:Fallback xmlns="">
          <p:pic>
            <p:nvPicPr>
              <p:cNvPr id="5" name="Ink 4"/>
            </p:nvPicPr>
            <p:blipFill>
              <a:blip r:embed="rId4"/>
            </p:blipFill>
            <p:spPr>
              <a:xfrm>
                <a:off x="5722920" y="3593520"/>
                <a:ext cx="210960" cy="1818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6" name="Ink 5"/>
              <p14:cNvContentPartPr/>
              <p14:nvPr/>
            </p14:nvContentPartPr>
            <p14:xfrm>
              <a:off x="2638800" y="1735920"/>
              <a:ext cx="1503360" cy="4287240"/>
            </p14:xfrm>
          </p:contentPart>
        </mc:Choice>
        <mc:Fallback xmlns="">
          <p:pic>
            <p:nvPicPr>
              <p:cNvPr id="6" name="Ink 5"/>
            </p:nvPicPr>
            <p:blipFill>
              <a:blip r:embed="rId6"/>
            </p:blipFill>
            <p:spPr>
              <a:xfrm>
                <a:off x="2638800" y="1735920"/>
                <a:ext cx="1503360" cy="4287240"/>
              </a:xfrm>
              <a:prstGeom prst="rect"/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COMMONDATA" val="eyJoZGlkIjoiZGE2Mjg2YTZkZTMyMTYwY2M1OTQ5YzJlN2MyYmRjOGEifQ=="/>
</p:tagLst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0</TotalTime>
  <Words>13783</Words>
  <Application>WPS 演示</Application>
  <PresentationFormat>On-screen Show (4:3)</PresentationFormat>
  <Paragraphs>1073</Paragraphs>
  <Slides>59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66</vt:i4>
      </vt:variant>
      <vt:variant>
        <vt:lpstr>幻灯片标题</vt:lpstr>
      </vt:variant>
      <vt:variant>
        <vt:i4>59</vt:i4>
      </vt:variant>
    </vt:vector>
  </HeadingPairs>
  <TitlesOfParts>
    <vt:vector size="140" baseType="lpstr">
      <vt:lpstr>Arial</vt:lpstr>
      <vt:lpstr>宋体</vt:lpstr>
      <vt:lpstr>Wingdings</vt:lpstr>
      <vt:lpstr>MS PGothic</vt:lpstr>
      <vt:lpstr>Tahoma</vt:lpstr>
      <vt:lpstr>Monotype Sorts</vt:lpstr>
      <vt:lpstr>Wingdings</vt:lpstr>
      <vt:lpstr>Times New Roman</vt:lpstr>
      <vt:lpstr>Monotype Sorts</vt:lpstr>
      <vt:lpstr>微软雅黑</vt:lpstr>
      <vt:lpstr>Arial Unicode MS</vt:lpstr>
      <vt:lpstr>Symbol</vt:lpstr>
      <vt:lpstr>Cambria Math</vt:lpstr>
      <vt:lpstr>Symbol</vt:lpstr>
      <vt:lpstr>LC.BRev.FY97</vt:lpstr>
      <vt:lpstr>Word.Document.8</vt:lpstr>
      <vt:lpstr>Word.Document.8</vt:lpstr>
      <vt:lpstr>Visio.Drawing.6</vt:lpstr>
      <vt:lpstr>Word.Document.8</vt:lpstr>
      <vt:lpstr>Visio.Drawing.6</vt:lpstr>
      <vt:lpstr>Word.Document.8</vt:lpstr>
      <vt:lpstr>Visio.Drawing.6</vt:lpstr>
      <vt:lpstr>Word.Document.8</vt:lpstr>
      <vt:lpstr>Visio.Drawing.6</vt:lpstr>
      <vt:lpstr>Word.Document.8</vt:lpstr>
      <vt:lpstr>Visio.Drawing.6</vt:lpstr>
      <vt:lpstr>Word.Document.8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Visio.Drawing.6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Visio.Drawing.6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Visio.Drawing.6</vt:lpstr>
      <vt:lpstr>Data Mining  Classification: Basic Concepts and Techniques</vt:lpstr>
      <vt:lpstr>Classification: Definition</vt:lpstr>
      <vt:lpstr>Examples of Classification Task</vt:lpstr>
      <vt:lpstr>General Approach for Building Classification Model</vt:lpstr>
      <vt:lpstr>Classification Techniques</vt:lpstr>
      <vt:lpstr>Example of a Decision Tree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Apply Model to Test Data</vt:lpstr>
      <vt:lpstr>Another Example of Decision Tree</vt:lpstr>
      <vt:lpstr>Decision Tree Classification Task</vt:lpstr>
      <vt:lpstr>Decision Tree Induction</vt:lpstr>
      <vt:lpstr>General Structure of Hunt’s Algorithm</vt:lpstr>
      <vt:lpstr>Hunt’s Algorithm</vt:lpstr>
      <vt:lpstr>Hunt’s Algorithm</vt:lpstr>
      <vt:lpstr>Hunt’s Algorithm</vt:lpstr>
      <vt:lpstr>Hunt’s Algorithm</vt:lpstr>
      <vt:lpstr>Design Issues of Decision Tree Induction</vt:lpstr>
      <vt:lpstr>Methods for Expressing Test Conditions</vt:lpstr>
      <vt:lpstr>Test Condition for Nominal Attributes</vt:lpstr>
      <vt:lpstr>Test Condition for Ordinal Attributes</vt:lpstr>
      <vt:lpstr>Test Condition for Continuous Attributes</vt:lpstr>
      <vt:lpstr>Splitting Based on Continuous Attributes</vt:lpstr>
      <vt:lpstr>How to determine the Best Split</vt:lpstr>
      <vt:lpstr>How to determine the Best Split</vt:lpstr>
      <vt:lpstr>Measures of Node Impurity</vt:lpstr>
      <vt:lpstr>Finding the Best Split</vt:lpstr>
      <vt:lpstr>Finding the Best Split</vt:lpstr>
      <vt:lpstr>Measure of Impurity: GINI</vt:lpstr>
      <vt:lpstr>Measure of Impurity: GINI</vt:lpstr>
      <vt:lpstr>Computing Gini Index of a Single Node</vt:lpstr>
      <vt:lpstr>Computing Gini Index for a Collection of Nodes</vt:lpstr>
      <vt:lpstr>Binary Attributes: Computing GINI Index</vt:lpstr>
      <vt:lpstr>Categorical Attributes: Computing Gini Index</vt:lpstr>
      <vt:lpstr>Continuous Attributes: Computing Gini Index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Continuous Attributes: Computing Gini Index...</vt:lpstr>
      <vt:lpstr>Measure of Impurity: Entropy</vt:lpstr>
      <vt:lpstr>Computing Entropy of a Single Node</vt:lpstr>
      <vt:lpstr>Computing Information Gain After Splitting</vt:lpstr>
      <vt:lpstr>Problem with large number of partitions</vt:lpstr>
      <vt:lpstr>Gain Ratio</vt:lpstr>
      <vt:lpstr>Gain Ratio</vt:lpstr>
      <vt:lpstr>Measure of Impurity: Classification Error</vt:lpstr>
      <vt:lpstr>Computing Error of a Single Node</vt:lpstr>
      <vt:lpstr>Comparison among Impurity Measures</vt:lpstr>
      <vt:lpstr>Misclassification Error vs Gini Index</vt:lpstr>
      <vt:lpstr>Misclassification Error vs Gini Index</vt:lpstr>
      <vt:lpstr>Decision Tree Based Classification</vt:lpstr>
      <vt:lpstr>Handling interactions</vt:lpstr>
      <vt:lpstr>PowerPoint 演示文稿</vt:lpstr>
      <vt:lpstr>Handling interactions given irrelevant attributes</vt:lpstr>
      <vt:lpstr>Limitations of single attribute-based decision boundaries</vt:lpstr>
    </vt:vector>
  </TitlesOfParts>
  <LinksUpToDate>false</LinksUpToDate>
  <SharedDoc>false</SharedDoc>
  <HyperlinksChanged>false</HyperlinksChanged>
  <AppVersion>14.0000</AppVersion>
  <Pages>3</Pag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 Classification: Basic Concepts and Techniques</dc:title>
  <dc:creator>anujkarpatne@gmail.com</dc:creator>
  <cp:lastModifiedBy>XKM</cp:lastModifiedBy>
  <cp:revision>77</cp:revision>
  <cp:lastPrinted>2019-08-23T17:53:00Z</cp:lastPrinted>
  <dcterms:created xsi:type="dcterms:W3CDTF">2018-02-14T20:41:00Z</dcterms:created>
  <dcterms:modified xsi:type="dcterms:W3CDTF">2025-09-23T00:29:57Z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427E9517CE4E4B3BBC63AC45B4D1519D_12</vt:lpwstr>
  </property>
  <property fmtid="{D5CDD505-2E9C-101B-9397-08002B2CF9AE}" pid="3" name="KSOProductBuildVer">
    <vt:lpwstr>2052-12.1.0.22529</vt:lpwstr>
  </property>
</Properties>
</file>