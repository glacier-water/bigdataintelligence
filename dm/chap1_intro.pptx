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gif" ContentType="image/gif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40"/>
  </p:handoutMasterIdLst>
  <p:sldIdLst>
    <p:sldId id="515" r:id="rId3"/>
    <p:sldId id="608" r:id="rId5"/>
    <p:sldId id="609" r:id="rId6"/>
    <p:sldId id="610" r:id="rId7"/>
    <p:sldId id="611" r:id="rId8"/>
    <p:sldId id="576" r:id="rId9"/>
    <p:sldId id="613" r:id="rId10"/>
    <p:sldId id="614" r:id="rId11"/>
    <p:sldId id="615" r:id="rId12"/>
    <p:sldId id="616" r:id="rId13"/>
    <p:sldId id="617" r:id="rId14"/>
    <p:sldId id="577" r:id="rId15"/>
    <p:sldId id="578" r:id="rId16"/>
    <p:sldId id="585" r:id="rId17"/>
    <p:sldId id="583" r:id="rId18"/>
    <p:sldId id="517" r:id="rId19"/>
    <p:sldId id="522" r:id="rId20"/>
    <p:sldId id="531" r:id="rId21"/>
    <p:sldId id="556" r:id="rId22"/>
    <p:sldId id="557" r:id="rId23"/>
    <p:sldId id="534" r:id="rId24"/>
    <p:sldId id="558" r:id="rId25"/>
    <p:sldId id="536" r:id="rId26"/>
    <p:sldId id="537" r:id="rId27"/>
    <p:sldId id="538" r:id="rId28"/>
    <p:sldId id="539" r:id="rId29"/>
    <p:sldId id="560" r:id="rId30"/>
    <p:sldId id="561" r:id="rId31"/>
    <p:sldId id="562" r:id="rId32"/>
    <p:sldId id="564" r:id="rId33"/>
    <p:sldId id="565" r:id="rId34"/>
    <p:sldId id="546" r:id="rId35"/>
    <p:sldId id="568" r:id="rId36"/>
    <p:sldId id="581" r:id="rId37"/>
    <p:sldId id="582" r:id="rId38"/>
    <p:sldId id="575" r:id="rId39"/>
  </p:sldIdLst>
  <p:sldSz cx="9144000" cy="6858000" type="screen4x3"/>
  <p:notesSz cx="6934200" cy="9220200"/>
  <p:custDataLst>
    <p:tags r:id="rId44"/>
  </p:custData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8" autoAdjust="0"/>
    <p:restoredTop sz="94537" autoAdjust="0"/>
  </p:normalViewPr>
  <p:slideViewPr>
    <p:cSldViewPr showGuides="1">
      <p:cViewPr varScale="1">
        <p:scale>
          <a:sx n="109" d="100"/>
          <a:sy n="109" d="100"/>
        </p:scale>
        <p:origin x="1410" y="102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05"/>
        <p:guide pos="219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6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4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379913"/>
            <a:ext cx="5087937" cy="414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901" tIns="47952" rIns="95901" bIns="47952" numCol="1" anchor="t" anchorCtr="0" compatLnSpc="1"/>
          <a:lstStyle/>
          <a:p>
            <a:pPr lvl="0"/>
            <a:r>
              <a:rPr lang="en-US" noProof="0"/>
              <a:t>Click to edit Master notes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700088"/>
            <a:ext cx="4591050" cy="3443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6990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385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4084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76425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5325"/>
            <a:ext cx="4605337" cy="3454400"/>
          </a:xfrm>
          <a:solidFill>
            <a:srgbClr val="FFFFFF"/>
          </a:solidFill>
        </p:spPr>
      </p:sp>
      <p:sp>
        <p:nvSpPr>
          <p:cNvPr id="40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4962"/>
          </a:xfr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90715" tIns="45354" rIns="90715" bIns="4535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74" tIns="47939" rIns="95874" bIns="47939"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ECDCCC6-B04C-463A-8FDD-2DF7BD099D58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74" tIns="47939" rIns="95874" bIns="47939"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7C938F2-FC9D-4AE0-9822-4CF0C7F13092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74" tIns="47939" rIns="95874" bIns="47939"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0244" name="Slide Number Placeholder 3"/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39142D-07DE-4BDC-A58B-43F3AA1C1C78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74" tIns="47939" rIns="95874" bIns="47939"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6388" name="Slide Number Placeholder 3"/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1BF1B36-D976-482C-B95F-267366E69967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3E86E9-1C2A-455D-ACAD-D24058B87AE0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74" tIns="47939" rIns="95874" bIns="47939"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2532" name="Slide Number Placeholder 3"/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1392FE-D811-4C2F-A9EB-5047564C1F88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74" tIns="47939" rIns="95874" bIns="47939"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4580" name="Slide Number Placeholder 3"/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8DF7CE-E8BC-4E4A-A0B6-F08ED9D08657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74" tIns="47939" rIns="95874" bIns="47939"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6628" name="Slide Number Placeholder 3"/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63F4C0-A35A-47B4-AACE-7BE91EF63B0E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74" tIns="47939" rIns="95874" bIns="47939"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0724" name="Slide Number Placeholder 3"/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CD54DF-3B96-4699-AE12-AD66EA0B9700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874" tIns="47939" rIns="95874" bIns="47939"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2772" name="Slide Number Placeholder 3"/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39468C4-35C5-4D4E-9E67-AD87617ABFA4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 noChangeArrowheads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2F0540-F73A-4865-9A62-C88D0F9C0394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</p:spPr>
        <p:txBody>
          <a:bodyPr lIns="90792" tIns="45395" rIns="90792" bIns="4539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 noChangeArrowheads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AEF58F-DA85-422B-B193-617AE47D2C10}" type="slidenum">
              <a:rPr lang="en-US" altLang="en-US" b="0">
                <a:cs typeface="Arial" panose="020B0604020202020204" pitchFamily="34" charset="0"/>
              </a:rPr>
            </a:fld>
            <a:endParaRPr lang="en-US" altLang="en-US" b="0">
              <a:cs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</p:spPr>
        <p:txBody>
          <a:bodyPr lIns="90792" tIns="45395" rIns="90792" bIns="4539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solidFill>
            <a:srgbClr val="FFFFFF"/>
          </a:solidFill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90742" tIns="45370" rIns="90742" bIns="45370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solidFill>
            <a:srgbClr val="FFFFFF"/>
          </a:solidFill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90742" tIns="45370" rIns="90742" bIns="45370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0" tIns="45361" rIns="90730" bIns="45361"/>
          <a:lstStyle/>
          <a:p>
            <a:pPr defTabSz="908050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21" tIns="45360" rIns="90721" bIns="45360"/>
          <a:lstStyle/>
          <a:p>
            <a:pPr defTabSz="908050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4" tIns="45367" rIns="90734" bIns="4536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2" tIns="45370" rIns="90742" bIns="45370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4" tIns="45367" rIns="90734" bIns="4536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4" tIns="45367" rIns="90734" bIns="4536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4" tIns="45367" rIns="90734" bIns="4536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864" tIns="45432" rIns="90864" bIns="45432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505" indent="-282575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5380" indent="-22733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89405" indent="-22733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3430" indent="-22733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0630" indent="-22733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7830" indent="-22733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5030" indent="-22733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2230" indent="-22733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6F2516-73FE-4947-B8FC-09596D8EF2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809" tIns="45404" rIns="90809" bIns="4540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2123DC-DFBA-4B53-859F-D576C850A32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664E48-8EBF-45D4-86A6-5BE60853586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ED179D-0692-4F36-8F87-24A7D81E41E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8406F3-FDF8-41E1-AD13-82948F2FCA4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40B3D3-437E-4EF5-8B9B-4613008D4C0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762368-7041-4862-85B1-46B2CE22961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4C5D0A-68C6-4F5E-8CA4-09CFA6B2E27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FE8911-AB9F-4C99-AEC6-0A0FC62501B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9B355-62F4-4B95-9A45-052A9753D3A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4B62A1-22B8-42FD-9E04-8138F77E95E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5B7742-315A-4223-A578-4A01A42EE72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A7EB2A-6236-4A15-9E28-8DA517D22E3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323DAB-C2B0-4648-82BD-93DD305D8B0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 Third Level</a:t>
            </a:r>
            <a:endParaRPr lang="en-US" altLang="en-US"/>
          </a:p>
        </p:txBody>
      </p:sp>
      <p:grpSp>
        <p:nvGrpSpPr>
          <p:cNvPr id="1028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2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3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4E630134-C3B3-4B59-A84B-52E65CCBE6D9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tags" Target="../tags/tag4.xml"/><Relationship Id="rId4" Type="http://schemas.openxmlformats.org/officeDocument/2006/relationships/image" Target="../media/image2.jpeg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GIF"/><Relationship Id="rId8" Type="http://schemas.openxmlformats.org/officeDocument/2006/relationships/image" Target="../media/image9.wmf"/><Relationship Id="rId7" Type="http://schemas.openxmlformats.org/officeDocument/2006/relationships/oleObject" Target="../embeddings/oleObject2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4" Type="http://schemas.openxmlformats.org/officeDocument/2006/relationships/notesSlide" Target="../notesSlides/notesSlide6.xml"/><Relationship Id="rId13" Type="http://schemas.openxmlformats.org/officeDocument/2006/relationships/vmlDrawing" Target="../drawings/vmlDrawing1.v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5.xml"/><Relationship Id="rId10" Type="http://schemas.openxmlformats.org/officeDocument/2006/relationships/image" Target="../media/image11.GIF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GIF"/><Relationship Id="rId5" Type="http://schemas.openxmlformats.org/officeDocument/2006/relationships/image" Target="../media/image33.GIF"/><Relationship Id="rId4" Type="http://schemas.openxmlformats.org/officeDocument/2006/relationships/image" Target="../media/image32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jpeg"/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44.wmf"/><Relationship Id="rId10" Type="http://schemas.openxmlformats.org/officeDocument/2006/relationships/notesSlide" Target="../notesSlides/notesSlide18.xml"/><Relationship Id="rId1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0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49.wmf"/><Relationship Id="rId1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1.e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49.wmf"/><Relationship Id="rId1" Type="http://schemas.openxmlformats.org/officeDocument/2006/relationships/oleObject" Target="../embeddings/oleObject9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3.png"/><Relationship Id="rId6" Type="http://schemas.openxmlformats.org/officeDocument/2006/relationships/image" Target="../media/image52.jpeg"/><Relationship Id="rId5" Type="http://schemas.openxmlformats.org/officeDocument/2006/relationships/image" Target="../media/image9.wmf"/><Relationship Id="rId4" Type="http://schemas.openxmlformats.org/officeDocument/2006/relationships/oleObject" Target="../embeddings/oleObject12.bin"/><Relationship Id="rId3" Type="http://schemas.openxmlformats.org/officeDocument/2006/relationships/image" Target="../media/image8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9.png"/><Relationship Id="rId3" Type="http://schemas.openxmlformats.org/officeDocument/2006/relationships/oleObject" Target="../embeddings/oleObject13.bin"/><Relationship Id="rId2" Type="http://schemas.openxmlformats.org/officeDocument/2006/relationships/image" Target="../media/image58.png"/><Relationship Id="rId1" Type="http://schemas.openxmlformats.org/officeDocument/2006/relationships/image" Target="../media/image57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1.wmf"/><Relationship Id="rId1" Type="http://schemas.openxmlformats.org/officeDocument/2006/relationships/oleObject" Target="../embeddings/oleObject14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3.wmf"/><Relationship Id="rId1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5.png"/><Relationship Id="rId6" Type="http://schemas.microsoft.com/office/2007/relationships/media" Target="file:///\\winfiles\savedocs\anuj\Downloads\lecture_1_slides_ppt\Global%20Animation%202-28-2011.wmv" TargetMode="External"/><Relationship Id="rId5" Type="http://schemas.openxmlformats.org/officeDocument/2006/relationships/video" Target="file:///\\winfiles\savedocs\anuj\Downloads\lecture_1_slides_ppt\Global%20Animation%202-28-2011.wmv" TargetMode="External"/><Relationship Id="rId4" Type="http://schemas.openxmlformats.org/officeDocument/2006/relationships/image" Target="../media/image64.png"/><Relationship Id="rId3" Type="http://schemas.microsoft.com/office/2007/relationships/media" Target="file:///\\winfiles\savedocs\anuj\Downloads\lecture_1_slides_ppt\modis_swath_640x480_jpg.wmv" TargetMode="External"/><Relationship Id="rId2" Type="http://schemas.openxmlformats.org/officeDocument/2006/relationships/video" Target="file:///\\winfiles\savedocs\anuj\Downloads\lecture_1_slides_ppt\modis_swath_640x480_jpg.wmv" TargetMode="External"/><Relationship Id="rId1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pPr algn="ctr"/>
            <a:r>
              <a:rPr lang="en-US" altLang="en-US"/>
              <a:t>Data Mining: Introduction</a:t>
            </a:r>
            <a:endParaRPr lang="en-US" altLang="en-US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381000" y="1298575"/>
            <a:ext cx="8153400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4000" b="0"/>
              <a:t>Introduction to Data Mining</a:t>
            </a:r>
            <a:endParaRPr lang="en-US" altLang="en-US" sz="40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4000" kern="0" dirty="0">
                <a:latin typeface="华文中宋" panose="02010600040101010101" pitchFamily="2" charset="-122"/>
                <a:ea typeface="华文中宋" panose="02010600040101010101" pitchFamily="2" charset="-122"/>
                <a:cs typeface="+mj-cs"/>
                <a:sym typeface="+mn-ea"/>
              </a:rPr>
              <a:t>数据挖掘（双语）</a:t>
            </a:r>
            <a:endParaRPr lang="en-US" altLang="en-US" sz="40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0"/>
              <a:t>马小科</a:t>
            </a:r>
            <a:endParaRPr lang="zh-CN" altLang="en-US" sz="3200" b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0"/>
              <a:t>计算机科学与技术学院</a:t>
            </a:r>
            <a:endParaRPr lang="en-US" altLang="en-US" sz="1600" b="0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xkma@xidian.edu.cn</a:t>
            </a:r>
            <a:endParaRPr lang="en-US" altLang="en-US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/>
          </a:p>
        </p:txBody>
      </p:sp>
      <p:sp>
        <p:nvSpPr>
          <p:cNvPr id="307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117A7A0-6EFA-49E2-9643-E6DCA302B191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CA3D3F2-749A-40D6-ABFA-3851F7FC334F}" type="slidenum">
              <a:rPr lang="en-US" altLang="en-US" sz="1200" smtClean="0">
                <a:solidFill>
                  <a:srgbClr val="898989"/>
                </a:solidFill>
              </a:rPr>
            </a:fld>
            <a:endParaRPr lang="en-US" altLang="en-US" sz="1200" smtClean="0">
              <a:solidFill>
                <a:srgbClr val="898989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81000" y="152400"/>
            <a:ext cx="8280400" cy="533400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3600"/>
              </a:lnSpc>
              <a:defRPr/>
            </a:pPr>
            <a:r>
              <a:rPr lang="zh-CN" altLang="en-US" sz="3200" kern="0">
                <a:latin typeface="+mj-lt"/>
                <a:ea typeface="宋体" panose="02010600030101010101" pitchFamily="2" charset="-122"/>
                <a:cs typeface="+mj-cs"/>
              </a:rPr>
              <a:t>辅导教师</a:t>
            </a:r>
            <a:endParaRPr lang="zh-CN" altLang="en-US" sz="3200" kern="0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04800" y="1295400"/>
            <a:ext cx="8305800" cy="4343400"/>
          </a:xfrm>
          <a:prstGeom prst="rect">
            <a:avLst/>
          </a:prstGeom>
        </p:spPr>
        <p:txBody>
          <a:bodyPr/>
          <a:lstStyle/>
          <a:p>
            <a:pPr marL="292100" indent="-2921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altLang="zh-CN" sz="3600" b="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b="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马亚雄</a:t>
            </a:r>
            <a:r>
              <a:rPr lang="en-US" altLang="zh-CN" sz="3600" b="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b="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助理研究员 </a:t>
            </a:r>
            <a:endParaRPr lang="en-US" altLang="zh-CN" sz="3600" b="0" kern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92100" indent="-2921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  <a:defRPr/>
            </a:pPr>
            <a:r>
              <a:rPr lang="zh-CN" altLang="en-US" sz="3600" b="0" kern="0" dirty="0">
                <a:latin typeface="+mn-lt"/>
                <a:ea typeface="宋体" panose="02010600030101010101" pitchFamily="2" charset="-122"/>
              </a:rPr>
              <a:t>      </a:t>
            </a:r>
            <a:r>
              <a:rPr lang="en-US" altLang="zh-CN" sz="3600" b="0" kern="0" dirty="0">
                <a:latin typeface="+mn-lt"/>
                <a:ea typeface="宋体" panose="02010600030101010101" pitchFamily="2" charset="-122"/>
              </a:rPr>
              <a:t>  </a:t>
            </a:r>
            <a:r>
              <a:rPr lang="en-US" sz="3600" b="0" kern="0" dirty="0">
                <a:latin typeface="+mn-lt"/>
                <a:ea typeface="宋体" panose="02010600030101010101" pitchFamily="2" charset="-122"/>
              </a:rPr>
              <a:t>mayaxiong@xidian.edu.cn</a:t>
            </a:r>
            <a:endParaRPr lang="en-US" sz="3600" b="0" kern="0" dirty="0">
              <a:latin typeface="+mn-lt"/>
              <a:ea typeface="宋体" panose="02010600030101010101" pitchFamily="2" charset="-122"/>
            </a:endParaRPr>
          </a:p>
          <a:p>
            <a:pPr marL="292100" indent="-2921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altLang="zh-CN" sz="3600" b="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b="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查宇洪 硕士生   </a:t>
            </a:r>
            <a:endParaRPr lang="en-US" altLang="zh-CN" sz="3600" b="0" kern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92100" indent="-2921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  <a:defRPr/>
            </a:pPr>
            <a:r>
              <a:rPr lang="zh-CN" altLang="en-US" sz="3600" b="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sz="3600" b="0" kern="0" dirty="0">
                <a:latin typeface="+mn-lt"/>
                <a:ea typeface="宋体" panose="02010600030101010101" pitchFamily="2" charset="-122"/>
              </a:rPr>
              <a:t> </a:t>
            </a:r>
            <a:r>
              <a:rPr lang="en-US" altLang="zh-CN" sz="3600" b="0" kern="0" dirty="0">
                <a:latin typeface="+mn-lt"/>
                <a:ea typeface="宋体" panose="02010600030101010101" pitchFamily="2" charset="-122"/>
              </a:rPr>
              <a:t>1260432818@qq.com</a:t>
            </a:r>
            <a:endParaRPr lang="en-US" altLang="zh-CN" sz="3600" b="0" kern="0" dirty="0">
              <a:latin typeface="+mn-lt"/>
              <a:ea typeface="宋体" panose="02010600030101010101" pitchFamily="2" charset="-122"/>
            </a:endParaRPr>
          </a:p>
          <a:p>
            <a:pPr marL="292100" indent="-2921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  <a:defRPr/>
            </a:pPr>
            <a:endParaRPr lang="en-US" altLang="zh-CN" sz="3600" b="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1D6230E-0FCA-4286-A033-92CD8D923B9E}" type="slidenum">
              <a:rPr lang="en-US" altLang="en-US" sz="1200" smtClean="0">
                <a:solidFill>
                  <a:srgbClr val="898989"/>
                </a:solidFill>
              </a:rPr>
            </a:fld>
            <a:endParaRPr lang="en-US" altLang="en-US" sz="1200" smtClean="0">
              <a:solidFill>
                <a:srgbClr val="898989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81000" y="152400"/>
            <a:ext cx="8280400" cy="533400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3600"/>
              </a:lnSpc>
              <a:defRPr/>
            </a:pPr>
            <a:r>
              <a:rPr lang="zh-CN" altLang="en-US" sz="3200" kern="0" dirty="0">
                <a:latin typeface="+mj-lt"/>
                <a:ea typeface="宋体" panose="02010600030101010101" pitchFamily="2" charset="-122"/>
                <a:cs typeface="+mj-cs"/>
              </a:rPr>
              <a:t>考核方式与课程</a:t>
            </a:r>
            <a:r>
              <a:rPr lang="zh-CN" altLang="en-US" sz="3200" kern="0" dirty="0">
                <a:latin typeface="+mj-lt"/>
                <a:ea typeface="宋体" panose="02010600030101010101" pitchFamily="2" charset="-122"/>
                <a:cs typeface="+mj-cs"/>
              </a:rPr>
              <a:t>安排</a:t>
            </a:r>
            <a:endParaRPr lang="zh-CN" altLang="en-US" sz="3200" kern="0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04800" y="1066800"/>
            <a:ext cx="8305800" cy="4343400"/>
          </a:xfrm>
          <a:prstGeom prst="rect">
            <a:avLst/>
          </a:prstGeom>
        </p:spPr>
        <p:txBody>
          <a:bodyPr/>
          <a:lstStyle/>
          <a:p>
            <a:pPr marL="292100" indent="-2921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zh-CN" altLang="en-US" sz="3600" b="0" ker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闭卷</a:t>
            </a:r>
            <a:r>
              <a:rPr lang="zh-CN" altLang="en-US" sz="3600" b="0" kern="0">
                <a:latin typeface="黑体" panose="02010609060101010101" pitchFamily="49" charset="-122"/>
                <a:ea typeface="黑体" panose="02010609060101010101" pitchFamily="49" charset="-122"/>
              </a:rPr>
              <a:t>笔试</a:t>
            </a:r>
            <a:r>
              <a:rPr lang="en-US" altLang="zh-CN" sz="3600" b="0" kern="0">
                <a:latin typeface="黑体" panose="02010609060101010101" pitchFamily="49" charset="-122"/>
                <a:ea typeface="黑体" panose="02010609060101010101" pitchFamily="49" charset="-122"/>
              </a:rPr>
              <a:t>70%+</a:t>
            </a:r>
            <a:r>
              <a:rPr lang="zh-CN" altLang="en-US" sz="3600" b="0" ker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平时成绩</a:t>
            </a:r>
            <a:r>
              <a:rPr lang="en-US" altLang="zh-CN" sz="3600" b="0" ker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30%</a:t>
            </a:r>
            <a:endParaRPr lang="en-US" altLang="zh-CN" sz="3600" b="0" ker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/>
            </a:pPr>
            <a:r>
              <a:rPr lang="zh-CN" altLang="en-US" sz="3200" b="0" kern="0">
                <a:latin typeface="黑体" panose="02010609060101010101" pitchFamily="49" charset="-122"/>
                <a:ea typeface="黑体" panose="02010609060101010101" pitchFamily="49" charset="-122"/>
              </a:rPr>
              <a:t>平时</a:t>
            </a:r>
            <a:r>
              <a:rPr lang="en-US" altLang="zh-CN" sz="3200" b="0" kern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en-US" altLang="zh-CN" sz="3600" b="0" ker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/>
            </a:pPr>
            <a:r>
              <a:rPr lang="zh-CN" altLang="en-US" sz="3200" b="0" kern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3200" b="0" kern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endParaRPr lang="en-US" altLang="zh-CN" sz="3200" b="0" ker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92100" indent="-2921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zh-CN" altLang="en-US" sz="3200" b="0" ker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理论</a:t>
            </a:r>
            <a:r>
              <a:rPr lang="en-US" altLang="zh-CN" sz="3200" b="0" ker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+</a:t>
            </a:r>
            <a:r>
              <a:rPr lang="zh-CN" altLang="en-US" sz="3200" b="0" ker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实践：</a:t>
            </a:r>
            <a:r>
              <a:rPr lang="zh-CN" altLang="en-US" sz="3600" b="0" ker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理论16次+实践4次</a:t>
            </a:r>
            <a:endParaRPr lang="zh-CN" altLang="en-US" sz="3200" b="0" ker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292100" indent="-2921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zh-CN" altLang="en-US" sz="3200" b="0" ker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线下</a:t>
            </a:r>
            <a:r>
              <a:rPr lang="en-US" altLang="zh-CN" sz="3200" b="0" ker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+</a:t>
            </a:r>
            <a:r>
              <a:rPr lang="zh-CN" altLang="en-US" sz="3200" b="0" ker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线上：</a:t>
            </a:r>
            <a:r>
              <a:rPr lang="zh-CN" altLang="en-US" sz="3600" b="0" kern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线下13+线上3次</a:t>
            </a:r>
            <a:endParaRPr lang="en-US" altLang="zh-CN" sz="3200" b="0" ker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None/>
              <a:defRPr/>
            </a:pPr>
            <a:endParaRPr lang="en-US" altLang="zh-CN" sz="2800" b="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83870" y="4104005"/>
          <a:ext cx="8203565" cy="212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385"/>
                <a:gridCol w="6520180"/>
              </a:tblGrid>
              <a:tr h="589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任务</a:t>
                      </a:r>
                      <a:endParaRPr lang="zh-CN" altLang="en-US" sz="320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时间与地点</a:t>
                      </a:r>
                      <a:endParaRPr lang="zh-CN" altLang="en-US" sz="320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962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线上授课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9.6</a:t>
                      </a:r>
                      <a:r>
                        <a:rPr lang="zh-CN" altLang="en-US" sz="2800"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9.7</a:t>
                      </a:r>
                      <a:r>
                        <a:rPr lang="zh-CN" altLang="en-US" sz="2800"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9.13  8:30-10:05am</a:t>
                      </a:r>
                      <a:endParaRPr lang="en-US" altLang="zh-CN" sz="2800">
                        <a:ea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800">
                          <a:ea typeface="宋体" panose="02010600030101010101" pitchFamily="2" charset="-122"/>
                        </a:rPr>
                        <a:t>西电课堂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2800">
                          <a:ea typeface="宋体" panose="02010600030101010101" pitchFamily="2" charset="-122"/>
                        </a:rPr>
                        <a:t>连续三个周末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2800"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746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实践</a:t>
                      </a:r>
                      <a:r>
                        <a:rPr lang="zh-CN" altLang="en-US" sz="2800"/>
                        <a:t>教学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10.30</a:t>
                      </a:r>
                      <a:r>
                        <a:rPr lang="zh-CN" altLang="en-US" sz="2800"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11.13</a:t>
                      </a:r>
                      <a:r>
                        <a:rPr lang="zh-CN" altLang="en-US" sz="2800"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11.20</a:t>
                      </a:r>
                      <a:r>
                        <a:rPr lang="zh-CN" altLang="en-US" sz="2800"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12.4 </a:t>
                      </a:r>
                      <a:endParaRPr lang="en-US" altLang="zh-CN" sz="2800">
                        <a:ea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2800">
                          <a:ea typeface="宋体" panose="02010600030101010101" pitchFamily="2" charset="-122"/>
                        </a:rPr>
                        <a:t>18:00-22:00 </a:t>
                      </a:r>
                      <a:r>
                        <a:rPr lang="zh-CN" altLang="en-US" sz="2800">
                          <a:ea typeface="宋体" panose="02010600030101010101" pitchFamily="2" charset="-122"/>
                        </a:rPr>
                        <a:t>教学实践中心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2800">
                          <a:ea typeface="宋体" panose="02010600030101010101" pitchFamily="2" charset="-122"/>
                        </a:rPr>
                        <a:t>机房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2800"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94F3462-3C50-4BF9-A169-48E87C757D12}" type="slidenum">
              <a:rPr lang="en-US" altLang="en-US" sz="1200" smtClean="0">
                <a:solidFill>
                  <a:srgbClr val="898989"/>
                </a:solidFill>
              </a:rPr>
            </a:fld>
            <a:endParaRPr lang="en-US" altLang="en-US" sz="1200" smtClean="0">
              <a:solidFill>
                <a:srgbClr val="898989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81000" y="152400"/>
            <a:ext cx="8280400" cy="533400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3600"/>
              </a:lnSpc>
              <a:defRPr/>
            </a:pPr>
            <a:r>
              <a:rPr lang="zh-CN" altLang="en-US" sz="3200" kern="0" dirty="0">
                <a:latin typeface="+mj-lt"/>
                <a:ea typeface="宋体" panose="02010600030101010101" pitchFamily="2" charset="-122"/>
                <a:cs typeface="+mj-cs"/>
              </a:rPr>
              <a:t>教材</a:t>
            </a:r>
            <a:endParaRPr lang="zh-CN" altLang="en-US" sz="3200" kern="0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5600" y="1066800"/>
            <a:ext cx="8305800" cy="5257800"/>
          </a:xfrm>
          <a:prstGeom prst="rect">
            <a:avLst/>
          </a:prstGeom>
        </p:spPr>
        <p:txBody>
          <a:bodyPr/>
          <a:lstStyle/>
          <a:p>
            <a:pPr marL="800100" lvl="1" indent="-342900" eaLnBrk="1" hangingPunct="1">
              <a:spcBef>
                <a:spcPct val="5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/>
            </a:pPr>
            <a:r>
              <a:rPr lang="en-US" altLang="zh-CN" sz="2400" b="0" kern="0">
                <a:latin typeface="Times New Roman" panose="02020603050405020304" pitchFamily="18" charset="0"/>
                <a:ea typeface="楷体_GB2312" pitchFamily="49" charset="-122"/>
              </a:rPr>
              <a:t>Pangning Tan. </a:t>
            </a:r>
            <a:r>
              <a:rPr lang="en-US" altLang="zh-CN" sz="2400" i="1" ker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Intorduction to Data Mining</a:t>
            </a:r>
            <a:r>
              <a:rPr lang="en-US" altLang="zh-CN" sz="2400" b="0" kern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r>
              <a:rPr lang="zh-CN" altLang="en-US" sz="2400" b="0" kern="0">
                <a:latin typeface="Times New Roman" panose="02020603050405020304" pitchFamily="18" charset="0"/>
                <a:ea typeface="楷体_GB2312" pitchFamily="49" charset="-122"/>
              </a:rPr>
              <a:t>人民邮电出版社</a:t>
            </a:r>
            <a:r>
              <a:rPr lang="en-US" altLang="zh-CN" sz="2400" b="0" kern="0">
                <a:latin typeface="Times New Roman" panose="02020603050405020304" pitchFamily="18" charset="0"/>
                <a:ea typeface="楷体_GB2312" pitchFamily="49" charset="-122"/>
              </a:rPr>
              <a:t>. 2006 </a:t>
            </a:r>
            <a:endParaRPr lang="en-US" altLang="zh-CN" sz="2800" b="0" kern="0">
              <a:latin typeface="+mn-lt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8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/>
            </a:pPr>
            <a:r>
              <a:rPr lang="en-US" altLang="zh-CN" sz="2400" b="0" kern="0">
                <a:latin typeface="+mn-lt"/>
                <a:ea typeface="宋体" panose="02010600030101010101" pitchFamily="2" charset="-122"/>
              </a:rPr>
              <a:t>Jiawei Han</a:t>
            </a:r>
            <a:r>
              <a:rPr lang="zh-CN" altLang="en-US" sz="2400" b="0" kern="0">
                <a:latin typeface="+mn-lt"/>
                <a:ea typeface="宋体" panose="02010600030101010101" pitchFamily="2" charset="-122"/>
              </a:rPr>
              <a:t>著</a:t>
            </a:r>
            <a:r>
              <a:rPr lang="en-US" altLang="zh-CN" sz="2400" b="0" kern="0">
                <a:latin typeface="+mn-lt"/>
                <a:ea typeface="宋体" panose="02010600030101010101" pitchFamily="2" charset="-122"/>
              </a:rPr>
              <a:t>. </a:t>
            </a:r>
            <a:r>
              <a:rPr lang="zh-CN" altLang="en-US" sz="2400" b="0" kern="0">
                <a:latin typeface="+mn-lt"/>
                <a:ea typeface="宋体" panose="02010600030101010101" pitchFamily="2" charset="-122"/>
              </a:rPr>
              <a:t>数据挖掘</a:t>
            </a:r>
            <a:r>
              <a:rPr lang="en-US" altLang="zh-CN" sz="2400" b="0" kern="0">
                <a:latin typeface="+mn-lt"/>
                <a:ea typeface="宋体" panose="02010600030101010101" pitchFamily="2" charset="-122"/>
              </a:rPr>
              <a:t>: </a:t>
            </a:r>
            <a:r>
              <a:rPr lang="zh-CN" altLang="en-US" sz="2400" b="0" kern="0">
                <a:latin typeface="+mn-lt"/>
                <a:ea typeface="宋体" panose="02010600030101010101" pitchFamily="2" charset="-122"/>
              </a:rPr>
              <a:t>概念与技术</a:t>
            </a:r>
            <a:r>
              <a:rPr lang="en-US" altLang="zh-CN" sz="2400" b="0" kern="0">
                <a:latin typeface="+mn-lt"/>
                <a:ea typeface="宋体" panose="02010600030101010101" pitchFamily="2" charset="-122"/>
              </a:rPr>
              <a:t>. </a:t>
            </a:r>
            <a:r>
              <a:rPr lang="zh-CN" altLang="en-US" sz="2400" b="0" kern="0">
                <a:latin typeface="+mn-lt"/>
                <a:ea typeface="宋体" panose="02010600030101010101" pitchFamily="2" charset="-122"/>
              </a:rPr>
              <a:t>机械工业出版社</a:t>
            </a:r>
            <a:r>
              <a:rPr lang="en-US" altLang="zh-CN" sz="2400" b="0" kern="0">
                <a:latin typeface="+mn-lt"/>
                <a:ea typeface="宋体" panose="02010600030101010101" pitchFamily="2" charset="-122"/>
              </a:rPr>
              <a:t>, 2001.</a:t>
            </a:r>
            <a:endParaRPr lang="en-US" altLang="zh-CN" sz="2400" b="0" kern="0">
              <a:latin typeface="+mn-lt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8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/>
            </a:pPr>
            <a:r>
              <a:rPr lang="en-US" altLang="zh-CN" sz="2400" b="0" kern="0">
                <a:latin typeface="+mn-lt"/>
                <a:ea typeface="宋体" panose="02010600030101010101" pitchFamily="2" charset="-122"/>
              </a:rPr>
              <a:t> </a:t>
            </a:r>
            <a:r>
              <a:rPr lang="zh-CN" altLang="en-US" sz="2400" b="0" kern="0">
                <a:latin typeface="+mn-lt"/>
                <a:ea typeface="宋体" panose="02010600030101010101" pitchFamily="2" charset="-122"/>
              </a:rPr>
              <a:t>马小科</a:t>
            </a:r>
            <a:r>
              <a:rPr lang="en-US" altLang="zh-CN" sz="2400" b="0" kern="0">
                <a:latin typeface="+mn-lt"/>
                <a:ea typeface="宋体" panose="02010600030101010101" pitchFamily="2" charset="-122"/>
              </a:rPr>
              <a:t>. </a:t>
            </a:r>
            <a:r>
              <a:rPr lang="zh-CN" altLang="en-US" sz="2400" b="0" kern="0">
                <a:latin typeface="+mn-lt"/>
                <a:ea typeface="宋体" panose="02010600030101010101" pitchFamily="2" charset="-122"/>
              </a:rPr>
              <a:t>数据挖掘基础及其应用</a:t>
            </a:r>
            <a:r>
              <a:rPr lang="en-US" altLang="zh-CN" sz="2400" b="0" kern="0">
                <a:latin typeface="+mn-lt"/>
                <a:ea typeface="宋体" panose="02010600030101010101" pitchFamily="2" charset="-122"/>
              </a:rPr>
              <a:t>. </a:t>
            </a:r>
            <a:r>
              <a:rPr lang="zh-CN" altLang="en-US" sz="2400" b="0" kern="0">
                <a:latin typeface="+mn-lt"/>
                <a:ea typeface="宋体" panose="02010600030101010101" pitchFamily="2" charset="-122"/>
              </a:rPr>
              <a:t>西安电子科技大学出版社，</a:t>
            </a:r>
            <a:r>
              <a:rPr lang="en-US" altLang="zh-CN" sz="2400" b="0" kern="0">
                <a:latin typeface="+mn-lt"/>
                <a:ea typeface="宋体" panose="02010600030101010101" pitchFamily="2" charset="-122"/>
              </a:rPr>
              <a:t>2020</a:t>
            </a:r>
            <a:endParaRPr lang="en-US" altLang="zh-CN" sz="2400" b="0" kern="0">
              <a:latin typeface="+mn-lt"/>
              <a:ea typeface="宋体" panose="02010600030101010101" pitchFamily="2" charset="-122"/>
            </a:endParaRPr>
          </a:p>
          <a:p>
            <a:pPr marL="292100" indent="-292100">
              <a:lnSpc>
                <a:spcPct val="8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endParaRPr lang="en-US" altLang="zh-CN" sz="2800" b="0" kern="0">
              <a:latin typeface="+mn-lt"/>
              <a:ea typeface="宋体" panose="02010600030101010101" pitchFamily="2" charset="-122"/>
            </a:endParaRPr>
          </a:p>
          <a:p>
            <a:pPr lvl="1" indent="0">
              <a:lnSpc>
                <a:spcPct val="8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zh-CN" sz="2800" b="0" kern="0">
              <a:latin typeface="+mn-lt"/>
              <a:ea typeface="宋体" panose="02010600030101010101" pitchFamily="2" charset="-122"/>
            </a:endParaRPr>
          </a:p>
          <a:p>
            <a:pPr marL="800100" lvl="1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/>
            </a:pPr>
            <a:endParaRPr lang="en-US" altLang="zh-CN" sz="2000" b="0" kern="0">
              <a:latin typeface="+mn-lt"/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zh-CN" sz="2000" b="0" kern="0">
              <a:latin typeface="+mn-lt"/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zh-CN" sz="2000" b="0" kern="0" dirty="0"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0515" y="3429635"/>
            <a:ext cx="3073400" cy="29838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3"/>
            </p:custDataLst>
          </p:nvPr>
        </p:nvPicPr>
        <p:blipFill>
          <a:blip r:embed="rId4"/>
          <a:srcRect l="13143" r="13143" b="9714"/>
          <a:stretch>
            <a:fillRect/>
          </a:stretch>
        </p:blipFill>
        <p:spPr>
          <a:xfrm>
            <a:off x="3505200" y="3500755"/>
            <a:ext cx="2103755" cy="2643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867400" y="3655695"/>
            <a:ext cx="2649220" cy="2549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3D74454-A2FF-4C8A-B07F-0977293CF5AB}" type="slidenum">
              <a:rPr lang="en-US" altLang="en-US" sz="1200" smtClean="0">
                <a:solidFill>
                  <a:srgbClr val="898989"/>
                </a:solidFill>
              </a:rPr>
            </a:fld>
            <a:endParaRPr lang="en-US" altLang="en-US" sz="1200" smtClean="0">
              <a:solidFill>
                <a:srgbClr val="898989"/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228600"/>
            <a:ext cx="8280400" cy="533400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3600"/>
              </a:lnSpc>
              <a:defRPr/>
            </a:pPr>
            <a:r>
              <a:rPr lang="zh-CN" altLang="en-US" sz="3200" kern="0" dirty="0">
                <a:latin typeface="+mj-lt"/>
                <a:ea typeface="宋体" panose="02010600030101010101" pitchFamily="2" charset="-122"/>
                <a:cs typeface="+mj-cs"/>
              </a:rPr>
              <a:t>课程主要内容</a:t>
            </a:r>
            <a:endParaRPr lang="zh-CN" altLang="en-US" sz="3200" kern="0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57200" y="990600"/>
            <a:ext cx="8305800" cy="5562600"/>
          </a:xfrm>
          <a:prstGeom prst="rect">
            <a:avLst/>
          </a:prstGeom>
        </p:spPr>
        <p:txBody>
          <a:bodyPr/>
          <a:lstStyle/>
          <a:p>
            <a:pPr marL="292100" indent="-292100">
              <a:lnSpc>
                <a:spcPct val="15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altLang="zh-CN" sz="2400" b="0" kern="0">
                <a:latin typeface="+mn-lt"/>
                <a:ea typeface="宋体" panose="02010600030101010101" pitchFamily="2" charset="-122"/>
              </a:rPr>
              <a:t>Introduction to Data Mining </a:t>
            </a:r>
            <a:r>
              <a:rPr lang="en-US" altLang="zh-CN" sz="2400" b="0" kern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0" kern="0">
              <a:latin typeface="微软雅黑" panose="020B0503020204020204" charset="-122"/>
              <a:ea typeface="微软雅黑" panose="020B0503020204020204" charset="-122"/>
            </a:endParaRPr>
          </a:p>
          <a:p>
            <a:pPr marL="292100" indent="-292100">
              <a:lnSpc>
                <a:spcPct val="15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altLang="zh-CN" sz="2400" b="0" kern="0">
                <a:latin typeface="微软雅黑" panose="020B0503020204020204" charset="-122"/>
                <a:ea typeface="微软雅黑" panose="020B0503020204020204" charset="-122"/>
              </a:rPr>
              <a:t>Data 2+2</a:t>
            </a:r>
            <a:endParaRPr lang="en-US" altLang="zh-CN" sz="2400" b="0" kern="0">
              <a:latin typeface="微软雅黑" panose="020B0503020204020204" charset="-122"/>
              <a:ea typeface="微软雅黑" panose="020B0503020204020204" charset="-122"/>
            </a:endParaRPr>
          </a:p>
          <a:p>
            <a:pPr marL="292100" indent="-292100">
              <a:lnSpc>
                <a:spcPct val="15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altLang="zh-CN" sz="2400" b="0" kern="0">
                <a:latin typeface="微软雅黑" panose="020B0503020204020204" charset="-122"/>
                <a:ea typeface="微软雅黑" panose="020B0503020204020204" charset="-122"/>
              </a:rPr>
              <a:t>Exploring Data 2</a:t>
            </a:r>
            <a:endParaRPr lang="en-US" altLang="zh-CN" sz="2400" b="0" kern="0">
              <a:latin typeface="微软雅黑" panose="020B0503020204020204" charset="-122"/>
              <a:ea typeface="微软雅黑" panose="020B0503020204020204" charset="-122"/>
            </a:endParaRPr>
          </a:p>
          <a:p>
            <a:pPr marL="292100" indent="-292100">
              <a:lnSpc>
                <a:spcPct val="15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altLang="zh-CN" sz="2400" b="0" kern="0">
                <a:latin typeface="微软雅黑" panose="020B0503020204020204" charset="-122"/>
                <a:ea typeface="微软雅黑" panose="020B0503020204020204" charset="-122"/>
              </a:rPr>
              <a:t>Classification 8</a:t>
            </a:r>
            <a:endParaRPr lang="en-US" altLang="zh-CN" sz="2400" b="0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92100" indent="-292100">
              <a:lnSpc>
                <a:spcPct val="15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altLang="zh-CN" sz="2400" b="0" kern="0">
                <a:latin typeface="微软雅黑" panose="020B0503020204020204" charset="-122"/>
                <a:ea typeface="微软雅黑" panose="020B0503020204020204" charset="-122"/>
              </a:rPr>
              <a:t>Association Analysis 8</a:t>
            </a:r>
            <a:endParaRPr lang="en-US" altLang="zh-CN" sz="2400" b="0" kern="0">
              <a:latin typeface="微软雅黑" panose="020B0503020204020204" charset="-122"/>
              <a:ea typeface="微软雅黑" panose="020B0503020204020204" charset="-122"/>
            </a:endParaRPr>
          </a:p>
          <a:p>
            <a:pPr marL="292100" indent="-292100">
              <a:lnSpc>
                <a:spcPct val="15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altLang="zh-CN" sz="2400" b="0" kern="0">
                <a:latin typeface="微软雅黑" panose="020B0503020204020204" charset="-122"/>
                <a:ea typeface="微软雅黑" panose="020B0503020204020204" charset="-122"/>
              </a:rPr>
              <a:t>Cluster Analysis 8</a:t>
            </a:r>
            <a:endParaRPr lang="en-US" altLang="zh-CN" sz="2400" b="0" kern="0">
              <a:latin typeface="微软雅黑" panose="020B0503020204020204" charset="-122"/>
              <a:ea typeface="微软雅黑" panose="020B0503020204020204" charset="-122"/>
            </a:endParaRPr>
          </a:p>
          <a:p>
            <a:pPr marL="292100" indent="-292100">
              <a:lnSpc>
                <a:spcPct val="15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altLang="zh-CN" sz="2400" b="0" kern="0">
                <a:latin typeface="微软雅黑" panose="020B0503020204020204" charset="-122"/>
                <a:ea typeface="微软雅黑" panose="020B0503020204020204" charset="-122"/>
              </a:rPr>
              <a:t>Complex Network Analysis 2 </a:t>
            </a:r>
            <a:endParaRPr lang="en-US" altLang="zh-CN" sz="2400" b="0" kern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  <a:defRPr/>
            </a:pPr>
            <a:endParaRPr lang="zh-CN" altLang="en-US" sz="2400" b="0" kern="0">
              <a:latin typeface="微软雅黑" panose="020B0503020204020204" charset="-122"/>
              <a:ea typeface="微软雅黑" panose="020B0503020204020204" charset="-122"/>
            </a:endParaRPr>
          </a:p>
          <a:p>
            <a:pPr marL="292100" indent="-292100">
              <a:lnSpc>
                <a:spcPct val="15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endParaRPr lang="en-US" altLang="zh-CN" sz="2400" b="0" kern="0">
              <a:latin typeface="微软雅黑" panose="020B0503020204020204" charset="-122"/>
              <a:ea typeface="微软雅黑" panose="020B0503020204020204" charset="-122"/>
            </a:endParaRPr>
          </a:p>
          <a:p>
            <a:pPr marL="292100" indent="-2921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/>
            </a:pPr>
            <a:endParaRPr lang="en-US" altLang="zh-CN" sz="2000" b="0" kern="0">
              <a:latin typeface="微软雅黑" panose="020B0503020204020204" charset="-122"/>
              <a:ea typeface="微软雅黑" panose="020B0503020204020204" charset="-122"/>
            </a:endParaRPr>
          </a:p>
          <a:p>
            <a:pPr marL="292100" indent="-2921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zh-CN" altLang="en-US" sz="2000" b="0" kern="0">
              <a:latin typeface="微软雅黑" panose="020B0503020204020204" charset="-122"/>
              <a:ea typeface="微软雅黑" panose="020B0503020204020204" charset="-122"/>
            </a:endParaRPr>
          </a:p>
          <a:p>
            <a:pPr marL="292100" indent="-292100">
              <a:lnSpc>
                <a:spcPct val="90000"/>
              </a:lnSpc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zh-CN" sz="2000" b="0" kern="0" dirty="0"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5" descr="story-3dimensional-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195388"/>
            <a:ext cx="16764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 eaLnBrk="1" hangingPunct="1"/>
            <a:r>
              <a:rPr lang="en-US" altLang="en-US" sz="4000">
                <a:ea typeface="MS Mincho" panose="02020609040205080304" pitchFamily="49" charset="-128"/>
              </a:rPr>
              <a:t>Large-scale Data is Everywhere!</a:t>
            </a:r>
            <a:endParaRPr lang="en-US" altLang="en-US" sz="4000">
              <a:ea typeface="MS Mincho" panose="02020609040205080304" pitchFamily="49" charset="-128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11163" y="1143000"/>
            <a:ext cx="4084637" cy="4857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2000"/>
              <a:t>There has been enormous data growth in both commercial and scientific databases due to advances in data generation and collection technologies</a:t>
            </a:r>
            <a:endParaRPr lang="en-US" altLang="en-US" sz="2000"/>
          </a:p>
          <a:p>
            <a:pPr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en-US" sz="2000">
                <a:solidFill>
                  <a:srgbClr val="000000"/>
                </a:solidFill>
                <a:cs typeface="Times New Roman" panose="02020603050405020304" pitchFamily="18" charset="0"/>
              </a:rPr>
              <a:t>New mantra</a:t>
            </a:r>
            <a:endParaRPr lang="en-US" altLang="en-US" sz="200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Gather whatever data you can whenever and wherever possible.</a:t>
            </a:r>
            <a:endParaRPr lang="en-US" altLang="en-US" sz="180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en-US" sz="2000">
                <a:solidFill>
                  <a:srgbClr val="000000"/>
                </a:solidFill>
                <a:cs typeface="Times New Roman" panose="02020603050405020304" pitchFamily="18" charset="0"/>
              </a:rPr>
              <a:t>Expectations</a:t>
            </a:r>
            <a:endParaRPr lang="en-US" altLang="en-US" sz="200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Gathered data will have value either for the purpose collected or for a purpose not envisioned.</a:t>
            </a:r>
            <a:endParaRPr lang="en-US" altLang="en-US" sz="180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en-US" sz="200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6850063" y="6019800"/>
            <a:ext cx="2293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Computational Simulations</a:t>
            </a:r>
            <a:endParaRPr lang="en-US" alt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126" name="Text Box 5"/>
          <p:cNvSpPr txBox="1">
            <a:spLocks noChangeArrowheads="1"/>
          </p:cNvSpPr>
          <p:nvPr/>
        </p:nvSpPr>
        <p:spPr bwMode="auto">
          <a:xfrm>
            <a:off x="6778625" y="4267200"/>
            <a:ext cx="2365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200" i="1">
                <a:latin typeface="Helvetica" pitchFamily="34" charset="0"/>
                <a:cs typeface="Arial" panose="020B0604020202020204" pitchFamily="34" charset="0"/>
              </a:rPr>
              <a:t>Social Networking: Twitter 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127" name="Picture 6" descr="cr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876800"/>
            <a:ext cx="1905000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1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2650" r="946" b="2745"/>
          <a:stretch>
            <a:fillRect/>
          </a:stretch>
        </p:blipFill>
        <p:spPr bwMode="auto">
          <a:xfrm>
            <a:off x="4824413" y="4800600"/>
            <a:ext cx="1500187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9" name="Text Box 14"/>
          <p:cNvSpPr txBox="1">
            <a:spLocks noChangeArrowheads="1"/>
          </p:cNvSpPr>
          <p:nvPr/>
        </p:nvSpPr>
        <p:spPr bwMode="auto">
          <a:xfrm>
            <a:off x="4876800" y="6019800"/>
            <a:ext cx="15779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Sensor Networks</a:t>
            </a:r>
            <a:r>
              <a:rPr lang="en-US" altLang="en-US" sz="1200" i="1">
                <a:latin typeface="Helvetica" pitchFamily="34" charset="0"/>
                <a:cs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130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" t="1334" r="5765" b="969"/>
          <a:stretch>
            <a:fillRect/>
          </a:stretch>
        </p:blipFill>
        <p:spPr bwMode="auto">
          <a:xfrm>
            <a:off x="4876800" y="1219200"/>
            <a:ext cx="1778000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1" name="Text Box 21"/>
          <p:cNvSpPr txBox="1">
            <a:spLocks noChangeArrowheads="1"/>
          </p:cNvSpPr>
          <p:nvPr/>
        </p:nvSpPr>
        <p:spPr bwMode="auto">
          <a:xfrm>
            <a:off x="4724400" y="4267200"/>
            <a:ext cx="2209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Traffic Patterns</a:t>
            </a:r>
            <a:endParaRPr lang="en-US" alt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132" name="Text Box 23"/>
          <p:cNvSpPr txBox="1">
            <a:spLocks noChangeArrowheads="1"/>
          </p:cNvSpPr>
          <p:nvPr/>
        </p:nvSpPr>
        <p:spPr bwMode="auto">
          <a:xfrm>
            <a:off x="4572000" y="2514600"/>
            <a:ext cx="236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Cyber Security</a:t>
            </a:r>
            <a:r>
              <a:rPr lang="en-US" altLang="en-US" sz="1200" i="1">
                <a:latin typeface="Helvetica" pitchFamily="34" charset="0"/>
                <a:cs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133" name="Object 3"/>
          <p:cNvGraphicFramePr>
            <a:graphicFrameLocks noChangeAspect="1"/>
          </p:cNvGraphicFramePr>
          <p:nvPr/>
        </p:nvGraphicFramePr>
        <p:xfrm>
          <a:off x="6934200" y="1681163"/>
          <a:ext cx="6477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VISIO" r:id="rId5" imgW="617220" imgH="615950" progId="Visio.Drawing.11">
                  <p:embed/>
                </p:oleObj>
              </mc:Choice>
              <mc:Fallback>
                <p:oleObj name="VISIO" r:id="rId5" imgW="617220" imgH="61595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681163"/>
                        <a:ext cx="6477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4"/>
          <p:cNvGraphicFramePr>
            <a:graphicFrameLocks noChangeAspect="1"/>
          </p:cNvGraphicFramePr>
          <p:nvPr/>
        </p:nvGraphicFramePr>
        <p:xfrm>
          <a:off x="6918325" y="1295400"/>
          <a:ext cx="6477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VISIO" r:id="rId7" imgW="806450" imgH="662940" progId="Visio.Drawing.11">
                  <p:embed/>
                </p:oleObj>
              </mc:Choice>
              <mc:Fallback>
                <p:oleObj name="VISIO" r:id="rId7" imgW="806450" imgH="66294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1295400"/>
                        <a:ext cx="6477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7A3B503-89C5-494F-9796-3C11885069F9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138" name="Text Box 23"/>
          <p:cNvSpPr txBox="1">
            <a:spLocks noChangeArrowheads="1"/>
          </p:cNvSpPr>
          <p:nvPr/>
        </p:nvSpPr>
        <p:spPr bwMode="auto">
          <a:xfrm>
            <a:off x="6326188" y="2355850"/>
            <a:ext cx="23653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E-Commerce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139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663" y="2955925"/>
            <a:ext cx="2378075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0" name="Picture 18" descr="http://images.ezgif.com/tmp/gif_232x188_6af960.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2944813"/>
            <a:ext cx="1436688" cy="11636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76" name="TextBox 19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81000" y="5041900"/>
            <a:ext cx="4339590" cy="181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MIT: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Top 20 Technique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  1. Data Mining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  2. Machine Learning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  3. 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rtificial Intelligence</a:t>
            </a:r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33C9B86-2884-4F79-9779-A3096CD94BAF}" type="slidenum">
              <a:rPr lang="en-US" altLang="en-US" sz="1200" smtClean="0">
                <a:solidFill>
                  <a:srgbClr val="898989"/>
                </a:solidFill>
              </a:rPr>
            </a:fld>
            <a:endParaRPr lang="en-US" altLang="en-US" sz="1200" smtClean="0">
              <a:solidFill>
                <a:srgbClr val="898989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81000" y="152400"/>
            <a:ext cx="8280400" cy="533400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3600"/>
              </a:lnSpc>
              <a:defRPr/>
            </a:pPr>
            <a:r>
              <a:rPr lang="en-US" altLang="zh-CN" sz="3200" kern="0" dirty="0">
                <a:latin typeface="+mj-lt"/>
                <a:ea typeface="宋体" panose="02010600030101010101" pitchFamily="2" charset="-122"/>
                <a:cs typeface="+mj-cs"/>
              </a:rPr>
              <a:t>Why Data Mining</a:t>
            </a:r>
            <a:endParaRPr lang="zh-CN" altLang="en-US" sz="3200" kern="0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21508" name="内容占位符 6" descr="Hilbert_InfoGrowth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600200"/>
            <a:ext cx="5500687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Box 7"/>
          <p:cNvSpPr txBox="1">
            <a:spLocks noChangeArrowheads="1"/>
          </p:cNvSpPr>
          <p:nvPr/>
        </p:nvSpPr>
        <p:spPr bwMode="auto">
          <a:xfrm>
            <a:off x="762000" y="990600"/>
            <a:ext cx="3143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>
                <a:ea typeface="宋体" panose="02010600030101010101" pitchFamily="2" charset="-122"/>
              </a:rPr>
              <a:t>大容量存储设备</a:t>
            </a:r>
            <a:endParaRPr lang="zh-CN" altLang="en-US" sz="3200">
              <a:ea typeface="宋体" panose="02010600030101010101" pitchFamily="2" charset="-122"/>
            </a:endParaRPr>
          </a:p>
        </p:txBody>
      </p:sp>
      <p:pic>
        <p:nvPicPr>
          <p:cNvPr id="21510" name="图片 8" descr="google-data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438" y="1171575"/>
            <a:ext cx="3357562" cy="219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图片 9" descr="google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438" y="3457575"/>
            <a:ext cx="3357562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TextBox 10"/>
          <p:cNvSpPr txBox="1">
            <a:spLocks noChangeArrowheads="1"/>
          </p:cNvSpPr>
          <p:nvPr/>
        </p:nvSpPr>
        <p:spPr bwMode="auto">
          <a:xfrm>
            <a:off x="6264275" y="5815013"/>
            <a:ext cx="18557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Google Data Center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21513" name="TextBox 9"/>
          <p:cNvSpPr txBox="1">
            <a:spLocks noChangeArrowheads="1"/>
          </p:cNvSpPr>
          <p:nvPr/>
        </p:nvSpPr>
        <p:spPr bwMode="auto">
          <a:xfrm>
            <a:off x="390525" y="5815013"/>
            <a:ext cx="46815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>
                <a:ea typeface="宋体" panose="02010600030101010101" pitchFamily="2" charset="-122"/>
              </a:rPr>
              <a:t>亚纳秒级存储，</a:t>
            </a:r>
            <a:r>
              <a:rPr lang="en-US" altLang="zh-CN" sz="1400">
                <a:ea typeface="宋体" panose="02010600030101010101" pitchFamily="2" charset="-122"/>
              </a:rPr>
              <a:t>Sciences</a:t>
            </a:r>
            <a:r>
              <a:rPr lang="zh-CN" altLang="en-US" sz="1400">
                <a:ea typeface="宋体" panose="02010600030101010101" pitchFamily="2" charset="-122"/>
              </a:rPr>
              <a:t>，</a:t>
            </a:r>
            <a:r>
              <a:rPr lang="en-US" altLang="zh-CN" sz="1400">
                <a:ea typeface="宋体" panose="02010600030101010101" pitchFamily="2" charset="-122"/>
              </a:rPr>
              <a:t>2017</a:t>
            </a:r>
            <a:endParaRPr lang="zh-CN" altLang="en-US" sz="14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291BA76-47DA-404B-94AF-3F141B71DA07}" type="slidenum">
              <a:rPr lang="en-US" altLang="en-US" sz="1200" smtClean="0">
                <a:solidFill>
                  <a:srgbClr val="898989"/>
                </a:solidFill>
              </a:rPr>
            </a:fld>
            <a:endParaRPr lang="en-US" altLang="en-US" sz="1200" smtClean="0">
              <a:solidFill>
                <a:srgbClr val="898989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81000" y="152400"/>
            <a:ext cx="8280400" cy="533400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3600"/>
              </a:lnSpc>
              <a:defRPr/>
            </a:pPr>
            <a:r>
              <a:rPr lang="en-US" altLang="zh-CN" sz="3200" kern="0" dirty="0">
                <a:latin typeface="+mj-lt"/>
                <a:ea typeface="宋体" panose="02010600030101010101" pitchFamily="2" charset="-122"/>
                <a:cs typeface="+mj-cs"/>
              </a:rPr>
              <a:t>Why Data Mining</a:t>
            </a:r>
            <a:endParaRPr lang="zh-CN" altLang="en-US" sz="3200" kern="0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3556" name="TextBox 7"/>
          <p:cNvSpPr txBox="1">
            <a:spLocks noChangeArrowheads="1"/>
          </p:cNvSpPr>
          <p:nvPr/>
        </p:nvSpPr>
        <p:spPr bwMode="auto">
          <a:xfrm>
            <a:off x="457200" y="1285875"/>
            <a:ext cx="3829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200">
                <a:ea typeface="宋体" panose="02010600030101010101" pitchFamily="2" charset="-122"/>
              </a:rPr>
              <a:t>High performance</a:t>
            </a:r>
            <a:endParaRPr lang="zh-CN" altLang="en-US" sz="3200">
              <a:ea typeface="宋体" panose="02010600030101010101" pitchFamily="2" charset="-122"/>
            </a:endParaRPr>
          </a:p>
        </p:txBody>
      </p:sp>
      <p:pic>
        <p:nvPicPr>
          <p:cNvPr id="23557" name="内容占位符 12" descr="moore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2071688"/>
            <a:ext cx="5014912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图片 13" descr="Ibm-pc-198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33" r="42725" b="2287"/>
          <a:stretch>
            <a:fillRect/>
          </a:stretch>
        </p:blipFill>
        <p:spPr bwMode="auto">
          <a:xfrm>
            <a:off x="5357813" y="1214438"/>
            <a:ext cx="2500312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图片 14" descr="tianhe-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2928938"/>
            <a:ext cx="2498725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图片 15" descr="liangzi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4" r="23438"/>
          <a:stretch>
            <a:fillRect/>
          </a:stretch>
        </p:blipFill>
        <p:spPr bwMode="auto">
          <a:xfrm>
            <a:off x="5357813" y="4991100"/>
            <a:ext cx="2500312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1" name="TextBox 16"/>
          <p:cNvSpPr txBox="1">
            <a:spLocks noChangeArrowheads="1"/>
          </p:cNvSpPr>
          <p:nvPr/>
        </p:nvSpPr>
        <p:spPr bwMode="auto">
          <a:xfrm>
            <a:off x="7881938" y="1500188"/>
            <a:ext cx="1262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IBM PC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23562" name="TextBox 17"/>
          <p:cNvSpPr txBox="1">
            <a:spLocks noChangeArrowheads="1"/>
          </p:cNvSpPr>
          <p:nvPr/>
        </p:nvSpPr>
        <p:spPr bwMode="auto">
          <a:xfrm>
            <a:off x="8077200" y="3124200"/>
            <a:ext cx="609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>
                <a:ea typeface="宋体" panose="02010600030101010101" pitchFamily="2" charset="-122"/>
              </a:rPr>
              <a:t>天河</a:t>
            </a:r>
            <a:endParaRPr lang="en-US" altLang="zh-CN" sz="14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 b="0">
                <a:ea typeface="宋体" panose="02010600030101010101" pitchFamily="2" charset="-122"/>
              </a:rPr>
              <a:t>5.49</a:t>
            </a:r>
            <a:endParaRPr lang="en-US" altLang="zh-CN" sz="1400" b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ea typeface="宋体" panose="02010600030101010101" pitchFamily="2" charset="-122"/>
              </a:rPr>
              <a:t>亿亿</a:t>
            </a:r>
            <a:endParaRPr lang="en-US" altLang="zh-CN" sz="1400" b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0">
                <a:ea typeface="宋体" panose="02010600030101010101" pitchFamily="2" charset="-122"/>
              </a:rPr>
              <a:t>次</a:t>
            </a:r>
            <a:r>
              <a:rPr lang="en-US" altLang="zh-CN" sz="1400" b="0">
                <a:ea typeface="宋体" panose="02010600030101010101" pitchFamily="2" charset="-122"/>
              </a:rPr>
              <a:t>/</a:t>
            </a:r>
            <a:r>
              <a:rPr lang="zh-CN" altLang="en-US" sz="1400" b="0">
                <a:ea typeface="宋体" panose="02010600030101010101" pitchFamily="2" charset="-122"/>
              </a:rPr>
              <a:t>秒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23563" name="TextBox 18"/>
          <p:cNvSpPr txBox="1">
            <a:spLocks noChangeArrowheads="1"/>
          </p:cNvSpPr>
          <p:nvPr/>
        </p:nvSpPr>
        <p:spPr bwMode="auto">
          <a:xfrm>
            <a:off x="8001000" y="5572125"/>
            <a:ext cx="685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>
                <a:ea typeface="宋体" panose="02010600030101010101" pitchFamily="2" charset="-122"/>
              </a:rPr>
              <a:t>量子</a:t>
            </a:r>
            <a:endParaRPr lang="en-US" altLang="zh-CN" sz="14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1</a:t>
            </a:r>
            <a:r>
              <a:rPr lang="zh-CN" altLang="en-US" sz="1400">
                <a:ea typeface="宋体" panose="02010600030101010101" pitchFamily="2" charset="-122"/>
              </a:rPr>
              <a:t>亿倍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rot="5400000">
            <a:off x="7769221" y="2439991"/>
            <a:ext cx="1071570" cy="1588"/>
          </a:xfrm>
          <a:prstGeom prst="straightConnector1">
            <a:avLst/>
          </a:prstGeom>
          <a:ln w="101600" cmpd="dbl">
            <a:gradFill>
              <a:gsLst>
                <a:gs pos="0">
                  <a:srgbClr val="000000"/>
                </a:gs>
                <a:gs pos="39999">
                  <a:srgbClr val="0A128C"/>
                </a:gs>
                <a:gs pos="70000">
                  <a:srgbClr val="181CC7"/>
                </a:gs>
                <a:gs pos="88000">
                  <a:srgbClr val="7005D4"/>
                </a:gs>
                <a:gs pos="100000">
                  <a:srgbClr val="8C3D91"/>
                </a:gs>
              </a:gsLst>
              <a:lin ang="5400000" scaled="0"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rot="5400000">
            <a:off x="7847009" y="4649791"/>
            <a:ext cx="1071570" cy="1588"/>
          </a:xfrm>
          <a:prstGeom prst="straightConnector1">
            <a:avLst/>
          </a:prstGeom>
          <a:ln w="101600" cmpd="dbl">
            <a:gradFill>
              <a:gsLst>
                <a:gs pos="0">
                  <a:srgbClr val="000000"/>
                </a:gs>
                <a:gs pos="39999">
                  <a:srgbClr val="0A128C"/>
                </a:gs>
                <a:gs pos="70000">
                  <a:srgbClr val="181CC7"/>
                </a:gs>
                <a:gs pos="88000">
                  <a:srgbClr val="7005D4"/>
                </a:gs>
                <a:gs pos="100000">
                  <a:srgbClr val="8C3D91"/>
                </a:gs>
              </a:gsLst>
              <a:lin ang="5400000" scaled="0"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 eaLnBrk="1" hangingPunct="1"/>
            <a:r>
              <a:rPr lang="en-US" altLang="zh-CN" sz="4000" smtClean="0">
                <a:ea typeface="MS Mincho" panose="02020609040205080304" pitchFamily="49" charset="-128"/>
              </a:rPr>
              <a:t>Why explain phenomena?</a:t>
            </a:r>
            <a:endParaRPr lang="en-US" altLang="en-US" sz="4000" smtClean="0">
              <a:ea typeface="MS Mincho" panose="02020609040205080304" pitchFamily="49" charset="-128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0444DA7-2F66-4D56-8A9B-E6BC743C7E39}" type="slidenum">
              <a:rPr lang="en-US" altLang="en-US" sz="1200" smtClean="0">
                <a:solidFill>
                  <a:srgbClr val="898989"/>
                </a:solidFill>
              </a:rPr>
            </a:fld>
            <a:endParaRPr lang="en-US" altLang="en-US" sz="1200" smtClean="0">
              <a:solidFill>
                <a:srgbClr val="898989"/>
              </a:solidFill>
            </a:endParaRPr>
          </a:p>
        </p:txBody>
      </p:sp>
      <p:sp>
        <p:nvSpPr>
          <p:cNvPr id="21" name="内容占位符 1"/>
          <p:cNvSpPr txBox="1"/>
          <p:nvPr/>
        </p:nvSpPr>
        <p:spPr>
          <a:xfrm>
            <a:off x="304800" y="1219200"/>
            <a:ext cx="8318500" cy="609600"/>
          </a:xfrm>
          <a:prstGeom prst="rect">
            <a:avLst/>
          </a:prstGeom>
        </p:spPr>
        <p:txBody>
          <a:bodyPr/>
          <a:lstStyle/>
          <a:p>
            <a:pPr marL="292100" indent="-292100" algn="ctr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sz="2800" b="0" kern="0">
                <a:latin typeface="Segoe UI Symbol" panose="020B0502040204020203" pitchFamily="34" charset="0"/>
                <a:ea typeface="宋体" panose="02010600030101010101" pitchFamily="2" charset="-122"/>
              </a:rPr>
              <a:t>Difference: Emotion and expression </a:t>
            </a:r>
            <a:endParaRPr lang="zh-CN" altLang="en-US" sz="2800" b="0" kern="0">
              <a:latin typeface="Segoe UI Symbol" panose="020B0502040204020203" pitchFamily="34" charset="0"/>
              <a:ea typeface="GungsuhChe" pitchFamily="49" charset="-127"/>
            </a:endParaRPr>
          </a:p>
          <a:p>
            <a:pPr marL="292100" indent="-292100" algn="ctr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  <a:defRPr/>
            </a:pPr>
            <a:endParaRPr lang="en-US" altLang="zh-CN" sz="2800" b="0" kern="0">
              <a:latin typeface="Segoe UI Symbol" panose="020B0502040204020203" pitchFamily="34" charset="0"/>
              <a:ea typeface="宋体" panose="02010600030101010101" pitchFamily="2" charset="-122"/>
            </a:endParaRPr>
          </a:p>
          <a:p>
            <a:pPr marL="292100" indent="-292100" algn="ctr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  <a:defRPr/>
            </a:pPr>
            <a:endParaRPr lang="en-US" altLang="zh-CN" sz="2800" b="0" kern="0">
              <a:latin typeface="Segoe UI Symbol" panose="020B0502040204020203" pitchFamily="34" charset="0"/>
              <a:ea typeface="宋体" panose="02010600030101010101" pitchFamily="2" charset="-122"/>
            </a:endParaRPr>
          </a:p>
          <a:p>
            <a:pPr marL="292100" indent="-292100" algn="ctr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  <a:defRPr/>
            </a:pPr>
            <a:endParaRPr lang="en-US" altLang="zh-CN" sz="2800" b="0" kern="0">
              <a:latin typeface="Segoe UI Symbol" panose="020B0502040204020203" pitchFamily="34" charset="0"/>
              <a:ea typeface="宋体" panose="02010600030101010101" pitchFamily="2" charset="-122"/>
            </a:endParaRPr>
          </a:p>
          <a:p>
            <a:pPr marL="292100" indent="-292100" algn="ctr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  <a:defRPr/>
            </a:pPr>
            <a:endParaRPr lang="en-US" altLang="zh-CN" sz="2800" b="0" kern="0" dirty="0">
              <a:latin typeface="Segoe UI Symbol" panose="020B0502040204020203" pitchFamily="34" charset="0"/>
              <a:ea typeface="宋体" panose="02010600030101010101" pitchFamily="2" charset="-122"/>
            </a:endParaRPr>
          </a:p>
        </p:txBody>
      </p:sp>
      <p:pic>
        <p:nvPicPr>
          <p:cNvPr id="25606" name="Picture 4" descr="C:\Users\xiaoke\AppData\Roaming\Tencent\Users\93735681\QQ\WinTemp\RichOle\L@QGF5N%[J{_HUV)7`QF[AH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057400"/>
            <a:ext cx="4038600" cy="317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5" descr="C:\Users\xiaoke\AppData\Roaming\Tencent\Users\93735681\QQ\WinTemp\RichOle\V)7QI[AAM(RBYA(UWP_`@(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2200"/>
            <a:ext cx="390525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TextBox 5"/>
          <p:cNvSpPr txBox="1">
            <a:spLocks noChangeArrowheads="1"/>
          </p:cNvSpPr>
          <p:nvPr/>
        </p:nvSpPr>
        <p:spPr bwMode="auto">
          <a:xfrm>
            <a:off x="304800" y="5791200"/>
            <a:ext cx="8958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Never ever quarrel with your wife/girlfriend since there is no chance to win ---Hilary </a:t>
            </a:r>
            <a:endParaRPr lang="zh-CN" altLang="en-US" sz="2000" b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 eaLnBrk="1" hangingPunct="1"/>
            <a:r>
              <a:rPr lang="en-US" altLang="zh-CN" sz="4000" smtClean="0">
                <a:ea typeface="MS Mincho" panose="02020609040205080304" pitchFamily="49" charset="-128"/>
              </a:rPr>
              <a:t>Why explain phenomena?</a:t>
            </a:r>
            <a:endParaRPr lang="en-US" altLang="en-US" sz="4000" smtClean="0">
              <a:ea typeface="MS Mincho" panose="02020609040205080304" pitchFamily="49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</a:t>
            </a:r>
            <a:endParaRPr 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2511DC7-0637-4A06-82B3-00C6E061B7D2}" type="slidenum">
              <a:rPr lang="en-US" altLang="en-US" sz="1200" smtClean="0">
                <a:solidFill>
                  <a:srgbClr val="898989"/>
                </a:solidFill>
              </a:rPr>
            </a:fld>
            <a:endParaRPr lang="en-US" altLang="en-US" sz="1200" smtClean="0">
              <a:solidFill>
                <a:srgbClr val="898989"/>
              </a:solidFill>
            </a:endParaRPr>
          </a:p>
        </p:txBody>
      </p:sp>
      <p:sp>
        <p:nvSpPr>
          <p:cNvPr id="29701" name="TextBox 5"/>
          <p:cNvSpPr txBox="1">
            <a:spLocks noChangeArrowheads="1"/>
          </p:cNvSpPr>
          <p:nvPr/>
        </p:nvSpPr>
        <p:spPr bwMode="auto">
          <a:xfrm>
            <a:off x="0" y="4800600"/>
            <a:ext cx="51625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Seretonin (</a:t>
            </a:r>
            <a:r>
              <a:rPr lang="zh-CN" altLang="en-US" sz="20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血清素</a:t>
            </a:r>
            <a:r>
              <a:rPr lang="en-US" altLang="zh-CN" sz="20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male 52% much than female</a:t>
            </a:r>
            <a:endParaRPr lang="en-US" altLang="zh-CN" sz="2000" b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000" b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可怕的第六感  </a:t>
            </a:r>
            <a:r>
              <a:rPr lang="en-US" altLang="zh-CN" sz="20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SenseLuxury</a:t>
            </a:r>
            <a:endParaRPr lang="zh-CN" altLang="en-US" sz="2000" b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9702" name="Picture 1" descr="C:\Users\xiaoke\AppData\Roaming\Tencent\Users\93735681\QQ\WinTemp\RichOle\7MHAZ}`94TKH){ZOQ$0$9(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371600"/>
            <a:ext cx="3352800" cy="224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3" name="Picture 2" descr="C:\Users\xiaoke\AppData\Roaming\Tencent\Users\93735681\QQ\WinTemp\RichOle\@@C5}@ULC~25PD$X%(8}HS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581400"/>
            <a:ext cx="3352800" cy="210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4" name="Picture 1" descr="C:\Users\xiaoke\AppData\Roaming\Tencent\Users\93735681\QQ\WinTemp\RichOle\9OP79A)]QD73WDCCCO9B3QH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447800"/>
            <a:ext cx="2286000" cy="296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 eaLnBrk="1" hangingPunct="1"/>
            <a:r>
              <a:rPr lang="en-US" altLang="zh-CN" sz="4000" smtClean="0">
                <a:ea typeface="MS Mincho" panose="02020609040205080304" pitchFamily="49" charset="-128"/>
              </a:rPr>
              <a:t>Why explain phenomena?</a:t>
            </a:r>
            <a:endParaRPr lang="en-US" altLang="en-US" sz="4000" smtClean="0">
              <a:ea typeface="MS Mincho" panose="02020609040205080304" pitchFamily="49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</a:t>
            </a:r>
            <a:endParaRPr 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73D26E4-6419-41B2-A9D7-6585E428B4B2}" type="slidenum">
              <a:rPr lang="en-US" altLang="en-US" sz="1200" smtClean="0">
                <a:solidFill>
                  <a:srgbClr val="898989"/>
                </a:solidFill>
              </a:rPr>
            </a:fld>
            <a:endParaRPr lang="en-US" altLang="en-US" sz="1200" smtClean="0">
              <a:solidFill>
                <a:srgbClr val="898989"/>
              </a:solidFill>
            </a:endParaRPr>
          </a:p>
        </p:txBody>
      </p:sp>
      <p:sp>
        <p:nvSpPr>
          <p:cNvPr id="31749" name="TextBox 5"/>
          <p:cNvSpPr txBox="1">
            <a:spLocks noChangeArrowheads="1"/>
          </p:cNvSpPr>
          <p:nvPr/>
        </p:nvSpPr>
        <p:spPr bwMode="auto">
          <a:xfrm>
            <a:off x="5181600" y="5181600"/>
            <a:ext cx="3470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Sixth sense:  female &gt; male</a:t>
            </a:r>
            <a:endParaRPr lang="zh-CN" altLang="en-US" sz="2000" b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1750" name="Picture 2" descr="C:\Users\xiaoke\AppData\Roaming\Tencent\Users\93735681\QQ\WinTemp\RichOle\Z5U88ORDT@5AEEA`%{0BR)U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363" y="1066800"/>
            <a:ext cx="4084637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1" name="Picture 3" descr="C:\Users\xiaoke\AppData\Roaming\Tencent\Users\93735681\QQ\WinTemp\RichOle\8T(80T9]Q1PRO6@(9IR)(A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396240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2" name="Picture 4" descr="C:\Users\xiaoke\AppData\Roaming\Tencent\Users\93735681\QQ\WinTemp\RichOle\FKVL[4@]J@TVSG{LR{TQC8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0"/>
            <a:ext cx="4572000" cy="290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8763000" cy="838200"/>
          </a:xfrm>
        </p:spPr>
        <p:txBody>
          <a:bodyPr/>
          <a:lstStyle/>
          <a:p>
            <a:pPr eaLnBrk="1" hangingPunct="1"/>
            <a:r>
              <a:rPr lang="en-US" altLang="en-US"/>
              <a:t>Why Data Mining? Commercial Viewpoint</a:t>
            </a:r>
            <a:endParaRPr lang="en-US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92100" y="1524000"/>
            <a:ext cx="83185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Lots of data is being collected </a:t>
            </a:r>
            <a:br>
              <a:rPr lang="en-US" altLang="en-US" sz="2400"/>
            </a:br>
            <a:r>
              <a:rPr lang="en-US" altLang="en-US" sz="2400"/>
              <a:t>and warehoused 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Web data</a:t>
            </a:r>
            <a:endParaRPr lang="en-US" altLang="en-US" sz="2000"/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Google has Peta Bytes of web data</a:t>
            </a:r>
            <a:endParaRPr lang="en-US" altLang="en-US" sz="1800"/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Facebook has billions of active users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purchases at department/</a:t>
            </a:r>
            <a:br>
              <a:rPr lang="en-US" altLang="en-US" sz="2000"/>
            </a:br>
            <a:r>
              <a:rPr lang="en-US" altLang="en-US" sz="2000"/>
              <a:t>grocery stores, e-commerce</a:t>
            </a:r>
            <a:endParaRPr lang="en-US" altLang="en-US" sz="2000"/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 Amazon handles millions of visits/day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Bank/Credit Card transactions</a:t>
            </a: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Computers have become cheaper and more powerful</a:t>
            </a: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Competitive Pressure is Strong 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Provide better, customized services for an edge (e.g. in Customer Relationship Management)</a:t>
            </a:r>
            <a:endParaRPr lang="en-US" altLang="en-US" sz="2000"/>
          </a:p>
        </p:txBody>
      </p:sp>
      <p:pic>
        <p:nvPicPr>
          <p:cNvPr id="7172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057400"/>
            <a:ext cx="12001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09800"/>
            <a:ext cx="14287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997200"/>
            <a:ext cx="11430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950" y="2906713"/>
            <a:ext cx="11430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6D6AA49-5BDD-4CDA-BADB-D1622C2C843C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28600"/>
            <a:ext cx="8915400" cy="609600"/>
          </a:xfrm>
        </p:spPr>
        <p:txBody>
          <a:bodyPr lIns="0" rIns="0"/>
          <a:lstStyle/>
          <a:p>
            <a:pPr eaLnBrk="1" hangingPunct="1"/>
            <a:r>
              <a:rPr lang="en-US" altLang="en-US"/>
              <a:t>Why Data Mining? Scientific Viewpoint</a:t>
            </a:r>
            <a:endParaRPr lang="en-US" altLang="en-US"/>
          </a:p>
        </p:txBody>
      </p:sp>
      <p:sp>
        <p:nvSpPr>
          <p:cNvPr id="9219" name="Rectangle 1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371600"/>
            <a:ext cx="60198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Data collected and stored at </a:t>
            </a:r>
            <a:br>
              <a:rPr lang="en-US" altLang="en-US" sz="2000"/>
            </a:br>
            <a:r>
              <a:rPr lang="en-US" altLang="en-US" sz="2000"/>
              <a:t>enormous speeds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000"/>
              <a:t>remote sensors on a satellite</a:t>
            </a:r>
            <a:endParaRPr lang="en-US" altLang="en-US" sz="2000"/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 NASA EOSDIS archives over </a:t>
            </a:r>
            <a:br>
              <a:rPr lang="en-US" altLang="en-US" sz="1600"/>
            </a:br>
            <a:r>
              <a:rPr lang="en-US" altLang="en-US" sz="1600"/>
              <a:t>petabytes of earth science data / year </a:t>
            </a:r>
            <a:endParaRPr lang="en-US" altLang="en-US" sz="160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000"/>
              <a:t>telescopes scanning the skies</a:t>
            </a:r>
            <a:endParaRPr lang="en-US" altLang="en-US" sz="2000"/>
          </a:p>
          <a:p>
            <a:pPr lvl="2" eaLnBrk="1" hangingPunct="1">
              <a:lnSpc>
                <a:spcPct val="40000"/>
              </a:lnSpc>
              <a:spcBef>
                <a:spcPct val="40000"/>
              </a:spcBef>
            </a:pPr>
            <a:r>
              <a:rPr lang="en-US" altLang="en-US" sz="1600"/>
              <a:t> Sky survey data</a:t>
            </a:r>
            <a:endParaRPr lang="en-US" altLang="en-US" sz="160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000"/>
              <a:t>High-throughput biological data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000"/>
              <a:t>scientific simulations</a:t>
            </a:r>
            <a:r>
              <a:rPr lang="en-US" altLang="en-US" sz="2300"/>
              <a:t> </a:t>
            </a:r>
            <a:endParaRPr lang="en-US" altLang="en-US" sz="2300"/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 </a:t>
            </a:r>
            <a:r>
              <a:rPr lang="en-US" altLang="en-US" sz="1600"/>
              <a:t>terabytes of data generated in a few hours</a:t>
            </a:r>
            <a:endParaRPr lang="en-US" altLang="en-US" sz="1600"/>
          </a:p>
          <a:p>
            <a:pPr lvl="2" eaLnBrk="1" hangingPunct="1">
              <a:lnSpc>
                <a:spcPct val="90000"/>
              </a:lnSpc>
            </a:pPr>
            <a:endParaRPr lang="en-US" altLang="en-US" sz="14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Data mining helps scientists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in automated analysis of massive datasets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In hypothesis formation</a:t>
            </a:r>
            <a:endParaRPr lang="en-US" altLang="en-US" sz="2000"/>
          </a:p>
        </p:txBody>
      </p:sp>
      <p:graphicFrame>
        <p:nvGraphicFramePr>
          <p:cNvPr id="9220" name="Object 14"/>
          <p:cNvGraphicFramePr>
            <a:graphicFrameLocks noChangeAspect="1"/>
          </p:cNvGraphicFramePr>
          <p:nvPr/>
        </p:nvGraphicFramePr>
        <p:xfrm>
          <a:off x="6864350" y="1363663"/>
          <a:ext cx="1822450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VISIO" r:id="rId1" imgW="2557145" imgH="1991995" progId="Visio.Drawing.11">
                  <p:embed/>
                </p:oleObj>
              </mc:Choice>
              <mc:Fallback>
                <p:oleObj name="VISIO" r:id="rId1" imgW="2557145" imgH="1991995" progId="Visio.Drawing.11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1363663"/>
                        <a:ext cx="1822450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5"/>
          <p:cNvGraphicFramePr>
            <a:graphicFrameLocks noChangeAspect="1"/>
          </p:cNvGraphicFramePr>
          <p:nvPr/>
        </p:nvGraphicFramePr>
        <p:xfrm>
          <a:off x="6897688" y="3048000"/>
          <a:ext cx="2017712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VISIO" r:id="rId3" imgW="2401570" imgH="1492250" progId="Visio.Drawing.11">
                  <p:embed/>
                </p:oleObj>
              </mc:Choice>
              <mc:Fallback>
                <p:oleObj name="VISIO" r:id="rId3" imgW="2401570" imgH="149225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8" y="3048000"/>
                        <a:ext cx="2017712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16"/>
          <p:cNvSpPr>
            <a:spLocks noChangeArrowheads="1"/>
          </p:cNvSpPr>
          <p:nvPr/>
        </p:nvSpPr>
        <p:spPr bwMode="auto">
          <a:xfrm>
            <a:off x="304800" y="3733800"/>
            <a:ext cx="5334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endParaRPr lang="en-US" altLang="en-US" sz="1400" b="0">
              <a:cs typeface="Arial" panose="020B0604020202020204" pitchFamily="34" charset="0"/>
            </a:endParaRPr>
          </a:p>
        </p:txBody>
      </p:sp>
      <p:sp>
        <p:nvSpPr>
          <p:cNvPr id="9223" name="Rounded Rectangle 17"/>
          <p:cNvSpPr>
            <a:spLocks noChangeArrowheads="1"/>
          </p:cNvSpPr>
          <p:nvPr/>
        </p:nvSpPr>
        <p:spPr bwMode="auto">
          <a:xfrm>
            <a:off x="152400" y="3048000"/>
            <a:ext cx="5638800" cy="2971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endParaRPr lang="en-US" altLang="en-US" sz="1400" b="0">
              <a:cs typeface="Arial" panose="020B0604020202020204" pitchFamily="34" charset="0"/>
            </a:endParaRPr>
          </a:p>
        </p:txBody>
      </p:sp>
      <p:sp>
        <p:nvSpPr>
          <p:cNvPr id="922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F4C9FEC-5FBE-4EAC-9A43-0A8AE0AA6A18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9227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371600"/>
            <a:ext cx="20574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8" name="Rectangle 1"/>
          <p:cNvSpPr>
            <a:spLocks noChangeArrowheads="1"/>
          </p:cNvSpPr>
          <p:nvPr/>
        </p:nvSpPr>
        <p:spPr bwMode="auto">
          <a:xfrm>
            <a:off x="4654550" y="2743200"/>
            <a:ext cx="1968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fMRI Data from Brain</a:t>
            </a:r>
            <a:endParaRPr lang="en-US" altLang="en-US" sz="1400"/>
          </a:p>
        </p:txBody>
      </p:sp>
      <p:sp>
        <p:nvSpPr>
          <p:cNvPr id="9229" name="Rectangle 23"/>
          <p:cNvSpPr>
            <a:spLocks noChangeArrowheads="1"/>
          </p:cNvSpPr>
          <p:nvPr/>
        </p:nvSpPr>
        <p:spPr bwMode="auto">
          <a:xfrm>
            <a:off x="6981825" y="2700338"/>
            <a:ext cx="1589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Sky Survey Data</a:t>
            </a:r>
            <a:endParaRPr lang="en-US" altLang="en-US" sz="1400"/>
          </a:p>
        </p:txBody>
      </p:sp>
      <p:sp>
        <p:nvSpPr>
          <p:cNvPr id="9230" name="Rectangle 24"/>
          <p:cNvSpPr>
            <a:spLocks noChangeArrowheads="1"/>
          </p:cNvSpPr>
          <p:nvPr/>
        </p:nvSpPr>
        <p:spPr bwMode="auto">
          <a:xfrm>
            <a:off x="6923088" y="4648200"/>
            <a:ext cx="20843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Gene Expression Data</a:t>
            </a:r>
            <a:endParaRPr lang="en-US" altLang="en-US" sz="1400"/>
          </a:p>
        </p:txBody>
      </p:sp>
      <p:sp>
        <p:nvSpPr>
          <p:cNvPr id="9231" name="Rectangle 25"/>
          <p:cNvSpPr>
            <a:spLocks noChangeArrowheads="1"/>
          </p:cNvSpPr>
          <p:nvPr/>
        </p:nvSpPr>
        <p:spPr bwMode="auto">
          <a:xfrm>
            <a:off x="6454775" y="6262688"/>
            <a:ext cx="2689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Surface Temperature of Earth</a:t>
            </a:r>
            <a:endParaRPr lang="en-US" altLang="en-US" sz="1400"/>
          </a:p>
        </p:txBody>
      </p:sp>
      <p:pic>
        <p:nvPicPr>
          <p:cNvPr id="9232" name="Picture 18" descr="http://im2.ezgif.com/tmp/ezgif-1403672989.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918075"/>
            <a:ext cx="24669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991600" cy="533400"/>
          </a:xfrm>
        </p:spPr>
        <p:txBody>
          <a:bodyPr/>
          <a:lstStyle/>
          <a:p>
            <a:r>
              <a:rPr lang="en-US" altLang="en-US" sz="2200"/>
              <a:t>Great opportunities to improve productivity in all walks of life</a:t>
            </a:r>
            <a:endParaRPr lang="en-US" altLang="en-US" sz="2200"/>
          </a:p>
        </p:txBody>
      </p:sp>
      <p:pic>
        <p:nvPicPr>
          <p:cNvPr id="11267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1143000"/>
            <a:ext cx="5834062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67BC36F-03D6-4683-9A31-B0E786FC8D31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11271" name="Group 3"/>
          <p:cNvGrpSpPr/>
          <p:nvPr/>
        </p:nvGrpSpPr>
        <p:grpSpPr bwMode="auto">
          <a:xfrm>
            <a:off x="1481138" y="2743200"/>
            <a:ext cx="5834062" cy="3505200"/>
            <a:chOff x="338138" y="1143000"/>
            <a:chExt cx="8424862" cy="5410200"/>
          </a:xfrm>
        </p:grpSpPr>
        <p:pic>
          <p:nvPicPr>
            <p:cNvPr id="1127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38" y="1143000"/>
              <a:ext cx="4233862" cy="535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3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1538" y="1143000"/>
              <a:ext cx="4081462" cy="541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533400"/>
          </a:xfrm>
        </p:spPr>
        <p:txBody>
          <a:bodyPr/>
          <a:lstStyle/>
          <a:p>
            <a:r>
              <a:rPr lang="en-US" altLang="en-US" sz="2400"/>
              <a:t>Great Opportunities to Solve Society’s Major Problems</a:t>
            </a:r>
            <a:endParaRPr lang="en-US" altLang="en-US" sz="2800"/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32004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7" descr="http://countrylivingoffgrid.com/resources/aboutus_im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962400"/>
            <a:ext cx="3276600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83"/>
          <a:stretch>
            <a:fillRect/>
          </a:stretch>
        </p:blipFill>
        <p:spPr bwMode="auto">
          <a:xfrm>
            <a:off x="4800600" y="1676400"/>
            <a:ext cx="35052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TextBox 9"/>
          <p:cNvSpPr txBox="1">
            <a:spLocks noChangeArrowheads="1"/>
          </p:cNvSpPr>
          <p:nvPr/>
        </p:nvSpPr>
        <p:spPr bwMode="auto">
          <a:xfrm>
            <a:off x="820738" y="3581400"/>
            <a:ext cx="3240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Improving health care and reducing costs</a:t>
            </a:r>
            <a:endParaRPr lang="en-US" altLang="en-US" sz="1200">
              <a:cs typeface="Arial" panose="020B0604020202020204" pitchFamily="34" charset="0"/>
            </a:endParaRPr>
          </a:p>
        </p:txBody>
      </p:sp>
      <p:sp>
        <p:nvSpPr>
          <p:cNvPr id="13319" name="TextBox 10"/>
          <p:cNvSpPr txBox="1">
            <a:spLocks noChangeArrowheads="1"/>
          </p:cNvSpPr>
          <p:nvPr/>
        </p:nvSpPr>
        <p:spPr bwMode="auto">
          <a:xfrm>
            <a:off x="803275" y="6019800"/>
            <a:ext cx="3238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Finding alternative/ green energy sources</a:t>
            </a:r>
            <a:endParaRPr lang="en-US" altLang="en-US" sz="1200">
              <a:cs typeface="Arial" panose="020B0604020202020204" pitchFamily="34" charset="0"/>
            </a:endParaRPr>
          </a:p>
        </p:txBody>
      </p:sp>
      <p:sp>
        <p:nvSpPr>
          <p:cNvPr id="13320" name="TextBox 11"/>
          <p:cNvSpPr txBox="1">
            <a:spLocks noChangeArrowheads="1"/>
          </p:cNvSpPr>
          <p:nvPr/>
        </p:nvSpPr>
        <p:spPr bwMode="auto">
          <a:xfrm>
            <a:off x="4983163" y="3533775"/>
            <a:ext cx="30940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Predicting the impact of climate change</a:t>
            </a:r>
            <a:endParaRPr lang="en-US" altLang="en-US" sz="1200">
              <a:cs typeface="Arial" panose="020B0604020202020204" pitchFamily="34" charset="0"/>
            </a:endParaRPr>
          </a:p>
        </p:txBody>
      </p:sp>
      <p:pic>
        <p:nvPicPr>
          <p:cNvPr id="13321" name="Content Placeholder 13" descr="basf-949686-plant-biotechnology-lg.jpg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3962400"/>
            <a:ext cx="3505200" cy="1949450"/>
          </a:xfrm>
        </p:spPr>
      </p:pic>
      <p:sp>
        <p:nvSpPr>
          <p:cNvPr id="13322" name="TextBox 14"/>
          <p:cNvSpPr txBox="1">
            <a:spLocks noChangeArrowheads="1"/>
          </p:cNvSpPr>
          <p:nvPr/>
        </p:nvSpPr>
        <p:spPr bwMode="auto">
          <a:xfrm>
            <a:off x="5207000" y="5943600"/>
            <a:ext cx="264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Reducing hunger and poverty by </a:t>
            </a:r>
            <a:endParaRPr lang="en-US" altLang="en-US" sz="1200">
              <a:cs typeface="Arial" panose="020B0604020202020204" pitchFamily="34" charset="0"/>
            </a:endParaRPr>
          </a:p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increasing agriculture production</a:t>
            </a:r>
            <a:endParaRPr lang="en-US" altLang="en-US" sz="1200">
              <a:cs typeface="Arial" panose="020B0604020202020204" pitchFamily="34" charset="0"/>
            </a:endParaRPr>
          </a:p>
        </p:txBody>
      </p:sp>
      <p:sp>
        <p:nvSpPr>
          <p:cNvPr id="1332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EC0D1C3-C34A-4B73-B961-D99B1C3BF7CB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title"/>
          </p:nvPr>
        </p:nvSpPr>
        <p:spPr>
          <a:xfrm>
            <a:off x="203200" y="228600"/>
            <a:ext cx="8280400" cy="533400"/>
          </a:xfrm>
        </p:spPr>
        <p:txBody>
          <a:bodyPr/>
          <a:lstStyle/>
          <a:p>
            <a:r>
              <a:rPr lang="en-US" altLang="en-US"/>
              <a:t>What is Data Mining?</a:t>
            </a:r>
            <a:endParaRPr lang="en-US" altLang="en-US"/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</p:spPr>
        <p:txBody>
          <a:bodyPr/>
          <a:lstStyle/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/>
              <a:t>Many Definitions</a:t>
            </a:r>
            <a:endParaRPr lang="en-US" altLang="en-US" sz="320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sz="2400"/>
              <a:t>Non-trivial extraction of implicit, previously unknown and potentially useful information from data</a:t>
            </a:r>
            <a:endParaRPr lang="en-US" altLang="en-US" sz="240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sz="2400"/>
              <a:t>Exploration &amp; analysis, by automatic or semi-automatic means, of large quantities of data in order to discover </a:t>
            </a:r>
            <a:br>
              <a:rPr lang="en-US" altLang="en-US" sz="2400"/>
            </a:br>
            <a:r>
              <a:rPr lang="en-US" altLang="en-US" sz="2400"/>
              <a:t>meaningful patterns</a:t>
            </a:r>
            <a:r>
              <a:rPr lang="en-US" altLang="en-US" sz="2400" b="1"/>
              <a:t> </a:t>
            </a:r>
            <a:br>
              <a:rPr lang="en-US" altLang="en-US" sz="2400" b="1"/>
            </a:br>
            <a:endParaRPr lang="en-US" altLang="en-US" sz="2400" b="1"/>
          </a:p>
        </p:txBody>
      </p:sp>
      <p:pic>
        <p:nvPicPr>
          <p:cNvPr id="15364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81400"/>
            <a:ext cx="8226425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67D73FF-362E-4C0C-90A7-86AEF3422F1C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2"/>
          <a:stretch>
            <a:fillRect/>
          </a:stretch>
        </p:blipFill>
        <p:spPr bwMode="auto">
          <a:xfrm>
            <a:off x="3124200" y="2743200"/>
            <a:ext cx="5942013" cy="268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105400"/>
          </a:xfrm>
        </p:spPr>
        <p:txBody>
          <a:bodyPr/>
          <a:lstStyle/>
          <a:p>
            <a:r>
              <a:rPr lang="en-US" altLang="en-US" sz="2400"/>
              <a:t>Draws ideas from machine learning/AI, pattern recognition, statistics, and database systems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Traditional techniques may be unsuitable due to data that is</a:t>
            </a:r>
            <a:endParaRPr lang="en-US" altLang="en-US" sz="2400"/>
          </a:p>
          <a:p>
            <a:pPr lvl="1"/>
            <a:r>
              <a:rPr lang="en-US" altLang="en-US" sz="2200"/>
              <a:t>Large-scale</a:t>
            </a:r>
            <a:endParaRPr lang="en-US" altLang="en-US" sz="2200"/>
          </a:p>
          <a:p>
            <a:pPr lvl="1"/>
            <a:r>
              <a:rPr lang="en-US" altLang="en-US" sz="2200"/>
              <a:t>High dimensional</a:t>
            </a:r>
            <a:endParaRPr lang="en-US" altLang="en-US" sz="2200"/>
          </a:p>
          <a:p>
            <a:pPr lvl="1"/>
            <a:r>
              <a:rPr lang="en-US" altLang="en-US" sz="2200"/>
              <a:t>Heterogeneous</a:t>
            </a:r>
            <a:endParaRPr lang="en-US" altLang="en-US" sz="2200"/>
          </a:p>
          <a:p>
            <a:pPr lvl="1"/>
            <a:r>
              <a:rPr lang="en-US" altLang="en-US" sz="2200"/>
              <a:t>Complex</a:t>
            </a:r>
            <a:endParaRPr lang="en-US" altLang="en-US" sz="2200"/>
          </a:p>
          <a:p>
            <a:pPr lvl="1"/>
            <a:r>
              <a:rPr lang="en-US" altLang="en-US" sz="2200"/>
              <a:t>Distributed</a:t>
            </a:r>
            <a:endParaRPr lang="en-US" altLang="en-US" sz="2200"/>
          </a:p>
          <a:p>
            <a:pPr lvl="1"/>
            <a:endParaRPr lang="en-US" altLang="en-US" sz="2200"/>
          </a:p>
          <a:p>
            <a:r>
              <a:rPr lang="en-US" altLang="en-US" sz="2200"/>
              <a:t>A key component of the emerging field of data science and data-driven discovery</a:t>
            </a:r>
            <a:endParaRPr lang="en-US" altLang="en-US" sz="2200"/>
          </a:p>
        </p:txBody>
      </p:sp>
      <p:sp>
        <p:nvSpPr>
          <p:cNvPr id="17412" name="Rectangle 5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80400" cy="533400"/>
          </a:xfrm>
        </p:spPr>
        <p:txBody>
          <a:bodyPr lIns="0" rIns="0"/>
          <a:lstStyle/>
          <a:p>
            <a:r>
              <a:rPr lang="en-US" altLang="en-US"/>
              <a:t>Origins of Data Mining</a:t>
            </a:r>
            <a:endParaRPr lang="en-US" altLang="en-US"/>
          </a:p>
        </p:txBody>
      </p:sp>
      <p:sp>
        <p:nvSpPr>
          <p:cNvPr id="17413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E198E79-1332-4CB1-8D9F-0FA3E10EEF9D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Mining Tasks</a:t>
            </a:r>
            <a:endParaRPr lang="en-US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78800" cy="4171950"/>
          </a:xfrm>
        </p:spPr>
        <p:txBody>
          <a:bodyPr/>
          <a:lstStyle/>
          <a:p>
            <a:r>
              <a:rPr lang="en-US" altLang="en-US"/>
              <a:t>Prediction Methods</a:t>
            </a:r>
            <a:endParaRPr lang="en-US" altLang="en-US"/>
          </a:p>
          <a:p>
            <a:pPr lvl="1"/>
            <a:r>
              <a:rPr lang="en-US" altLang="en-US"/>
              <a:t>Use some variables to predict unknown or future values of other variables.</a:t>
            </a:r>
            <a:endParaRPr lang="en-US" altLang="en-US"/>
          </a:p>
          <a:p>
            <a:pPr lvl="2">
              <a:buFont typeface="Wingdings" panose="05000000000000000000" pitchFamily="2" charset="2"/>
              <a:buNone/>
            </a:pPr>
            <a:endParaRPr lang="en-US" altLang="en-US"/>
          </a:p>
          <a:p>
            <a:r>
              <a:rPr lang="en-US" altLang="en-US"/>
              <a:t>Description Methods</a:t>
            </a:r>
            <a:endParaRPr lang="en-US" altLang="en-US"/>
          </a:p>
          <a:p>
            <a:pPr lvl="1"/>
            <a:r>
              <a:rPr lang="en-US" altLang="en-US"/>
              <a:t>Find human-interpretable patterns that describe the data.</a:t>
            </a:r>
            <a:endParaRPr lang="en-US" altLang="en-US"/>
          </a:p>
          <a:p>
            <a:pPr lvl="2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3810000" y="5973763"/>
            <a:ext cx="5135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>
                <a:latin typeface="Times New Roman" panose="02020603050405020304" pitchFamily="18" charset="0"/>
              </a:rPr>
              <a:t>From [Fayyad, et.al.] Advances in Knowledge Discovery and Data Mining, 1996</a:t>
            </a:r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61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8320D22-9F98-42E8-87A1-D1AB43BEB86B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5562600" y="1066800"/>
          <a:ext cx="3227388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9" name="VISIO" r:id="rId1" imgW="4939030" imgH="2802890" progId="Visio.Drawing.6">
                  <p:embed/>
                </p:oleObj>
              </mc:Choice>
              <mc:Fallback>
                <p:oleObj name="VISIO" r:id="rId1" imgW="4939030" imgH="2802890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066800"/>
                        <a:ext cx="3227388" cy="182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4"/>
          <p:cNvGraphicFramePr>
            <a:graphicFrameLocks noChangeAspect="1"/>
          </p:cNvGraphicFramePr>
          <p:nvPr/>
        </p:nvGraphicFramePr>
        <p:xfrm>
          <a:off x="3070225" y="2667000"/>
          <a:ext cx="14732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0" name="Document" r:id="rId3" imgW="5207635" imgH="8185150" progId="Word.Document.8">
                  <p:embed/>
                </p:oleObj>
              </mc:Choice>
              <mc:Fallback>
                <p:oleObj name="Document" r:id="rId3" imgW="5207635" imgH="818515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2667000"/>
                        <a:ext cx="14732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4" name="Group 5"/>
          <p:cNvGrpSpPr/>
          <p:nvPr/>
        </p:nvGrpSpPr>
        <p:grpSpPr bwMode="auto">
          <a:xfrm>
            <a:off x="152400" y="1143000"/>
            <a:ext cx="1600200" cy="1295400"/>
            <a:chOff x="2160" y="2544"/>
            <a:chExt cx="1920" cy="1687"/>
          </a:xfrm>
        </p:grpSpPr>
        <p:sp>
          <p:nvSpPr>
            <p:cNvPr id="20511" name="Line 6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2" name="Line 7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3" name="Freeform 8"/>
            <p:cNvSpPr/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4" name="AutoShape 9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5" name="AutoShape 10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6" name="AutoShape 11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7" name="AutoShape 12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8" name="AutoShape 13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9" name="AutoShape 14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0" name="AutoShape 15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1" name="AutoShape 16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2" name="AutoShape 17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3" name="AutoShape 18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4" name="AutoShape 19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5" name="AutoShape 20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6" name="AutoShape 21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7" name="AutoShape 22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8" name="AutoShape 23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9" name="AutoShape 24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0" name="AutoShape 25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1" name="AutoShape 26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2" name="AutoShape 27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3" name="AutoShape 28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4" name="AutoShape 29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5" name="AutoShape 30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6" name="AutoShape 31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20485" name="Line 32"/>
          <p:cNvSpPr>
            <a:spLocks noChangeShapeType="1"/>
          </p:cNvSpPr>
          <p:nvPr/>
        </p:nvSpPr>
        <p:spPr bwMode="auto">
          <a:xfrm flipV="1">
            <a:off x="4495800" y="2362200"/>
            <a:ext cx="182880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Line 33"/>
          <p:cNvSpPr>
            <a:spLocks noChangeShapeType="1"/>
          </p:cNvSpPr>
          <p:nvPr/>
        </p:nvSpPr>
        <p:spPr bwMode="auto">
          <a:xfrm>
            <a:off x="914400" y="2209800"/>
            <a:ext cx="21336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Line 34"/>
          <p:cNvSpPr>
            <a:spLocks noChangeShapeType="1"/>
          </p:cNvSpPr>
          <p:nvPr/>
        </p:nvSpPr>
        <p:spPr bwMode="auto">
          <a:xfrm flipV="1">
            <a:off x="1600200" y="4343400"/>
            <a:ext cx="15240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Line 35"/>
          <p:cNvSpPr>
            <a:spLocks noChangeShapeType="1"/>
          </p:cNvSpPr>
          <p:nvPr/>
        </p:nvSpPr>
        <p:spPr bwMode="auto">
          <a:xfrm>
            <a:off x="4495800" y="4191000"/>
            <a:ext cx="16002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Text Box 36"/>
          <p:cNvSpPr txBox="1">
            <a:spLocks noChangeArrowheads="1"/>
          </p:cNvSpPr>
          <p:nvPr/>
        </p:nvSpPr>
        <p:spPr bwMode="auto">
          <a:xfrm rot="-2160000">
            <a:off x="4352925" y="3013075"/>
            <a:ext cx="2105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Predictive Modeling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0" name="Text Box 37"/>
          <p:cNvSpPr txBox="1">
            <a:spLocks noChangeArrowheads="1"/>
          </p:cNvSpPr>
          <p:nvPr/>
        </p:nvSpPr>
        <p:spPr bwMode="auto">
          <a:xfrm rot="1500000">
            <a:off x="1630363" y="2514600"/>
            <a:ext cx="11890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Clustering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1" name="Text Box 38"/>
          <p:cNvSpPr txBox="1">
            <a:spLocks noChangeArrowheads="1"/>
          </p:cNvSpPr>
          <p:nvPr/>
        </p:nvSpPr>
        <p:spPr bwMode="auto">
          <a:xfrm rot="-1560000">
            <a:off x="1608138" y="4349750"/>
            <a:ext cx="1363662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Association </a:t>
            </a:r>
            <a:br>
              <a:rPr lang="en-US" altLang="en-US" sz="1600">
                <a:solidFill>
                  <a:srgbClr val="006600"/>
                </a:solidFill>
              </a:rPr>
            </a:br>
            <a:r>
              <a:rPr lang="en-US" altLang="en-US" sz="1600">
                <a:solidFill>
                  <a:srgbClr val="006600"/>
                </a:solidFill>
              </a:rPr>
              <a:t>Rules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2" name="Text Box 39"/>
          <p:cNvSpPr txBox="1">
            <a:spLocks noChangeArrowheads="1"/>
          </p:cNvSpPr>
          <p:nvPr/>
        </p:nvSpPr>
        <p:spPr bwMode="auto">
          <a:xfrm rot="1920000">
            <a:off x="4641850" y="4267200"/>
            <a:ext cx="11096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Anomaly </a:t>
            </a:r>
            <a:br>
              <a:rPr lang="en-US" altLang="en-US" sz="1600">
                <a:solidFill>
                  <a:srgbClr val="006600"/>
                </a:solidFill>
              </a:rPr>
            </a:br>
            <a:r>
              <a:rPr lang="en-US" altLang="en-US" sz="1600">
                <a:solidFill>
                  <a:srgbClr val="006600"/>
                </a:solidFill>
              </a:rPr>
              <a:t>Detection</a:t>
            </a:r>
            <a:endParaRPr lang="en-US" altLang="en-US" sz="1600">
              <a:solidFill>
                <a:schemeClr val="bg2"/>
              </a:solidFill>
            </a:endParaRPr>
          </a:p>
        </p:txBody>
      </p:sp>
      <p:pic>
        <p:nvPicPr>
          <p:cNvPr id="20493" name="Picture 40" descr="fd01226_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438775"/>
            <a:ext cx="5699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4" name="Rectangle 41"/>
          <p:cNvSpPr>
            <a:spLocks noChangeArrowheads="1"/>
          </p:cNvSpPr>
          <p:nvPr/>
        </p:nvSpPr>
        <p:spPr bwMode="auto">
          <a:xfrm>
            <a:off x="304800" y="5667375"/>
            <a:ext cx="479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Milk</a:t>
            </a:r>
            <a:endParaRPr lang="en-US" altLang="en-US" sz="1800">
              <a:solidFill>
                <a:srgbClr val="CC0000"/>
              </a:solidFill>
              <a:latin typeface="Tahoma" panose="020B0604030504040204" pitchFamily="34" charset="0"/>
            </a:endParaRPr>
          </a:p>
        </p:txBody>
      </p:sp>
      <p:sp>
        <p:nvSpPr>
          <p:cNvPr id="20495" name="Text Box 42"/>
          <p:cNvSpPr txBox="1">
            <a:spLocks noChangeArrowheads="1"/>
          </p:cNvSpPr>
          <p:nvPr/>
        </p:nvSpPr>
        <p:spPr bwMode="auto">
          <a:xfrm>
            <a:off x="3200400" y="2286000"/>
            <a:ext cx="1143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0496" name="Text Box 43"/>
          <p:cNvSpPr txBox="1">
            <a:spLocks noChangeArrowheads="1"/>
          </p:cNvSpPr>
          <p:nvPr/>
        </p:nvSpPr>
        <p:spPr bwMode="auto">
          <a:xfrm>
            <a:off x="3352800" y="22098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/>
              <a:t>Data</a:t>
            </a:r>
            <a:endParaRPr lang="en-US" altLang="en-US"/>
          </a:p>
        </p:txBody>
      </p:sp>
      <p:pic>
        <p:nvPicPr>
          <p:cNvPr id="20497" name="Picture 4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1" r="63640" b="34026"/>
          <a:stretch>
            <a:fillRect/>
          </a:stretch>
        </p:blipFill>
        <p:spPr bwMode="auto">
          <a:xfrm>
            <a:off x="1524000" y="5257800"/>
            <a:ext cx="1362075" cy="11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8" name="Line 45"/>
          <p:cNvSpPr>
            <a:spLocks noChangeShapeType="1"/>
          </p:cNvSpPr>
          <p:nvPr/>
        </p:nvSpPr>
        <p:spPr bwMode="auto">
          <a:xfrm>
            <a:off x="914400" y="58959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499" name="Group 46"/>
          <p:cNvGrpSpPr/>
          <p:nvPr/>
        </p:nvGrpSpPr>
        <p:grpSpPr bwMode="auto">
          <a:xfrm>
            <a:off x="5791200" y="3429000"/>
            <a:ext cx="3352800" cy="2971800"/>
            <a:chOff x="3648" y="2448"/>
            <a:chExt cx="2112" cy="1872"/>
          </a:xfrm>
        </p:grpSpPr>
        <p:pic>
          <p:nvPicPr>
            <p:cNvPr id="20504" name="Picture 4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5" name="Oval 48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6" name="Oval 49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7" name="Oval 50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8" name="Oval 51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9" name="Rectangle 52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0" name="Rectangle 53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20500" name="Rectangle 54"/>
          <p:cNvSpPr>
            <a:spLocks noChangeArrowheads="1"/>
          </p:cNvSpPr>
          <p:nvPr/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3200">
                <a:latin typeface="Tahoma" panose="020B0604030504040204" pitchFamily="34" charset="0"/>
              </a:rPr>
              <a:t>Data Mining Tasks …</a:t>
            </a:r>
            <a:endParaRPr lang="en-US" altLang="en-US" sz="3200">
              <a:latin typeface="Tahoma" panose="020B0604030504040204" pitchFamily="34" charset="0"/>
            </a:endParaRPr>
          </a:p>
        </p:txBody>
      </p:sp>
      <p:sp>
        <p:nvSpPr>
          <p:cNvPr id="20501" name="Slide Number Placeholder 5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9DDF18C-5299-4C45-A7F0-3686537074CD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318500" cy="533400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altLang="en-US"/>
              <a:t>Find a model  for class attribute as a function of the values of other attributes</a:t>
            </a:r>
            <a:endParaRPr lang="en-US" altLang="en-US"/>
          </a:p>
          <a:p>
            <a:pPr marL="342900" indent="-342900">
              <a:lnSpc>
                <a:spcPct val="90000"/>
              </a:lnSpc>
            </a:pPr>
            <a:endParaRPr lang="en-US" altLang="en-US"/>
          </a:p>
          <a:p>
            <a:pPr marL="342900" indent="-342900">
              <a:lnSpc>
                <a:spcPct val="90000"/>
              </a:lnSpc>
            </a:pPr>
            <a:endParaRPr lang="en-US" altLang="en-US"/>
          </a:p>
          <a:p>
            <a:pPr marL="342900" indent="-342900">
              <a:lnSpc>
                <a:spcPct val="90000"/>
              </a:lnSpc>
            </a:pPr>
            <a:endParaRPr lang="en-US" altLang="en-US"/>
          </a:p>
          <a:p>
            <a:pPr marL="342900" indent="-342900">
              <a:lnSpc>
                <a:spcPct val="90000"/>
              </a:lnSpc>
            </a:pPr>
            <a:endParaRPr lang="en-US" altLang="en-US"/>
          </a:p>
          <a:p>
            <a:pPr marL="342900" indent="-342900">
              <a:lnSpc>
                <a:spcPct val="90000"/>
              </a:lnSpc>
            </a:pPr>
            <a:endParaRPr lang="en-US" altLang="en-US"/>
          </a:p>
        </p:txBody>
      </p:sp>
      <p:graphicFrame>
        <p:nvGraphicFramePr>
          <p:cNvPr id="22531" name="Object 4"/>
          <p:cNvGraphicFramePr>
            <a:graphicFrameLocks noChangeAspect="1"/>
          </p:cNvGraphicFramePr>
          <p:nvPr/>
        </p:nvGraphicFramePr>
        <p:xfrm>
          <a:off x="228600" y="2762250"/>
          <a:ext cx="443865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Document" r:id="rId1" imgW="8203565" imgH="3634740" progId="Word.Document.8">
                  <p:embed/>
                </p:oleObj>
              </mc:Choice>
              <mc:Fallback>
                <p:oleObj name="Document" r:id="rId1" imgW="8203565" imgH="36347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762250"/>
                        <a:ext cx="4438650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5943600" y="1600200"/>
            <a:ext cx="3048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Model for predicting credit worthiness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3733800" y="238125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2A8487"/>
                </a:solidFill>
              </a:rPr>
              <a:t>Class</a:t>
            </a:r>
            <a:endParaRPr lang="en-US" altLang="en-US" sz="2000">
              <a:solidFill>
                <a:srgbClr val="2A8487"/>
              </a:solidFill>
            </a:endParaRPr>
          </a:p>
        </p:txBody>
      </p:sp>
      <p:graphicFrame>
        <p:nvGraphicFramePr>
          <p:cNvPr id="22534" name="Object 7"/>
          <p:cNvGraphicFramePr>
            <a:graphicFrameLocks noChangeAspect="1"/>
          </p:cNvGraphicFramePr>
          <p:nvPr/>
        </p:nvGraphicFramePr>
        <p:xfrm>
          <a:off x="4953000" y="2266950"/>
          <a:ext cx="4114800" cy="413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VISIO" r:id="rId3" imgW="7087870" imgH="7124700" progId="Visio.Drawing.6">
                  <p:embed/>
                </p:oleObj>
              </mc:Choice>
              <mc:Fallback>
                <p:oleObj name="VISIO" r:id="rId3" imgW="7087870" imgH="7124700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266950"/>
                        <a:ext cx="4114800" cy="413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8"/>
          <p:cNvSpPr>
            <a:spLocks noChangeArrowheads="1"/>
          </p:cNvSpPr>
          <p:nvPr/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3200">
                <a:latin typeface="Tahoma" panose="020B0604030504040204" pitchFamily="34" charset="0"/>
              </a:rPr>
              <a:t>Predictive Modeling: Classification</a:t>
            </a:r>
            <a:endParaRPr lang="en-US" altLang="en-US" sz="3200">
              <a:latin typeface="Tahoma" panose="020B0604030504040204" pitchFamily="34" charset="0"/>
            </a:endParaRPr>
          </a:p>
        </p:txBody>
      </p:sp>
      <p:sp>
        <p:nvSpPr>
          <p:cNvPr id="22536" name="Slide Number Placeholder 1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8DE48AD-7E6F-454C-A229-24C403CF40D8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 Example</a:t>
            </a:r>
            <a:endParaRPr lang="en-US" altLang="en-US"/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 rot="-2416809">
            <a:off x="838200" y="1690688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4580" name="Text Box 5"/>
          <p:cNvSpPr txBox="1">
            <a:spLocks noChangeArrowheads="1"/>
          </p:cNvSpPr>
          <p:nvPr/>
        </p:nvSpPr>
        <p:spPr bwMode="auto">
          <a:xfrm rot="-2416809">
            <a:off x="1746250" y="1690688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4581" name="Text Box 6"/>
          <p:cNvSpPr txBox="1">
            <a:spLocks noChangeArrowheads="1"/>
          </p:cNvSpPr>
          <p:nvPr/>
        </p:nvSpPr>
        <p:spPr bwMode="auto">
          <a:xfrm rot="-2416809">
            <a:off x="2640013" y="1668463"/>
            <a:ext cx="13255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quantitative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4582" name="Text Box 7"/>
          <p:cNvSpPr txBox="1">
            <a:spLocks noChangeArrowheads="1"/>
          </p:cNvSpPr>
          <p:nvPr/>
        </p:nvSpPr>
        <p:spPr bwMode="auto">
          <a:xfrm rot="-2416809">
            <a:off x="3651250" y="1873250"/>
            <a:ext cx="692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class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pSp>
        <p:nvGrpSpPr>
          <p:cNvPr id="24583" name="Group 9"/>
          <p:cNvGrpSpPr/>
          <p:nvPr/>
        </p:nvGrpSpPr>
        <p:grpSpPr bwMode="auto">
          <a:xfrm>
            <a:off x="7696200" y="3948113"/>
            <a:ext cx="990600" cy="685800"/>
            <a:chOff x="4944" y="2736"/>
            <a:chExt cx="624" cy="432"/>
          </a:xfrm>
        </p:grpSpPr>
        <p:sp>
          <p:nvSpPr>
            <p:cNvPr id="24601" name="AutoShape 10"/>
            <p:cNvSpPr>
              <a:spLocks noChangeArrowheads="1"/>
            </p:cNvSpPr>
            <p:nvPr/>
          </p:nvSpPr>
          <p:spPr bwMode="auto">
            <a:xfrm>
              <a:off x="4944" y="2736"/>
              <a:ext cx="624" cy="432"/>
            </a:xfrm>
            <a:prstGeom prst="can">
              <a:avLst>
                <a:gd name="adj" fmla="val 25000"/>
              </a:avLst>
            </a:prstGeom>
            <a:solidFill>
              <a:srgbClr val="CCCCFF"/>
            </a:solidFill>
            <a:ln w="127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4602" name="Text Box 11"/>
            <p:cNvSpPr txBox="1">
              <a:spLocks noChangeArrowheads="1"/>
            </p:cNvSpPr>
            <p:nvPr/>
          </p:nvSpPr>
          <p:spPr bwMode="auto">
            <a:xfrm>
              <a:off x="5086" y="2856"/>
              <a:ext cx="345" cy="29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1400">
                  <a:solidFill>
                    <a:srgbClr val="0000CC"/>
                  </a:solidFill>
                </a:rPr>
                <a:t>Test</a:t>
              </a:r>
              <a:endParaRPr lang="en-US" altLang="en-US" sz="1400">
                <a:solidFill>
                  <a:srgbClr val="0000CC"/>
                </a:solidFill>
              </a:endParaRP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1400">
                  <a:solidFill>
                    <a:srgbClr val="0000CC"/>
                  </a:solidFill>
                </a:rPr>
                <a:t>Set</a:t>
              </a:r>
              <a:endParaRPr lang="en-US" altLang="en-US" sz="1400" b="0">
                <a:solidFill>
                  <a:schemeClr val="bg2"/>
                </a:solidFill>
              </a:endParaRPr>
            </a:p>
          </p:txBody>
        </p:sp>
      </p:grpSp>
      <p:sp>
        <p:nvSpPr>
          <p:cNvPr id="24584" name="AutoShape 12"/>
          <p:cNvSpPr>
            <a:spLocks noChangeArrowheads="1"/>
          </p:cNvSpPr>
          <p:nvPr/>
        </p:nvSpPr>
        <p:spPr bwMode="auto">
          <a:xfrm>
            <a:off x="3886200" y="5091113"/>
            <a:ext cx="990600" cy="685800"/>
          </a:xfrm>
          <a:prstGeom prst="can">
            <a:avLst>
              <a:gd name="adj" fmla="val 25056"/>
            </a:avLst>
          </a:prstGeom>
          <a:solidFill>
            <a:schemeClr val="accent2"/>
          </a:solidFill>
          <a:ln w="12700">
            <a:solidFill>
              <a:srgbClr val="0000FF"/>
            </a:solidFill>
            <a:rou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5" name="Text Box 13"/>
          <p:cNvSpPr txBox="1">
            <a:spLocks noChangeArrowheads="1"/>
          </p:cNvSpPr>
          <p:nvPr/>
        </p:nvSpPr>
        <p:spPr bwMode="auto">
          <a:xfrm>
            <a:off x="3886200" y="5238750"/>
            <a:ext cx="1042988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chemeClr val="tx2"/>
                </a:solidFill>
              </a:rPr>
              <a:t>Training </a:t>
            </a:r>
            <a:endParaRPr lang="en-US" altLang="en-US" sz="1600">
              <a:solidFill>
                <a:schemeClr val="tx2"/>
              </a:solidFill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chemeClr val="tx2"/>
                </a:solidFill>
              </a:rPr>
              <a:t>Set</a:t>
            </a:r>
            <a:endParaRPr lang="en-US" altLang="en-US" sz="1400" b="0">
              <a:solidFill>
                <a:schemeClr val="bg2"/>
              </a:solidFill>
            </a:endParaRPr>
          </a:p>
        </p:txBody>
      </p:sp>
      <p:grpSp>
        <p:nvGrpSpPr>
          <p:cNvPr id="24586" name="Group 14"/>
          <p:cNvGrpSpPr/>
          <p:nvPr/>
        </p:nvGrpSpPr>
        <p:grpSpPr bwMode="auto">
          <a:xfrm>
            <a:off x="7637463" y="5086350"/>
            <a:ext cx="1125537" cy="690563"/>
            <a:chOff x="3360" y="2880"/>
            <a:chExt cx="672" cy="415"/>
          </a:xfrm>
        </p:grpSpPr>
        <p:sp>
          <p:nvSpPr>
            <p:cNvPr id="24599" name="AutoShape 15"/>
            <p:cNvSpPr>
              <a:spLocks noChangeArrowheads="1"/>
            </p:cNvSpPr>
            <p:nvPr/>
          </p:nvSpPr>
          <p:spPr bwMode="auto">
            <a:xfrm>
              <a:off x="3360" y="2880"/>
              <a:ext cx="672" cy="415"/>
            </a:xfrm>
            <a:prstGeom prst="flowChartMultidocument">
              <a:avLst/>
            </a:prstGeom>
            <a:solidFill>
              <a:srgbClr val="00E0CB"/>
            </a:solidFill>
            <a:ln w="1270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4600" name="Text Box 16"/>
            <p:cNvSpPr txBox="1">
              <a:spLocks noChangeArrowheads="1"/>
            </p:cNvSpPr>
            <p:nvPr/>
          </p:nvSpPr>
          <p:spPr bwMode="auto">
            <a:xfrm>
              <a:off x="3392" y="2978"/>
              <a:ext cx="54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2000">
                  <a:solidFill>
                    <a:srgbClr val="CC0000"/>
                  </a:solidFill>
                </a:rPr>
                <a:t>Model</a:t>
              </a:r>
              <a:endParaRPr lang="en-US" altLang="en-US" sz="1400" b="0">
                <a:solidFill>
                  <a:schemeClr val="bg2"/>
                </a:solidFill>
              </a:endParaRPr>
            </a:p>
          </p:txBody>
        </p:sp>
      </p:grpSp>
      <p:sp>
        <p:nvSpPr>
          <p:cNvPr id="24587" name="AutoShape 17"/>
          <p:cNvSpPr>
            <a:spLocks noChangeArrowheads="1"/>
          </p:cNvSpPr>
          <p:nvPr/>
        </p:nvSpPr>
        <p:spPr bwMode="auto">
          <a:xfrm>
            <a:off x="5486400" y="4938713"/>
            <a:ext cx="1447800" cy="995362"/>
          </a:xfrm>
          <a:prstGeom prst="bevel">
            <a:avLst>
              <a:gd name="adj" fmla="val 125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8" name="Text Box 18"/>
          <p:cNvSpPr txBox="1">
            <a:spLocks noChangeArrowheads="1"/>
          </p:cNvSpPr>
          <p:nvPr/>
        </p:nvSpPr>
        <p:spPr bwMode="auto">
          <a:xfrm>
            <a:off x="5562600" y="5014913"/>
            <a:ext cx="13255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000000"/>
                </a:solidFill>
              </a:rPr>
              <a:t>Learn </a:t>
            </a:r>
            <a:endParaRPr lang="en-US" altLang="en-US" sz="2000">
              <a:solidFill>
                <a:srgbClr val="000000"/>
              </a:solidFill>
            </a:endParaRPr>
          </a:p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000000"/>
                </a:solidFill>
              </a:rPr>
              <a:t>Classifier</a:t>
            </a:r>
            <a:endParaRPr lang="en-US" altLang="en-US" sz="1400" b="0">
              <a:solidFill>
                <a:srgbClr val="00E0CB"/>
              </a:solidFill>
            </a:endParaRPr>
          </a:p>
        </p:txBody>
      </p:sp>
      <p:sp>
        <p:nvSpPr>
          <p:cNvPr id="24589" name="AutoShape 19"/>
          <p:cNvSpPr>
            <a:spLocks noChangeArrowheads="1"/>
          </p:cNvSpPr>
          <p:nvPr/>
        </p:nvSpPr>
        <p:spPr bwMode="auto">
          <a:xfrm>
            <a:off x="4987925" y="5349875"/>
            <a:ext cx="484188" cy="141288"/>
          </a:xfrm>
          <a:prstGeom prst="rightArrow">
            <a:avLst>
              <a:gd name="adj1" fmla="val 50000"/>
              <a:gd name="adj2" fmla="val 85674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90" name="AutoShape 20"/>
          <p:cNvSpPr>
            <a:spLocks noChangeArrowheads="1"/>
          </p:cNvSpPr>
          <p:nvPr/>
        </p:nvSpPr>
        <p:spPr bwMode="auto">
          <a:xfrm>
            <a:off x="7010400" y="5314950"/>
            <a:ext cx="484188" cy="141288"/>
          </a:xfrm>
          <a:prstGeom prst="rightArrow">
            <a:avLst>
              <a:gd name="adj1" fmla="val 50000"/>
              <a:gd name="adj2" fmla="val 85674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91" name="AutoShape 21"/>
          <p:cNvSpPr>
            <a:spLocks noChangeArrowheads="1"/>
          </p:cNvSpPr>
          <p:nvPr/>
        </p:nvSpPr>
        <p:spPr bwMode="auto">
          <a:xfrm rot="5400000">
            <a:off x="8073231" y="4790282"/>
            <a:ext cx="312737" cy="152400"/>
          </a:xfrm>
          <a:prstGeom prst="rightArrow">
            <a:avLst>
              <a:gd name="adj1" fmla="val 50000"/>
              <a:gd name="adj2" fmla="val 51302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92" name="Line 22"/>
          <p:cNvSpPr>
            <a:spLocks noChangeShapeType="1"/>
          </p:cNvSpPr>
          <p:nvPr/>
        </p:nvSpPr>
        <p:spPr bwMode="auto">
          <a:xfrm>
            <a:off x="3657600" y="4481513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Line 23"/>
          <p:cNvSpPr>
            <a:spLocks noChangeShapeType="1"/>
          </p:cNvSpPr>
          <p:nvPr/>
        </p:nvSpPr>
        <p:spPr bwMode="auto">
          <a:xfrm>
            <a:off x="7772400" y="3276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94" name="Object 24"/>
          <p:cNvGraphicFramePr>
            <a:graphicFrameLocks noChangeAspect="1"/>
          </p:cNvGraphicFramePr>
          <p:nvPr/>
        </p:nvGraphicFramePr>
        <p:xfrm>
          <a:off x="0" y="2438400"/>
          <a:ext cx="443865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Document" r:id="rId1" imgW="8203565" imgH="3634740" progId="Word.Document.8">
                  <p:embed/>
                </p:oleObj>
              </mc:Choice>
              <mc:Fallback>
                <p:oleObj name="Document" r:id="rId1" imgW="8203565" imgH="3634740" progId="Word.Documen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438400"/>
                        <a:ext cx="4438650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5" name="Object 25"/>
          <p:cNvGraphicFramePr>
            <a:graphicFrameLocks noChangeAspect="1"/>
          </p:cNvGraphicFramePr>
          <p:nvPr/>
        </p:nvGraphicFramePr>
        <p:xfrm>
          <a:off x="4699000" y="1600200"/>
          <a:ext cx="43688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Document" r:id="rId3" imgW="8208010" imgH="3631565" progId="Word.Document.8">
                  <p:embed/>
                </p:oleObj>
              </mc:Choice>
              <mc:Fallback>
                <p:oleObj name="Document" r:id="rId3" imgW="8208010" imgH="3631565" progId="Word.Documen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1600200"/>
                        <a:ext cx="43688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6" name="Slide Number Placeholder 2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4EE9CA0-0B02-4D3A-9593-724752027235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066800"/>
            <a:ext cx="6477000" cy="5410200"/>
          </a:xfrm>
        </p:spPr>
        <p:txBody>
          <a:bodyPr/>
          <a:lstStyle/>
          <a:p>
            <a:pPr marL="1828800" lvl="4" indent="0">
              <a:lnSpc>
                <a:spcPct val="80000"/>
              </a:lnSpc>
              <a:buFontTx/>
              <a:buNone/>
              <a:defRPr/>
            </a:pPr>
            <a:endParaRPr lang="en-US" altLang="en-US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Classifying credit card transactions </a:t>
            </a:r>
            <a:br>
              <a:rPr lang="en-US" altLang="en-US" sz="2000" dirty="0"/>
            </a:br>
            <a:r>
              <a:rPr lang="en-US" altLang="en-US" sz="2000" dirty="0"/>
              <a:t>as legitimate or fraudulent</a:t>
            </a:r>
            <a:endParaRPr lang="en-US" altLang="en-US" sz="2000" dirty="0"/>
          </a:p>
          <a:p>
            <a:pPr lvl="4">
              <a:lnSpc>
                <a:spcPct val="80000"/>
              </a:lnSpc>
              <a:defRPr/>
            </a:pPr>
            <a:endParaRPr lang="en-US" altLang="en-US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Classifying land covers (water bodies, urban areas, forests, etc.) using satellite data</a:t>
            </a:r>
            <a:endParaRPr lang="en-US" altLang="en-US" sz="2000" dirty="0"/>
          </a:p>
          <a:p>
            <a:pPr lvl="4">
              <a:lnSpc>
                <a:spcPct val="80000"/>
              </a:lnSpc>
              <a:defRPr/>
            </a:pPr>
            <a:endParaRPr lang="en-US" altLang="en-US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Categorizing news stories as finance, </a:t>
            </a:r>
            <a:br>
              <a:rPr lang="en-US" altLang="en-US" sz="2000" dirty="0"/>
            </a:br>
            <a:r>
              <a:rPr lang="en-US" altLang="en-US" sz="2000" dirty="0"/>
              <a:t>weather, entertainment, sports, etc</a:t>
            </a: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None/>
              <a:defRPr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Identifying intruders in the cyberspace</a:t>
            </a: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Predicting tumor cells as benign or malignant</a:t>
            </a: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Classifying secondary structures of protein </a:t>
            </a:r>
            <a:br>
              <a:rPr lang="en-US" altLang="en-US" sz="2000" dirty="0"/>
            </a:br>
            <a:r>
              <a:rPr lang="en-US" altLang="en-US" sz="2000" dirty="0"/>
              <a:t>as alpha-helix, beta-sheet, or random  coil</a:t>
            </a: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18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1800" dirty="0"/>
          </a:p>
        </p:txBody>
      </p:sp>
      <p:grpSp>
        <p:nvGrpSpPr>
          <p:cNvPr id="25603" name="Group 4"/>
          <p:cNvGrpSpPr/>
          <p:nvPr/>
        </p:nvGrpSpPr>
        <p:grpSpPr bwMode="auto">
          <a:xfrm>
            <a:off x="6858000" y="1143000"/>
            <a:ext cx="2057400" cy="1417638"/>
            <a:chOff x="3360" y="768"/>
            <a:chExt cx="1296" cy="893"/>
          </a:xfrm>
        </p:grpSpPr>
        <p:pic>
          <p:nvPicPr>
            <p:cNvPr id="25610" name="Picture 5" descr="story-3dimensional-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8" y="768"/>
              <a:ext cx="1238" cy="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5611" name="Object 6"/>
            <p:cNvGraphicFramePr>
              <a:graphicFrameLocks noChangeAspect="1"/>
            </p:cNvGraphicFramePr>
            <p:nvPr/>
          </p:nvGraphicFramePr>
          <p:xfrm>
            <a:off x="3370" y="1155"/>
            <a:ext cx="432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5" name="VISIO" r:id="rId2" imgW="617220" imgH="615950" progId="Visio.Drawing.6">
                    <p:embed/>
                  </p:oleObj>
                </mc:Choice>
                <mc:Fallback>
                  <p:oleObj name="VISIO" r:id="rId2" imgW="617220" imgH="615950" progId="Visio.Drawing.6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0" y="1155"/>
                          <a:ext cx="432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2" name="Object 7"/>
            <p:cNvGraphicFramePr>
              <a:graphicFrameLocks noChangeAspect="1"/>
            </p:cNvGraphicFramePr>
            <p:nvPr/>
          </p:nvGraphicFramePr>
          <p:xfrm>
            <a:off x="3360" y="912"/>
            <a:ext cx="432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6" name="VISIO" r:id="rId4" imgW="806450" imgH="662940" progId="Visio.Drawing.6">
                    <p:embed/>
                  </p:oleObj>
                </mc:Choice>
                <mc:Fallback>
                  <p:oleObj name="VISIO" r:id="rId4" imgW="806450" imgH="662940" progId="Visio.Drawing.6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912"/>
                          <a:ext cx="432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4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Classification Task</a:t>
            </a:r>
            <a:endParaRPr lang="en-US" altLang="en-US"/>
          </a:p>
        </p:txBody>
      </p:sp>
      <p:sp>
        <p:nvSpPr>
          <p:cNvPr id="25605" name="Slide Number Placeholder 1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F372CC1-7CD7-49CD-9A09-57EDC69B49E7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5607" name="Picture 8" descr="http://biomasshub.com/wp-content/uploads/2010/03/ILUC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2963863"/>
            <a:ext cx="21748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8" name="Picture 8" descr="pro"/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78638" y="4648200"/>
            <a:ext cx="1490662" cy="1914525"/>
          </a:xfr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Classification: Application 1</a:t>
            </a:r>
            <a:endParaRPr lang="en-US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78800" cy="417195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altLang="en-US"/>
              <a:t>Fraud Detection</a:t>
            </a:r>
            <a:endParaRPr lang="en-US" altLang="en-US"/>
          </a:p>
          <a:p>
            <a:pPr marL="742950" lvl="1" indent="-285750">
              <a:lnSpc>
                <a:spcPct val="90000"/>
              </a:lnSpc>
            </a:pPr>
            <a:r>
              <a:rPr lang="en-US" altLang="en-US" sz="2400" b="1"/>
              <a:t>Goal:</a:t>
            </a:r>
            <a:r>
              <a:rPr lang="en-US" altLang="en-US" sz="2400"/>
              <a:t> Predict fraudulent cases in credit card transactions.</a:t>
            </a:r>
            <a:endParaRPr lang="en-US" altLang="en-US" sz="2400"/>
          </a:p>
          <a:p>
            <a:pPr marL="742950" lvl="1" indent="-285750">
              <a:lnSpc>
                <a:spcPct val="90000"/>
              </a:lnSpc>
            </a:pPr>
            <a:r>
              <a:rPr lang="en-US" altLang="en-US" sz="2400" b="1"/>
              <a:t>Approach:</a:t>
            </a:r>
            <a:endParaRPr lang="en-US" altLang="en-US" sz="2400" b="1"/>
          </a:p>
          <a:p>
            <a:pPr marL="1206500" lvl="2" indent="-292100">
              <a:lnSpc>
                <a:spcPct val="90000"/>
              </a:lnSpc>
            </a:pPr>
            <a:r>
              <a:rPr lang="en-US" altLang="en-US"/>
              <a:t>Use credit card transactions and the information on its account-holder as attributes.</a:t>
            </a:r>
            <a:endParaRPr lang="en-US" altLang="en-US"/>
          </a:p>
          <a:p>
            <a:pPr lvl="3">
              <a:lnSpc>
                <a:spcPct val="90000"/>
              </a:lnSpc>
            </a:pPr>
            <a:r>
              <a:rPr lang="en-US" altLang="en-US" sz="2400"/>
              <a:t>When does a customer buy, what does he buy, how often he pays on time, etc</a:t>
            </a:r>
            <a:endParaRPr lang="en-US" altLang="en-US" sz="2400"/>
          </a:p>
          <a:p>
            <a:pPr marL="1206500" lvl="2" indent="-292100">
              <a:lnSpc>
                <a:spcPct val="90000"/>
              </a:lnSpc>
            </a:pPr>
            <a:r>
              <a:rPr lang="en-US" altLang="en-US"/>
              <a:t>Label past transactions as fraud or fair transactions. This forms the class attribute.</a:t>
            </a:r>
            <a:endParaRPr lang="en-US" altLang="en-US"/>
          </a:p>
          <a:p>
            <a:pPr marL="1206500" lvl="2" indent="-292100">
              <a:lnSpc>
                <a:spcPct val="90000"/>
              </a:lnSpc>
            </a:pPr>
            <a:r>
              <a:rPr lang="en-US" altLang="en-US"/>
              <a:t>Learn a model for the class of the transactions.</a:t>
            </a:r>
            <a:endParaRPr lang="en-US" altLang="en-US"/>
          </a:p>
          <a:p>
            <a:pPr marL="1206500" lvl="2" indent="-292100">
              <a:lnSpc>
                <a:spcPct val="90000"/>
              </a:lnSpc>
            </a:pPr>
            <a:r>
              <a:rPr lang="en-US" altLang="en-US"/>
              <a:t>Use this model to detect fraud by observing credit card transactions on an account.</a:t>
            </a:r>
            <a:endParaRPr lang="en-US" altLang="en-US"/>
          </a:p>
        </p:txBody>
      </p:sp>
      <p:sp>
        <p:nvSpPr>
          <p:cNvPr id="26628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F4CA77F-E6E5-4241-918E-E739DFB6255E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Classification: Application 2</a:t>
            </a:r>
            <a:endParaRPr lang="en-US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/>
              <a:t>Churn prediction for telephone customers</a:t>
            </a:r>
            <a:endParaRPr lang="en-US" altLang="en-US"/>
          </a:p>
          <a:p>
            <a:pPr marL="742950" lvl="1" indent="-285750"/>
            <a:r>
              <a:rPr lang="en-US" altLang="en-US" b="1"/>
              <a:t>Goal:</a:t>
            </a:r>
            <a:r>
              <a:rPr lang="en-US" altLang="en-US"/>
              <a:t> To predict whether a customer is likely to be lost to a competitor.</a:t>
            </a:r>
            <a:endParaRPr lang="en-US" altLang="en-US"/>
          </a:p>
          <a:p>
            <a:pPr marL="742950" lvl="1" indent="-285750"/>
            <a:r>
              <a:rPr lang="en-US" altLang="en-US" b="1"/>
              <a:t>Approach:</a:t>
            </a:r>
            <a:endParaRPr lang="en-US" altLang="en-US" b="1"/>
          </a:p>
          <a:p>
            <a:pPr marL="1143000" lvl="2" indent="-285750"/>
            <a:r>
              <a:rPr lang="en-US" altLang="en-US"/>
              <a:t>Use detailed record of transactions with each of the past and present customers, to find attributes.</a:t>
            </a:r>
            <a:endParaRPr lang="en-US" altLang="en-US"/>
          </a:p>
          <a:p>
            <a:pPr lvl="3" indent="-342900"/>
            <a:r>
              <a:rPr lang="en-US" altLang="en-US" sz="2200"/>
              <a:t>How often the customer calls, where he calls, what time-of-the day he calls most, his financial status, marital status, etc.</a:t>
            </a:r>
            <a:r>
              <a:rPr lang="en-US" altLang="en-US"/>
              <a:t> </a:t>
            </a:r>
            <a:endParaRPr lang="en-US" altLang="en-US"/>
          </a:p>
          <a:p>
            <a:pPr marL="1143000" lvl="2" indent="-285750"/>
            <a:r>
              <a:rPr lang="en-US" altLang="en-US"/>
              <a:t>Label the customers as loyal or disloyal.</a:t>
            </a:r>
            <a:endParaRPr lang="en-US" altLang="en-US"/>
          </a:p>
          <a:p>
            <a:pPr marL="1143000" lvl="2" indent="-285750"/>
            <a:r>
              <a:rPr lang="en-US" altLang="en-US"/>
              <a:t>Find a model for loyalty.</a:t>
            </a:r>
            <a:endParaRPr lang="en-US" altLang="en-US"/>
          </a:p>
        </p:txBody>
      </p:sp>
      <p:sp>
        <p:nvSpPr>
          <p:cNvPr id="28677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E2BE0BB-BACC-473A-BAEB-08E7200A4EFC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Classification: Application 3</a:t>
            </a:r>
            <a:endParaRPr lang="en-US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04237" cy="5181600"/>
          </a:xfrm>
        </p:spPr>
        <p:txBody>
          <a:bodyPr>
            <a:normAutofit lnSpcReduction="10000"/>
          </a:bodyPr>
          <a:lstStyle/>
          <a:p>
            <a:pPr marL="342900" indent="-342900">
              <a:defRPr/>
            </a:pPr>
            <a:r>
              <a:rPr lang="en-US" dirty="0"/>
              <a:t>Sky Survey Cataloging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–"/>
              <a:defRPr/>
            </a:pPr>
            <a:r>
              <a:rPr lang="en-US" sz="2400" b="1" dirty="0"/>
              <a:t>Goal:</a:t>
            </a:r>
            <a:r>
              <a:rPr lang="en-US" sz="2400" dirty="0"/>
              <a:t> To predict class (star or galaxy) of sky objects, especially visually faint ones, based on the telescopic survey images (from Palomar Observatory).</a:t>
            </a:r>
            <a:endParaRPr lang="en-US" sz="2400" dirty="0"/>
          </a:p>
          <a:p>
            <a:pPr lvl="3">
              <a:defRPr/>
            </a:pPr>
            <a:r>
              <a:rPr lang="en-US" sz="2200" dirty="0"/>
              <a:t>3000 images with 23,040 x 23,040 pixels per image.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–"/>
              <a:defRPr/>
            </a:pPr>
            <a:r>
              <a:rPr lang="en-US" sz="2400" b="1" dirty="0"/>
              <a:t>Approach:</a:t>
            </a:r>
            <a:endParaRPr lang="en-US" sz="2400" b="1" dirty="0"/>
          </a:p>
          <a:p>
            <a:pPr marL="1143000" lvl="2" indent="-28575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dirty="0"/>
              <a:t>Segment the image. </a:t>
            </a:r>
            <a:endParaRPr lang="en-US" dirty="0"/>
          </a:p>
          <a:p>
            <a:pPr marL="1143000" lvl="2" indent="-28575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dirty="0"/>
              <a:t>Measure image attributes (features) - 40 of them per object.</a:t>
            </a:r>
            <a:endParaRPr lang="en-US" dirty="0"/>
          </a:p>
          <a:p>
            <a:pPr marL="1143000" lvl="2" indent="-28575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dirty="0"/>
              <a:t>Model the class based on these features.</a:t>
            </a:r>
            <a:endParaRPr lang="en-US" dirty="0"/>
          </a:p>
          <a:p>
            <a:pPr marL="1143000" lvl="2" indent="-28575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dirty="0"/>
              <a:t>Success Story: Could find 16 new high red-shift quasars, some of the farthest objects that are difficult to find!</a:t>
            </a:r>
            <a:endParaRPr lang="en-US" dirty="0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3048000" y="5715000"/>
            <a:ext cx="5135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>
                <a:latin typeface="Times New Roman" panose="02020603050405020304" pitchFamily="18" charset="0"/>
              </a:rPr>
              <a:t>From [Fayyad, et.al.] Advances in Knowledge Discovery and Data Mining, 1996</a:t>
            </a:r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9701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E69D435-3110-48FA-8C31-BEF4133F8B54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Classifying Galaxies</a:t>
            </a:r>
            <a:endParaRPr lang="en-US" altLang="en-US"/>
          </a:p>
        </p:txBody>
      </p:sp>
      <p:pic>
        <p:nvPicPr>
          <p:cNvPr id="30723" name="Picture 3" descr="earl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25908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4" descr="intermedi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124200"/>
            <a:ext cx="25908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5" descr="la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098925"/>
            <a:ext cx="2643188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1447800" y="1676400"/>
            <a:ext cx="74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1"/>
              <a:t>Early</a:t>
            </a:r>
            <a:endParaRPr lang="en-US" altLang="en-US"/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3886200" y="2743200"/>
            <a:ext cx="1543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1"/>
              <a:t>Intermediate</a:t>
            </a:r>
            <a:endParaRPr lang="en-US" altLang="en-US" sz="2400" i="1"/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7162800" y="3733800"/>
            <a:ext cx="65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1"/>
              <a:t>Late</a:t>
            </a:r>
            <a:endParaRPr lang="en-US" altLang="en-US"/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381000" y="5029200"/>
            <a:ext cx="39862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173355" indent="-173355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Data Size: </a:t>
            </a: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72 million stars, 20 million galaxies</a:t>
            </a:r>
            <a:endParaRPr lang="en-US" altLang="en-US" sz="16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Object Catalog: 9 GB</a:t>
            </a:r>
            <a:endParaRPr lang="en-US" altLang="en-US" sz="16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Image Database: 150 GB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3581400" y="1676400"/>
            <a:ext cx="2516188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3355" indent="-173355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Class: </a:t>
            </a: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Stages of Formation</a:t>
            </a: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6253163" y="1671638"/>
            <a:ext cx="2890837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3355" indent="-173355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Attributes:</a:t>
            </a: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Image features, </a:t>
            </a:r>
            <a:endParaRPr lang="en-US" altLang="en-US" sz="16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Characteristics of light waves received, etc.</a:t>
            </a:r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6248400" y="914400"/>
            <a:ext cx="27447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Courtesy: http://aps.umn.edu</a:t>
            </a:r>
            <a:endParaRPr lang="en-US" altLang="en-US" sz="1600">
              <a:latin typeface="Times New Roman" panose="02020603050405020304" pitchFamily="18" charset="0"/>
            </a:endParaRPr>
          </a:p>
        </p:txBody>
      </p:sp>
      <p:sp>
        <p:nvSpPr>
          <p:cNvPr id="30733" name="Slide Number Placeholder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B2533AF-B055-4DF0-A680-1B429A057E3A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Regression</a:t>
            </a:r>
            <a:endParaRPr lang="en-US" alt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229600" cy="4286250"/>
          </a:xfrm>
        </p:spPr>
        <p:txBody>
          <a:bodyPr/>
          <a:lstStyle/>
          <a:p>
            <a:pPr marL="342900" indent="-342900"/>
            <a:r>
              <a:rPr lang="en-US" altLang="en-US" sz="2400"/>
              <a:t>Predict a value of a given continuous valued variable based on the values of other variables, assuming a linear or nonlinear model of dependency.</a:t>
            </a:r>
            <a:endParaRPr lang="en-US" altLang="en-US" sz="2400"/>
          </a:p>
          <a:p>
            <a:pPr marL="342900" indent="-342900"/>
            <a:r>
              <a:rPr lang="en-US" altLang="en-US" sz="2400"/>
              <a:t>Extensively studied in statistics, neural network fields.</a:t>
            </a:r>
            <a:endParaRPr lang="en-US" altLang="en-US" sz="2400"/>
          </a:p>
          <a:p>
            <a:pPr marL="342900" indent="-342900"/>
            <a:r>
              <a:rPr lang="en-US" altLang="en-US" sz="2400"/>
              <a:t>Examples:</a:t>
            </a:r>
            <a:endParaRPr lang="en-US" altLang="en-US" sz="2400"/>
          </a:p>
          <a:p>
            <a:pPr marL="742950" lvl="1" indent="-285750"/>
            <a:r>
              <a:rPr lang="en-US" altLang="en-US" sz="2400"/>
              <a:t>Predicting sales amounts of new product based on advetising expenditure.</a:t>
            </a:r>
            <a:endParaRPr lang="en-US" altLang="en-US" sz="2400"/>
          </a:p>
          <a:p>
            <a:pPr marL="742950" lvl="1" indent="-285750"/>
            <a:r>
              <a:rPr lang="en-US" altLang="en-US" sz="2400"/>
              <a:t>Predicting wind velocities as a function of temperature, humidity, air pressure, etc.</a:t>
            </a:r>
            <a:endParaRPr lang="en-US" altLang="en-US" sz="2400"/>
          </a:p>
          <a:p>
            <a:pPr marL="742950" lvl="1" indent="-285750"/>
            <a:r>
              <a:rPr lang="en-US" altLang="en-US" sz="2400"/>
              <a:t>Time series prediction of stock market indices.</a:t>
            </a:r>
            <a:endParaRPr lang="en-US" altLang="en-US" sz="3200"/>
          </a:p>
        </p:txBody>
      </p:sp>
      <p:sp>
        <p:nvSpPr>
          <p:cNvPr id="31748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E2197DB-211E-4863-B7C7-DC7133680381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2209800"/>
          </a:xfrm>
        </p:spPr>
        <p:txBody>
          <a:bodyPr/>
          <a:lstStyle/>
          <a:p>
            <a:pPr marL="342900" indent="-342900"/>
            <a:r>
              <a:rPr lang="en-US" altLang="en-US" sz="2400"/>
              <a:t>Finding groups of objects such that the objects in a group will be similar (or related) to one another and different from (or unrelated to) the objects in other groups</a:t>
            </a:r>
            <a:endParaRPr lang="en-US" altLang="en-US" sz="2400"/>
          </a:p>
          <a:p>
            <a:pPr marL="342900" indent="-342900"/>
            <a:endParaRPr lang="en-US" altLang="en-US" sz="2400"/>
          </a:p>
        </p:txBody>
      </p:sp>
      <p:grpSp>
        <p:nvGrpSpPr>
          <p:cNvPr id="33795" name="Group 4"/>
          <p:cNvGrpSpPr/>
          <p:nvPr/>
        </p:nvGrpSpPr>
        <p:grpSpPr bwMode="auto">
          <a:xfrm>
            <a:off x="3276600" y="3570288"/>
            <a:ext cx="3048000" cy="2678112"/>
            <a:chOff x="2160" y="2544"/>
            <a:chExt cx="1920" cy="1687"/>
          </a:xfrm>
        </p:grpSpPr>
        <p:sp>
          <p:nvSpPr>
            <p:cNvPr id="33810" name="Line 5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1" name="Line 6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2" name="Freeform 7"/>
            <p:cNvSpPr/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3" name="AutoShape 8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4" name="AutoShape 9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5" name="AutoShape 10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6" name="AutoShape 11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7" name="AutoShape 12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8" name="AutoShape 13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9" name="AutoShape 14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0" name="AutoShape 15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1" name="AutoShape 16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2" name="AutoShape 17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3" name="AutoShape 18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4" name="AutoShape 19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5" name="AutoShape 20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6" name="AutoShape 21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7" name="AutoShape 22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8" name="AutoShape 23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9" name="AutoShape 24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0" name="AutoShape 25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1" name="AutoShape 26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2" name="AutoShape 27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3" name="AutoShape 28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4" name="AutoShape 29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5" name="AutoShape 30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grpSp>
        <p:nvGrpSpPr>
          <p:cNvPr id="3" name="Group 31"/>
          <p:cNvGrpSpPr/>
          <p:nvPr/>
        </p:nvGrpSpPr>
        <p:grpSpPr bwMode="auto">
          <a:xfrm>
            <a:off x="5257800" y="2667000"/>
            <a:ext cx="3048000" cy="2514600"/>
            <a:chOff x="3312" y="1584"/>
            <a:chExt cx="1920" cy="1584"/>
          </a:xfrm>
        </p:grpSpPr>
        <p:sp>
          <p:nvSpPr>
            <p:cNvPr id="33808" name="Line 32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9" name="AutoShape 33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ahoma" panose="020B0604030504040204" pitchFamily="34" charset="0"/>
                </a:rPr>
                <a:t>Inter-cluster distances are maximized</a:t>
              </a:r>
              <a:endParaRPr lang="en-US" altLang="en-US" sz="2000" b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34"/>
          <p:cNvGrpSpPr/>
          <p:nvPr/>
        </p:nvGrpSpPr>
        <p:grpSpPr bwMode="auto">
          <a:xfrm>
            <a:off x="2895600" y="3657600"/>
            <a:ext cx="3276600" cy="2286000"/>
            <a:chOff x="1824" y="2208"/>
            <a:chExt cx="2064" cy="1440"/>
          </a:xfrm>
        </p:grpSpPr>
        <p:sp>
          <p:nvSpPr>
            <p:cNvPr id="33805" name="Oval 35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06" name="Oval 36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07" name="Oval 37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grpSp>
        <p:nvGrpSpPr>
          <p:cNvPr id="5" name="Group 38"/>
          <p:cNvGrpSpPr/>
          <p:nvPr/>
        </p:nvGrpSpPr>
        <p:grpSpPr bwMode="auto">
          <a:xfrm>
            <a:off x="1295400" y="2971800"/>
            <a:ext cx="2286000" cy="1676400"/>
            <a:chOff x="816" y="1776"/>
            <a:chExt cx="1440" cy="1056"/>
          </a:xfrm>
        </p:grpSpPr>
        <p:sp>
          <p:nvSpPr>
            <p:cNvPr id="33803" name="Line 39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4" name="AutoShape 40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ahoma" panose="020B0604030504040204" pitchFamily="34" charset="0"/>
                </a:rPr>
                <a:t>Intra-cluster distances are minimized</a:t>
              </a:r>
              <a:endParaRPr lang="en-US" altLang="en-US" sz="2000" b="0">
                <a:latin typeface="Tahoma" panose="020B0604030504040204" pitchFamily="34" charset="0"/>
              </a:endParaRPr>
            </a:p>
          </p:txBody>
        </p:sp>
      </p:grpSp>
      <p:sp>
        <p:nvSpPr>
          <p:cNvPr id="33799" name="Rectangle 41"/>
          <p:cNvSpPr>
            <a:spLocks noChangeArrowheads="1"/>
          </p:cNvSpPr>
          <p:nvPr/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3200">
                <a:latin typeface="Tahoma" panose="020B0604030504040204" pitchFamily="34" charset="0"/>
              </a:rPr>
              <a:t>Clustering</a:t>
            </a:r>
            <a:endParaRPr lang="en-US" altLang="en-US" sz="3200">
              <a:latin typeface="Tahoma" panose="020B0604030504040204" pitchFamily="34" charset="0"/>
            </a:endParaRPr>
          </a:p>
        </p:txBody>
      </p:sp>
      <p:sp>
        <p:nvSpPr>
          <p:cNvPr id="33800" name="Slide Number Placeholder 4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2233CB6-32BB-4824-B74F-694721C26E96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14400"/>
            <a:ext cx="3810000" cy="4191000"/>
          </a:xfrm>
          <a:noFill/>
        </p:spPr>
        <p:txBody>
          <a:bodyPr lIns="91440" tIns="45720" rIns="91440" bIns="45720"/>
          <a:lstStyle/>
          <a:p>
            <a:pPr marL="342900" indent="-342900"/>
            <a:r>
              <a:rPr lang="en-US" altLang="en-US" sz="2000" b="1"/>
              <a:t>Understanding</a:t>
            </a:r>
            <a:endParaRPr lang="en-US" altLang="en-US" sz="2000" b="1"/>
          </a:p>
          <a:p>
            <a:pPr marL="742950" lvl="1" indent="-285750"/>
            <a:r>
              <a:rPr lang="en-US" altLang="en-US" sz="1600"/>
              <a:t>Custom profiling for targeted marketing </a:t>
            </a:r>
            <a:endParaRPr lang="en-US" altLang="en-US" sz="1600"/>
          </a:p>
          <a:p>
            <a:pPr marL="742950" lvl="1" indent="-285750"/>
            <a:r>
              <a:rPr lang="en-US" altLang="en-US" sz="1600"/>
              <a:t>Group related documents for browsing </a:t>
            </a:r>
            <a:endParaRPr lang="en-US" altLang="en-US" sz="1600"/>
          </a:p>
          <a:p>
            <a:pPr marL="742950" lvl="1" indent="-285750"/>
            <a:r>
              <a:rPr lang="en-US" altLang="en-US" sz="1600"/>
              <a:t>Group genes and proteins that have similar functionality</a:t>
            </a:r>
            <a:endParaRPr lang="en-US" altLang="en-US" sz="1600"/>
          </a:p>
          <a:p>
            <a:pPr marL="742950" lvl="1" indent="-285750"/>
            <a:r>
              <a:rPr lang="en-US" altLang="en-US" sz="1600"/>
              <a:t>Group stocks with similar price fluctuations</a:t>
            </a:r>
            <a:endParaRPr lang="en-US" altLang="en-US" sz="1800" b="1"/>
          </a:p>
          <a:p>
            <a:pPr marL="342900" indent="-342900"/>
            <a:r>
              <a:rPr lang="en-US" altLang="en-US" sz="2000" b="1"/>
              <a:t>Summarization</a:t>
            </a:r>
            <a:endParaRPr lang="en-US" altLang="en-US" sz="2000" b="1"/>
          </a:p>
          <a:p>
            <a:pPr marL="742950" lvl="1" indent="-285750"/>
            <a:r>
              <a:rPr lang="en-US" altLang="en-US" sz="1600"/>
              <a:t>Reduce the size of large data sets</a:t>
            </a:r>
            <a:endParaRPr lang="en-US" altLang="en-US" sz="1600"/>
          </a:p>
          <a:p>
            <a:pPr marL="342900" indent="-342900"/>
            <a:endParaRPr lang="en-US" altLang="en-US" sz="1800"/>
          </a:p>
          <a:p>
            <a:pPr marL="342900" indent="-342900">
              <a:spcBef>
                <a:spcPct val="50000"/>
              </a:spcBef>
              <a:buClr>
                <a:schemeClr val="bg1"/>
              </a:buClr>
              <a:buFontTx/>
              <a:buNone/>
            </a:pPr>
            <a:endParaRPr lang="en-US" altLang="en-US" sz="1800" b="1"/>
          </a:p>
        </p:txBody>
      </p:sp>
      <p:sp>
        <p:nvSpPr>
          <p:cNvPr id="34819" name="Rectangle 7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80400" cy="533400"/>
          </a:xfrm>
        </p:spPr>
        <p:txBody>
          <a:bodyPr/>
          <a:lstStyle/>
          <a:p>
            <a:r>
              <a:rPr lang="en-US" altLang="en-US"/>
              <a:t>Applications of Cluster Analysis</a:t>
            </a:r>
            <a:endParaRPr lang="en-US" altLang="en-US"/>
          </a:p>
        </p:txBody>
      </p:sp>
      <p:grpSp>
        <p:nvGrpSpPr>
          <p:cNvPr id="34820" name="Group 12"/>
          <p:cNvGrpSpPr/>
          <p:nvPr/>
        </p:nvGrpSpPr>
        <p:grpSpPr bwMode="auto">
          <a:xfrm>
            <a:off x="304800" y="630238"/>
            <a:ext cx="8534400" cy="152400"/>
            <a:chOff x="264" y="788"/>
            <a:chExt cx="5232" cy="124"/>
          </a:xfrm>
        </p:grpSpPr>
        <p:sp>
          <p:nvSpPr>
            <p:cNvPr id="34833" name="Rectangle 13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4834" name="Rectangle 14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grpSp>
        <p:nvGrpSpPr>
          <p:cNvPr id="34821" name="Group 16"/>
          <p:cNvGrpSpPr>
            <a:grpSpLocks noChangeAspect="1"/>
          </p:cNvGrpSpPr>
          <p:nvPr/>
        </p:nvGrpSpPr>
        <p:grpSpPr bwMode="auto">
          <a:xfrm>
            <a:off x="-76200" y="4724400"/>
            <a:ext cx="3549650" cy="2011363"/>
            <a:chOff x="2009" y="2256"/>
            <a:chExt cx="3559" cy="2017"/>
          </a:xfrm>
        </p:grpSpPr>
        <p:grpSp>
          <p:nvGrpSpPr>
            <p:cNvPr id="34829" name="Group 9"/>
            <p:cNvGrpSpPr>
              <a:grpSpLocks noChangeAspect="1"/>
            </p:cNvGrpSpPr>
            <p:nvPr/>
          </p:nvGrpSpPr>
          <p:grpSpPr bwMode="auto">
            <a:xfrm>
              <a:off x="2009" y="2256"/>
              <a:ext cx="3222" cy="2017"/>
              <a:chOff x="-459" y="768"/>
              <a:chExt cx="5067" cy="3171"/>
            </a:xfrm>
          </p:grpSpPr>
          <p:pic>
            <p:nvPicPr>
              <p:cNvPr id="34831" name="Picture 10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59" y="768"/>
                <a:ext cx="4510" cy="31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832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4176" y="912"/>
                <a:ext cx="432" cy="5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</p:grpSp>
        <p:sp>
          <p:nvSpPr>
            <p:cNvPr id="34830" name="Rectangle 15"/>
            <p:cNvSpPr>
              <a:spLocks noChangeArrowheads="1"/>
            </p:cNvSpPr>
            <p:nvPr/>
          </p:nvSpPr>
          <p:spPr bwMode="auto">
            <a:xfrm>
              <a:off x="4944" y="2592"/>
              <a:ext cx="624" cy="1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34822" name="Text Box 17"/>
          <p:cNvSpPr txBox="1">
            <a:spLocks noChangeArrowheads="1"/>
          </p:cNvSpPr>
          <p:nvPr/>
        </p:nvSpPr>
        <p:spPr bwMode="auto">
          <a:xfrm>
            <a:off x="2971800" y="4876800"/>
            <a:ext cx="1905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/>
              <a:t>Use of K-means to partition Sea Surface Temperature (SST) and Net Primary Production (NPP) into clusters that reflect the Northern and Southern Hemispheres. </a:t>
            </a:r>
            <a:endParaRPr lang="en-US" altLang="en-US" sz="1200"/>
          </a:p>
        </p:txBody>
      </p:sp>
      <p:pic>
        <p:nvPicPr>
          <p:cNvPr id="34823" name="Picture 7" descr="D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9" r="13461" b="18495"/>
          <a:stretch>
            <a:fillRect/>
          </a:stretch>
        </p:blipFill>
        <p:spPr bwMode="auto">
          <a:xfrm>
            <a:off x="5029200" y="914400"/>
            <a:ext cx="3810000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Text Box 10"/>
          <p:cNvSpPr txBox="1">
            <a:spLocks noChangeArrowheads="1"/>
          </p:cNvSpPr>
          <p:nvPr/>
        </p:nvSpPr>
        <p:spPr bwMode="auto">
          <a:xfrm>
            <a:off x="5486400" y="4327525"/>
            <a:ext cx="2438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000"/>
              <a:t>Courtesy: Michael Eisen</a:t>
            </a:r>
            <a:endParaRPr lang="en-US" altLang="en-US" sz="1000"/>
          </a:p>
        </p:txBody>
      </p:sp>
      <p:graphicFrame>
        <p:nvGraphicFramePr>
          <p:cNvPr id="34825" name="Object 18"/>
          <p:cNvGraphicFramePr>
            <a:graphicFrameLocks noChangeAspect="1"/>
          </p:cNvGraphicFramePr>
          <p:nvPr/>
        </p:nvGraphicFramePr>
        <p:xfrm>
          <a:off x="5334000" y="4721225"/>
          <a:ext cx="3429000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6" name="Bitmap Image" r:id="rId3" imgW="8582025" imgH="4962525" progId="Paint.Picture">
                  <p:embed/>
                </p:oleObj>
              </mc:Choice>
              <mc:Fallback>
                <p:oleObj name="Bitmap Image" r:id="rId3" imgW="8582025" imgH="4962525" progId="Paint.Picture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721225"/>
                        <a:ext cx="3429000" cy="198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/>
          </a:p>
        </p:txBody>
      </p:sp>
      <p:sp>
        <p:nvSpPr>
          <p:cNvPr id="3482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B7C35C9-7CCD-4DA2-9452-AEE71F0CFE22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Clustering: Application 1</a:t>
            </a:r>
            <a:endParaRPr lang="en-US" alt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178800" cy="417195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altLang="en-US"/>
              <a:t>Market Segmentation:</a:t>
            </a:r>
            <a:endParaRPr lang="en-US" altLang="en-US"/>
          </a:p>
          <a:p>
            <a:pPr marL="342900" indent="-342900">
              <a:lnSpc>
                <a:spcPct val="90000"/>
              </a:lnSpc>
            </a:pPr>
            <a:endParaRPr lang="en-US" altLang="en-US" sz="800"/>
          </a:p>
          <a:p>
            <a:pPr marL="742950" lvl="1" indent="-285750">
              <a:lnSpc>
                <a:spcPct val="90000"/>
              </a:lnSpc>
            </a:pPr>
            <a:r>
              <a:rPr lang="en-US" altLang="en-US" sz="2400" b="1"/>
              <a:t>Goal:</a:t>
            </a:r>
            <a:r>
              <a:rPr lang="en-US" altLang="en-US" sz="2400"/>
              <a:t> subdivide a market into distinct subsets of customers where any subset may conceivably be selected as a market target to be reached with a distinct marketing mix.</a:t>
            </a:r>
            <a:endParaRPr lang="en-US" altLang="en-US" sz="2400"/>
          </a:p>
          <a:p>
            <a:pPr marL="742950" lvl="1" indent="-285750">
              <a:lnSpc>
                <a:spcPct val="90000"/>
              </a:lnSpc>
            </a:pPr>
            <a:r>
              <a:rPr lang="en-US" altLang="en-US" sz="2400" b="1"/>
              <a:t>Approach:</a:t>
            </a:r>
            <a:r>
              <a:rPr lang="en-US" altLang="en-US" sz="2400"/>
              <a:t> </a:t>
            </a:r>
            <a:endParaRPr lang="en-US" altLang="en-US" sz="2400"/>
          </a:p>
          <a:p>
            <a:pPr marL="1143000" lvl="2" indent="-279400">
              <a:lnSpc>
                <a:spcPct val="90000"/>
              </a:lnSpc>
            </a:pPr>
            <a:r>
              <a:rPr lang="en-US" altLang="en-US"/>
              <a:t>Collect different attributes of customers based on their geographical and lifestyle related information.</a:t>
            </a:r>
            <a:endParaRPr lang="en-US" altLang="en-US"/>
          </a:p>
          <a:p>
            <a:pPr marL="1143000" lvl="2" indent="-279400">
              <a:lnSpc>
                <a:spcPct val="90000"/>
              </a:lnSpc>
            </a:pPr>
            <a:r>
              <a:rPr lang="en-US" altLang="en-US"/>
              <a:t>Find clusters of similar customers.</a:t>
            </a:r>
            <a:endParaRPr lang="en-US" altLang="en-US"/>
          </a:p>
          <a:p>
            <a:pPr marL="1143000" lvl="2" indent="-279400">
              <a:lnSpc>
                <a:spcPct val="90000"/>
              </a:lnSpc>
            </a:pPr>
            <a:r>
              <a:rPr lang="en-US" altLang="en-US"/>
              <a:t>Measure the clustering quality by observing buying patterns of customers in same cluster vs. those from different clusters. </a:t>
            </a:r>
            <a:endParaRPr lang="en-US" altLang="en-US"/>
          </a:p>
        </p:txBody>
      </p:sp>
      <p:sp>
        <p:nvSpPr>
          <p:cNvPr id="35844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16F6F8F-8BA8-4DB8-AE2B-05332847AAA7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/>
          </a:p>
        </p:txBody>
      </p:sp>
      <p:sp>
        <p:nvSpPr>
          <p:cNvPr id="7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Clustering: Application 2</a:t>
            </a:r>
            <a:endParaRPr lang="en-US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400"/>
              <a:t>Document Clustering:</a:t>
            </a:r>
            <a:endParaRPr lang="en-US" altLang="en-US" sz="2400"/>
          </a:p>
          <a:p>
            <a:pPr marL="342900" indent="-342900"/>
            <a:endParaRPr lang="en-US" altLang="en-US" sz="700"/>
          </a:p>
          <a:p>
            <a:pPr marL="742950" lvl="1" indent="-285750"/>
            <a:r>
              <a:rPr lang="en-US" altLang="en-US" sz="2400" b="1"/>
              <a:t>Goal:</a:t>
            </a:r>
            <a:r>
              <a:rPr lang="en-US" altLang="en-US" sz="2400"/>
              <a:t> To find groups of documents that are similar to each other based on the important terms appearing in them.</a:t>
            </a:r>
            <a:endParaRPr lang="en-US" altLang="en-US" sz="2400"/>
          </a:p>
          <a:p>
            <a:pPr marL="742950" lvl="1" indent="-285750"/>
            <a:endParaRPr lang="en-US" altLang="en-US" sz="1100"/>
          </a:p>
          <a:p>
            <a:pPr marL="742950" lvl="1" indent="-285750"/>
            <a:r>
              <a:rPr lang="en-US" altLang="en-US" sz="2400" b="1"/>
              <a:t>Approach:</a:t>
            </a:r>
            <a:r>
              <a:rPr lang="en-US" altLang="en-US" sz="2400"/>
              <a:t> To identify frequently occurring terms in each document. Form a similarity measure based on the frequencies of different terms. Use it to cluster.</a:t>
            </a:r>
            <a:endParaRPr lang="en-US" altLang="en-US" sz="2400"/>
          </a:p>
        </p:txBody>
      </p:sp>
      <p:sp>
        <p:nvSpPr>
          <p:cNvPr id="37892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741B07E-1FE4-4F52-9800-137481BF6C02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7894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4673600"/>
            <a:ext cx="2895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TextBox 6"/>
          <p:cNvSpPr txBox="1">
            <a:spLocks noChangeArrowheads="1"/>
          </p:cNvSpPr>
          <p:nvPr/>
        </p:nvSpPr>
        <p:spPr bwMode="auto">
          <a:xfrm flipH="1">
            <a:off x="1325563" y="5219700"/>
            <a:ext cx="2743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Enron email dataset </a:t>
            </a:r>
            <a:endParaRPr lang="en-US" altLang="en-US" sz="14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Association Rule Discovery: Definition</a:t>
            </a:r>
            <a:endParaRPr lang="en-US" alt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Given a set of records each of which contain some number of items from a given collection</a:t>
            </a:r>
            <a:endParaRPr lang="en-US" altLang="en-US"/>
          </a:p>
          <a:p>
            <a:pPr lvl="1"/>
            <a:r>
              <a:rPr lang="en-US" altLang="en-US" sz="2400"/>
              <a:t>Produce dependency rules which will predict occurrence of an item based on occurrences of other items.</a:t>
            </a:r>
            <a:endParaRPr lang="en-US" altLang="en-US"/>
          </a:p>
        </p:txBody>
      </p:sp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381000" y="3714750"/>
          <a:ext cx="4181475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6" name="Document" r:id="rId1" imgW="3823970" imgH="1999615" progId="Word.Document.8">
                  <p:embed/>
                </p:oleObj>
              </mc:Choice>
              <mc:Fallback>
                <p:oleObj name="Document" r:id="rId1" imgW="3823970" imgH="199961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714750"/>
                        <a:ext cx="4181475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4876800" y="4095750"/>
            <a:ext cx="3443288" cy="976313"/>
          </a:xfrm>
          <a:prstGeom prst="rect">
            <a:avLst/>
          </a:prstGeom>
          <a:solidFill>
            <a:srgbClr val="CC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Rules Discovered:</a:t>
            </a: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    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{Milk} --&gt; {Coke}</a:t>
            </a:r>
            <a:endParaRPr lang="en-US" altLang="en-US" sz="1800">
              <a:solidFill>
                <a:srgbClr val="CC00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    {Diaper, Milk} --&gt; {Beer}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9942" name="Slide Number Placeholder 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74A0734-5754-41C9-9FE6-651C90CF0579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Association Analysis: Applications</a:t>
            </a:r>
            <a:endParaRPr lang="en-US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Market-basket analysis</a:t>
            </a:r>
            <a:endParaRPr lang="en-US" altLang="en-US"/>
          </a:p>
          <a:p>
            <a:pPr lvl="1"/>
            <a:r>
              <a:rPr lang="en-US" altLang="en-US" sz="2400"/>
              <a:t>Rules are used for sales promotion, shelf management, and inventory management</a:t>
            </a:r>
            <a:endParaRPr lang="en-US" altLang="en-US" sz="2400"/>
          </a:p>
          <a:p>
            <a:pPr lvl="4"/>
            <a:endParaRPr lang="en-US" altLang="en-US" sz="2400"/>
          </a:p>
          <a:p>
            <a:r>
              <a:rPr lang="en-US" altLang="en-US"/>
              <a:t>Telecommunication alarm diagnosis</a:t>
            </a:r>
            <a:endParaRPr lang="en-US" altLang="en-US"/>
          </a:p>
          <a:p>
            <a:pPr lvl="1"/>
            <a:r>
              <a:rPr lang="en-US" altLang="en-US" sz="2400"/>
              <a:t>Rules are used to find combination of alarms that occur together frequently in the same time period</a:t>
            </a:r>
            <a:endParaRPr lang="en-US" altLang="en-US" sz="2400"/>
          </a:p>
          <a:p>
            <a:pPr lvl="4"/>
            <a:endParaRPr lang="en-US" altLang="en-US" sz="2400"/>
          </a:p>
          <a:p>
            <a:r>
              <a:rPr lang="en-US" altLang="en-US"/>
              <a:t>Medical Informatics</a:t>
            </a:r>
            <a:endParaRPr lang="en-US" altLang="en-US"/>
          </a:p>
          <a:p>
            <a:pPr lvl="1"/>
            <a:r>
              <a:rPr lang="en-US" altLang="en-US" sz="2400"/>
              <a:t>Rules are used to find combination of patient symptoms and test results associated with certain diseases</a:t>
            </a:r>
            <a:endParaRPr lang="en-US" altLang="en-US" sz="2400"/>
          </a:p>
        </p:txBody>
      </p:sp>
      <p:sp>
        <p:nvSpPr>
          <p:cNvPr id="40964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1AF0C38-06AE-4DAD-9F82-5E2F1D85B53C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03425"/>
            <a:ext cx="8153400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371600"/>
            <a:ext cx="8229600" cy="4754563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An Example Subspace Differential Coexpression Pattern from lung cancer dataset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 sz="160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Enriched with the TNF/NFB signaling pathway</a:t>
            </a:r>
            <a:endParaRPr lang="en-US" altLang="zh-CN" sz="16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which is well-known to be related to lung cancer</a:t>
            </a:r>
            <a:endParaRPr lang="en-US" altLang="zh-CN" sz="160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P-value: 1.4*10</a:t>
            </a:r>
            <a:r>
              <a:rPr lang="en-US" altLang="zh-CN" sz="1600" baseline="30000">
                <a:ea typeface="宋体" panose="02010600030101010101" pitchFamily="2" charset="-122"/>
              </a:rPr>
              <a:t>-5</a:t>
            </a:r>
            <a:r>
              <a:rPr lang="en-US" altLang="zh-CN" sz="1600">
                <a:ea typeface="宋体" panose="02010600030101010101" pitchFamily="2" charset="-122"/>
              </a:rPr>
              <a:t> (6/10 overlap with the pathway) </a:t>
            </a:r>
            <a:endParaRPr lang="en-US" altLang="zh-CN" sz="160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  <a:p>
            <a:endParaRPr lang="en-US" altLang="zh-CN" sz="1600">
              <a:ea typeface="宋体" panose="02010600030101010101" pitchFamily="2" charset="-122"/>
            </a:endParaRPr>
          </a:p>
        </p:txBody>
      </p:sp>
      <p:pic>
        <p:nvPicPr>
          <p:cNvPr id="4301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724400"/>
            <a:ext cx="1981200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TextBox 8"/>
          <p:cNvSpPr txBox="1">
            <a:spLocks noChangeArrowheads="1"/>
          </p:cNvSpPr>
          <p:nvPr/>
        </p:nvSpPr>
        <p:spPr bwMode="auto">
          <a:xfrm>
            <a:off x="6248400" y="1828800"/>
            <a:ext cx="31559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lvl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000">
                <a:solidFill>
                  <a:srgbClr val="0070C0"/>
                </a:solidFill>
                <a:ea typeface="宋体" panose="02010600030101010101" pitchFamily="2" charset="-122"/>
              </a:rPr>
              <a:t>Three lung cancer datasets </a:t>
            </a:r>
            <a:r>
              <a:rPr lang="en-US" altLang="zh-CN" sz="1000">
                <a:solidFill>
                  <a:srgbClr val="0070C0"/>
                </a:solidFill>
                <a:ea typeface="宋体" panose="02010600030101010101" pitchFamily="2" charset="-122"/>
              </a:rPr>
              <a:t>[Bhattacharjee et al. 2001], [Stearman et al. 2005], [Su et al. 2007]</a:t>
            </a:r>
            <a:endParaRPr lang="en-US" altLang="en-US" sz="1000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sp>
        <p:nvSpPr>
          <p:cNvPr id="43015" name="Title 1"/>
          <p:cNvSpPr txBox="1"/>
          <p:nvPr/>
        </p:nvSpPr>
        <p:spPr bwMode="auto">
          <a:xfrm>
            <a:off x="228600" y="228600"/>
            <a:ext cx="8382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/>
              <a:t>Association Analysis: Applications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301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E1799CA-1709-401A-8FF3-E0A939B562DC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63000" cy="533400"/>
          </a:xfrm>
        </p:spPr>
        <p:txBody>
          <a:bodyPr/>
          <a:lstStyle/>
          <a:p>
            <a:r>
              <a:rPr lang="en-US" altLang="en-US"/>
              <a:t>Deviation/Anomaly/Change Detection</a:t>
            </a:r>
            <a:endParaRPr lang="en-US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4800600" cy="5105400"/>
          </a:xfrm>
        </p:spPr>
        <p:txBody>
          <a:bodyPr/>
          <a:lstStyle/>
          <a:p>
            <a:r>
              <a:rPr lang="en-US" altLang="en-US" sz="2000"/>
              <a:t>Detect significant deviations from normal behavior</a:t>
            </a:r>
            <a:endParaRPr lang="en-US" altLang="en-US" sz="2400"/>
          </a:p>
          <a:p>
            <a:r>
              <a:rPr lang="en-US" altLang="en-US" sz="2000"/>
              <a:t>Applications:</a:t>
            </a:r>
            <a:endParaRPr lang="en-US" altLang="en-US" sz="2000"/>
          </a:p>
          <a:p>
            <a:pPr lvl="1"/>
            <a:r>
              <a:rPr lang="en-US" altLang="en-US" sz="1800"/>
              <a:t>Credit Card Fraud Detection</a:t>
            </a:r>
            <a:endParaRPr lang="en-US" altLang="en-US" sz="1600"/>
          </a:p>
          <a:p>
            <a:pPr lvl="1"/>
            <a:r>
              <a:rPr lang="en-US" altLang="en-US" sz="1800"/>
              <a:t>Network Intrusion </a:t>
            </a:r>
            <a:br>
              <a:rPr lang="en-US" altLang="en-US" sz="1800"/>
            </a:br>
            <a:r>
              <a:rPr lang="en-US" altLang="en-US" sz="1800"/>
              <a:t>Detection</a:t>
            </a:r>
            <a:endParaRPr lang="en-US" altLang="en-US" sz="1800"/>
          </a:p>
          <a:p>
            <a:pPr lvl="1"/>
            <a:r>
              <a:rPr lang="en-US" altLang="en-US" sz="1800"/>
              <a:t>Identify anomalous behavior from sensor networks for monitoring and surveillance.</a:t>
            </a:r>
            <a:endParaRPr lang="en-US" altLang="en-US" sz="1800"/>
          </a:p>
          <a:p>
            <a:pPr lvl="1"/>
            <a:r>
              <a:rPr lang="en-US" altLang="en-US" sz="1800"/>
              <a:t>Detecting changes in the global forest cover.</a:t>
            </a:r>
            <a:endParaRPr lang="en-US" altLang="en-US" sz="1800"/>
          </a:p>
          <a:p>
            <a:pPr lvl="1"/>
            <a:endParaRPr lang="en-US" altLang="en-US" sz="2000"/>
          </a:p>
        </p:txBody>
      </p:sp>
      <p:grpSp>
        <p:nvGrpSpPr>
          <p:cNvPr id="45060" name="Group 5"/>
          <p:cNvGrpSpPr/>
          <p:nvPr/>
        </p:nvGrpSpPr>
        <p:grpSpPr bwMode="auto">
          <a:xfrm>
            <a:off x="5645150" y="1295400"/>
            <a:ext cx="2371725" cy="2228850"/>
            <a:chOff x="3648" y="2448"/>
            <a:chExt cx="2112" cy="1872"/>
          </a:xfrm>
        </p:grpSpPr>
        <p:pic>
          <p:nvPicPr>
            <p:cNvPr id="45066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7" name="Oval 7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68" name="Oval 8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69" name="Oval 9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70" name="Oval 10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71" name="Rectangle 11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72" name="Rectangle 12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45061" name="Slide Number Placeholder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16A7442-B147-441A-B1EE-5061F196FDB5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" name="modis_swath_640x480_jpg.wmv">
            <a:hlinkClick r:id="" action="ppaction://media"/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895850"/>
            <a:ext cx="17526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lobal Animation 2-28-2011.wmv">
            <a:hlinkClick r:id="" action="ppaction://media"/>
          </p:cNvPr>
          <p:cNvPicPr>
            <a:picLocks noRot="1"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link="rId6"/>
              </p:ext>
            </p:ext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313" y="3810000"/>
            <a:ext cx="42672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19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6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5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Motivating Challenges</a:t>
            </a:r>
            <a:endParaRPr lang="en-US" altLang="en-US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Scalability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High Dimensionality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Heterogeneous and Complex Data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Data Ownership and Distribution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Non-traditional Analysis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7108" name="Slide Number Placeholder 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2812818-4E42-4C67-82FC-E64CE939FA04}" type="slidenum">
              <a:rPr lang="en-US" altLang="en-US" sz="120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45*167"/>
  <p:tag name="TABLE_ENDDRAG_RECT" val="38*323*645*167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ZGE2Mjg2YTZkZTMyMTYwY2M1OTQ5YzJlN2MyYmRjOGEifQ=="/>
  <p:tag name="commondata" val="eyJoZGlkIjoiMzEwNTM5NzYwMDRjMzkwZTVkZjY2ODkwMGIxNGU0OTUifQ==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0</TotalTime>
  <Words>9772</Words>
  <Application>WPS 演示</Application>
  <PresentationFormat>On-screen Show (4:3)</PresentationFormat>
  <Paragraphs>533</Paragraphs>
  <Slides>36</Slides>
  <Notes>17</Notes>
  <HiddenSlides>0</HiddenSlides>
  <MMClips>2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</vt:i4>
      </vt:variant>
      <vt:variant>
        <vt:lpstr>幻灯片标题</vt:lpstr>
      </vt:variant>
      <vt:variant>
        <vt:i4>36</vt:i4>
      </vt:variant>
    </vt:vector>
  </HeadingPairs>
  <TitlesOfParts>
    <vt:vector size="72" baseType="lpstr">
      <vt:lpstr>Arial</vt:lpstr>
      <vt:lpstr>宋体</vt:lpstr>
      <vt:lpstr>Wingdings</vt:lpstr>
      <vt:lpstr>Tahoma</vt:lpstr>
      <vt:lpstr>Monotype Sorts</vt:lpstr>
      <vt:lpstr>Wingdings</vt:lpstr>
      <vt:lpstr>Times New Roman</vt:lpstr>
      <vt:lpstr>华文中宋</vt:lpstr>
      <vt:lpstr>黑体</vt:lpstr>
      <vt:lpstr>楷体_GB2312</vt:lpstr>
      <vt:lpstr>新宋体</vt:lpstr>
      <vt:lpstr>微软雅黑</vt:lpstr>
      <vt:lpstr>MS Mincho</vt:lpstr>
      <vt:lpstr>仓耳渔阳体 W05</vt:lpstr>
      <vt:lpstr>Helvetica</vt:lpstr>
      <vt:lpstr>Segoe UI Symbol</vt:lpstr>
      <vt:lpstr>GungsuhChe</vt:lpstr>
      <vt:lpstr>Arial Unicode MS</vt:lpstr>
      <vt:lpstr>Calibri</vt:lpstr>
      <vt:lpstr>Monotype Sorts</vt:lpstr>
      <vt:lpstr>Malgun Gothic</vt:lpstr>
      <vt:lpstr>LC.BRev.FY97</vt:lpstr>
      <vt:lpstr>Visio.Drawing.11</vt:lpstr>
      <vt:lpstr>Word.Document.8</vt:lpstr>
      <vt:lpstr>Visio.Drawing.6</vt:lpstr>
      <vt:lpstr>Visio.Drawing.6</vt:lpstr>
      <vt:lpstr>Paint.Picture</vt:lpstr>
      <vt:lpstr>Word.Document.8</vt:lpstr>
      <vt:lpstr>Visio.Drawing.11</vt:lpstr>
      <vt:lpstr>Visio.Drawing.11</vt:lpstr>
      <vt:lpstr>Visio.Drawing.11</vt:lpstr>
      <vt:lpstr>Visio.Drawing.6</vt:lpstr>
      <vt:lpstr>Word.Document.8</vt:lpstr>
      <vt:lpstr>Word.Document.8</vt:lpstr>
      <vt:lpstr>Visio.Drawing.6</vt:lpstr>
      <vt:lpstr>Word.Document.8</vt:lpstr>
      <vt:lpstr>Data Mining: Introduction</vt:lpstr>
      <vt:lpstr>PowerPoint 演示文稿</vt:lpstr>
      <vt:lpstr>PowerPoint 演示文稿</vt:lpstr>
      <vt:lpstr>PowerPoint 演示文稿</vt:lpstr>
      <vt:lpstr>PowerPoint 演示文稿</vt:lpstr>
      <vt:lpstr>Large-scale Data is Everywhere!</vt:lpstr>
      <vt:lpstr>PowerPoint 演示文稿</vt:lpstr>
      <vt:lpstr>PowerPoint 演示文稿</vt:lpstr>
      <vt:lpstr>Why explain phenomena?</vt:lpstr>
      <vt:lpstr>Why explain phenomena?</vt:lpstr>
      <vt:lpstr>Why explain phenomena?</vt:lpstr>
      <vt:lpstr>Why Data Mining? Commercial Viewpoint</vt:lpstr>
      <vt:lpstr>Why Data Mining? Scientific Viewpoint</vt:lpstr>
      <vt:lpstr>Great opportunities to improve productivity in all walks of life</vt:lpstr>
      <vt:lpstr>Great Opportunities to Solve Society’s Major Problems</vt:lpstr>
      <vt:lpstr>What is Data Mining?</vt:lpstr>
      <vt:lpstr>Origins of Data Mining</vt:lpstr>
      <vt:lpstr>Data Mining Tasks</vt:lpstr>
      <vt:lpstr>PowerPoint 演示文稿</vt:lpstr>
      <vt:lpstr>PowerPoint 演示文稿</vt:lpstr>
      <vt:lpstr>Classification Example</vt:lpstr>
      <vt:lpstr>Examples of Classification Task</vt:lpstr>
      <vt:lpstr>Classification: Application 1</vt:lpstr>
      <vt:lpstr>Classification: Application 2</vt:lpstr>
      <vt:lpstr>Classification: Application 3</vt:lpstr>
      <vt:lpstr>Classifying Galaxies</vt:lpstr>
      <vt:lpstr>Regression</vt:lpstr>
      <vt:lpstr>PowerPoint 演示文稿</vt:lpstr>
      <vt:lpstr>Applications of Cluster Analysis</vt:lpstr>
      <vt:lpstr>Clustering: Application 1</vt:lpstr>
      <vt:lpstr>Clustering: Application 2</vt:lpstr>
      <vt:lpstr>Association Rule Discovery: Definition</vt:lpstr>
      <vt:lpstr>Association Analysis: Applications</vt:lpstr>
      <vt:lpstr>PowerPoint 演示文稿</vt:lpstr>
      <vt:lpstr>Deviation/Anomaly/Change Detection</vt:lpstr>
      <vt:lpstr>Motivating Challenges</vt:lpstr>
    </vt:vector>
  </TitlesOfParts>
  <LinksUpToDate>false</LinksUpToDate>
  <SharedDoc>false</SharedDoc>
  <HyperlinksChanged>false</HyperlinksChanged>
  <AppVersion>14.0000</AppVersion>
  <Pages>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XKM</cp:lastModifiedBy>
  <cp:revision>421</cp:revision>
  <cp:lastPrinted>2001-08-28T17:59:00Z</cp:lastPrinted>
  <dcterms:created xsi:type="dcterms:W3CDTF">1998-03-18T13:44:00Z</dcterms:created>
  <dcterms:modified xsi:type="dcterms:W3CDTF">2025-09-02T00:37:18Z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9B4135B9298A4A0CB4F2B929FBDD3887_12</vt:lpwstr>
  </property>
  <property fmtid="{D5CDD505-2E9C-101B-9397-08002B2CF9AE}" pid="3" name="KSOProductBuildVer">
    <vt:lpwstr>2052-12.1.0.22529</vt:lpwstr>
  </property>
</Properties>
</file>