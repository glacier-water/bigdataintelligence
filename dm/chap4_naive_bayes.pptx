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7"/>
  </p:notesMasterIdLst>
  <p:handoutMasterIdLst>
    <p:handoutMasterId r:id="rId33"/>
  </p:handoutMasterIdLst>
  <p:sldIdLst>
    <p:sldId id="543" r:id="rId6"/>
    <p:sldId id="524" r:id="rId8"/>
    <p:sldId id="555" r:id="rId9"/>
    <p:sldId id="527" r:id="rId10"/>
    <p:sldId id="559" r:id="rId11"/>
    <p:sldId id="544" r:id="rId12"/>
    <p:sldId id="558" r:id="rId13"/>
    <p:sldId id="528" r:id="rId14"/>
    <p:sldId id="546" r:id="rId15"/>
    <p:sldId id="529" r:id="rId16"/>
    <p:sldId id="530" r:id="rId17"/>
    <p:sldId id="531" r:id="rId18"/>
    <p:sldId id="532" r:id="rId19"/>
    <p:sldId id="556" r:id="rId20"/>
    <p:sldId id="552" r:id="rId21"/>
    <p:sldId id="547" r:id="rId22"/>
    <p:sldId id="533" r:id="rId23"/>
    <p:sldId id="534" r:id="rId24"/>
    <p:sldId id="535" r:id="rId25"/>
    <p:sldId id="548" r:id="rId26"/>
    <p:sldId id="537" r:id="rId27"/>
    <p:sldId id="539" r:id="rId28"/>
    <p:sldId id="540" r:id="rId29"/>
    <p:sldId id="541" r:id="rId30"/>
    <p:sldId id="538" r:id="rId31"/>
    <p:sldId id="542" r:id="rId32"/>
  </p:sldIdLst>
  <p:sldSz cx="9144000" cy="6858000" type="screen4x3"/>
  <p:notesSz cx="7010400" cy="9296400"/>
  <p:custDataLst>
    <p:tags r:id="rId37"/>
  </p:custData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CC3300"/>
    <a:srgbClr val="2A8487"/>
    <a:srgbClr val="1C5A61"/>
    <a:srgbClr val="0C6D9C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3910" autoAdjust="0"/>
  </p:normalViewPr>
  <p:slideViewPr>
    <p:cSldViewPr showGuides="1">
      <p:cViewPr varScale="1">
        <p:scale>
          <a:sx n="55" d="100"/>
          <a:sy n="55" d="100"/>
        </p:scale>
        <p:origin x="1176" y="44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474" y="4416111"/>
            <a:ext cx="5143848" cy="4180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814" tIns="48409" rIns="96814" bIns="48409" numCol="1" anchor="t" anchorCtr="0" compatLnSpc="1"/>
          <a:lstStyle/>
          <a:p>
            <a:pPr lvl="0"/>
            <a:r>
              <a:rPr lang="en-US" noProof="0"/>
              <a:t>Click to edit Master notes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2560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2213" y="704850"/>
            <a:ext cx="4629150" cy="34718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MS PGothic" panose="020B0600070205080204" pitchFamily="34" charset="-128"/>
      </a:defRPr>
    </a:lvl1pPr>
    <a:lvl2pPr marL="46990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385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4084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76425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2975"/>
          </a:xfrm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078" y="4416111"/>
            <a:ext cx="5142244" cy="4180819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1573" tIns="45781" rIns="91573" bIns="45781"/>
          <a:lstStyle/>
          <a:p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0795A9-3B41-4BE2-BC0F-536FD5F4D94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425A68-0A55-4530-BBFF-31B96EF60EE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E3E67-D976-45F2-95DB-E7A1A803F0A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2E3168-0615-474F-B96D-868E5022882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  <a:endParaRPr lang="en-US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EDE3E1-1641-4430-99B4-C93B48743B0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1725DE-011F-43C2-9AA1-FC4E5761C03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841DC2-0C76-4BB5-B3A7-AED543E8398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9D2832-5EFD-4718-816B-47DA45C2D00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4A027C-1BC9-46AF-AD99-5BBC18BA5B5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6DD663-02E3-4F26-A24C-94117D81A9F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FB5861-97CA-47B0-9CDE-99F7DBE9121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 marL="457200" indent="-457200">
              <a:buSzPct val="100000"/>
              <a:buFont typeface="Arial" panose="020B0604020202020204" pitchFamily="34" charset="0"/>
              <a:buChar char="•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292100" indent="-292100">
              <a:buSzPct val="100000"/>
              <a:buFont typeface="Arial" panose="020B0604020202020204" pitchFamily="34" charset="0"/>
              <a:buChar char="•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92100" indent="-2921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>
            <a:lvl1pPr marL="292100" indent="-292100">
              <a:buFont typeface="Arial" panose="020B0604020202020204" pitchFamily="34" charset="0"/>
              <a:buChar char="•"/>
              <a:defRPr/>
            </a:lvl1pPr>
            <a:lvl2pPr marL="800100" indent="-342900">
              <a:buFont typeface="Arial" panose="020B0604020202020204" pitchFamily="34" charset="0"/>
              <a:buChar char="•"/>
              <a:defRPr/>
            </a:lvl2pPr>
            <a:lvl3pPr marL="1257300" indent="-3429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 Third Level</a:t>
            </a:r>
            <a:endParaRPr lang="en-US" dirty="0"/>
          </a:p>
        </p:txBody>
      </p:sp>
      <p:grpSp>
        <p:nvGrpSpPr>
          <p:cNvPr id="1028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8534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dirty="0" smtClean="0"/>
              <a:t>2/08/2021</a:t>
            </a:r>
            <a:r>
              <a:rPr lang="en-US" altLang="en-US" dirty="0"/>
              <a:t>		      Introduction to Data Mining, 2</a:t>
            </a:r>
            <a:r>
              <a:rPr lang="en-US" altLang="en-US" baseline="30000" dirty="0"/>
              <a:t>nd</a:t>
            </a:r>
            <a:r>
              <a:rPr lang="en-US" altLang="en-US" dirty="0"/>
              <a:t> Edition 			              </a:t>
            </a:r>
            <a:fld id="{70796CB9-48A6-4F46-B2DF-D224D7212798}" type="slidenum">
              <a:rPr lang="en-US" altLang="en-US" smtClean="0"/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 Third Level</a:t>
            </a:r>
            <a:endParaRPr lang="en-US" altLang="en-US" dirty="0"/>
          </a:p>
        </p:txBody>
      </p:sp>
      <p:grpSp>
        <p:nvGrpSpPr>
          <p:cNvPr id="2052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2056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057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133578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b="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133579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b="0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(C) Vipin Kumar, Parallel Issues in Data Mining, VECPAR 2002</a:t>
            </a:r>
            <a:endParaRPr lang="en-US"/>
          </a:p>
        </p:txBody>
      </p:sp>
      <p:sp>
        <p:nvSpPr>
          <p:cNvPr id="1133580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b="0">
                <a:latin typeface="Times New Roman" panose="02020603050405020304" pitchFamily="18" charset="0"/>
              </a:defRPr>
            </a:lvl1pPr>
          </a:lstStyle>
          <a:p>
            <a:fld id="{6BA5FE14-EE4A-4F30-AF7B-A4F087ED91C0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 Third Level</a:t>
            </a:r>
            <a:endParaRPr lang="en-US" altLang="en-US" dirty="0"/>
          </a:p>
        </p:txBody>
      </p:sp>
      <p:grpSp>
        <p:nvGrpSpPr>
          <p:cNvPr id="14340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4344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4345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grpSp>
        <p:nvGrpSpPr>
          <p:cNvPr id="14341" name="Group 19"/>
          <p:cNvGrpSpPr/>
          <p:nvPr userDrawn="1"/>
        </p:nvGrpSpPr>
        <p:grpSpPr bwMode="auto">
          <a:xfrm>
            <a:off x="381000" y="6400800"/>
            <a:ext cx="8382000" cy="304800"/>
            <a:chOff x="288" y="3408"/>
            <a:chExt cx="5280" cy="192"/>
          </a:xfrm>
        </p:grpSpPr>
        <p:sp>
          <p:nvSpPr>
            <p:cNvPr id="14342" name="Rectangle 20"/>
            <p:cNvSpPr>
              <a:spLocks noChangeArrowheads="1"/>
            </p:cNvSpPr>
            <p:nvPr userDrawn="1"/>
          </p:nvSpPr>
          <p:spPr bwMode="auto">
            <a:xfrm>
              <a:off x="288" y="3408"/>
              <a:ext cx="5280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4343" name="Rectangle 21"/>
            <p:cNvSpPr>
              <a:spLocks noChangeArrowheads="1"/>
            </p:cNvSpPr>
            <p:nvPr userDrawn="1"/>
          </p:nvSpPr>
          <p:spPr bwMode="auto">
            <a:xfrm>
              <a:off x="288" y="3453"/>
              <a:ext cx="526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r>
                <a:rPr lang="en-US" altLang="en-US" sz="1200" b="0"/>
                <a:t>© Tan,Steinbach, Kumar 	    	Introduction to Data Mining        		      02/26/2006               </a:t>
              </a:r>
              <a:fld id="{C013E0B9-DE7F-43DD-87A4-668E8C547D42}" type="slidenum">
                <a:rPr lang="en-US" altLang="en-US" sz="1200" b="0" smtClean="0"/>
              </a:fld>
              <a:r>
                <a:rPr lang="en-US" altLang="en-US" sz="1200" b="0"/>
                <a:t> </a:t>
              </a: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 Third Level</a:t>
            </a:r>
            <a:endParaRPr lang="en-US" altLang="en-US" dirty="0"/>
          </a:p>
        </p:txBody>
      </p:sp>
      <p:grpSp>
        <p:nvGrpSpPr>
          <p:cNvPr id="15364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5368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5369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grpSp>
        <p:nvGrpSpPr>
          <p:cNvPr id="15365" name="Group 19"/>
          <p:cNvGrpSpPr/>
          <p:nvPr userDrawn="1"/>
        </p:nvGrpSpPr>
        <p:grpSpPr bwMode="auto">
          <a:xfrm>
            <a:off x="381000" y="6400800"/>
            <a:ext cx="8382000" cy="304800"/>
            <a:chOff x="288" y="3408"/>
            <a:chExt cx="5280" cy="192"/>
          </a:xfrm>
        </p:grpSpPr>
        <p:sp>
          <p:nvSpPr>
            <p:cNvPr id="15366" name="Rectangle 20"/>
            <p:cNvSpPr>
              <a:spLocks noChangeArrowheads="1"/>
            </p:cNvSpPr>
            <p:nvPr userDrawn="1"/>
          </p:nvSpPr>
          <p:spPr bwMode="auto">
            <a:xfrm>
              <a:off x="288" y="3408"/>
              <a:ext cx="5280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5367" name="Rectangle 21"/>
            <p:cNvSpPr>
              <a:spLocks noChangeArrowheads="1"/>
            </p:cNvSpPr>
            <p:nvPr userDrawn="1"/>
          </p:nvSpPr>
          <p:spPr bwMode="auto">
            <a:xfrm>
              <a:off x="288" y="3453"/>
              <a:ext cx="526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r>
                <a:rPr lang="en-US" altLang="en-US" sz="1200" b="0"/>
                <a:t>© Tan,Steinbach, Kumar 	    	Introduction to Data Mining        		      02/26/2006               </a:t>
              </a:r>
              <a:fld id="{5F450A06-25A0-44A7-95AC-B155A1AFB3D2}" type="slidenum">
                <a:rPr lang="en-US" altLang="en-US" sz="1200" b="0" smtClean="0"/>
              </a:fld>
              <a:r>
                <a:rPr lang="en-US" altLang="en-US" sz="1200" b="0"/>
                <a:t> </a:t>
              </a: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fontAlgn="base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4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8.bin"/><Relationship Id="rId3" Type="http://schemas.openxmlformats.org/officeDocument/2006/relationships/image" Target="../media/image4.wmf"/><Relationship Id="rId2" Type="http://schemas.openxmlformats.org/officeDocument/2006/relationships/oleObject" Target="../embeddings/oleObject7.bin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0.bin"/><Relationship Id="rId3" Type="http://schemas.openxmlformats.org/officeDocument/2006/relationships/image" Target="../media/image4.w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w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wmf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3.bin"/><Relationship Id="rId3" Type="http://schemas.openxmlformats.org/officeDocument/2006/relationships/image" Target="../media/image4.w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2.wmf"/><Relationship Id="rId2" Type="http://schemas.openxmlformats.org/officeDocument/2006/relationships/oleObject" Target="../embeddings/oleObject15.bin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wmf"/><Relationship Id="rId2" Type="http://schemas.openxmlformats.org/officeDocument/2006/relationships/oleObject" Target="../embeddings/oleObject16.bin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1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8.wmf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8.bin"/><Relationship Id="rId3" Type="http://schemas.openxmlformats.org/officeDocument/2006/relationships/image" Target="../media/image16.emf"/><Relationship Id="rId2" Type="http://schemas.openxmlformats.org/officeDocument/2006/relationships/oleObject" Target="../embeddings/oleObject17.bin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emf"/><Relationship Id="rId2" Type="http://schemas.openxmlformats.org/officeDocument/2006/relationships/oleObject" Target="../embeddings/oleObject20.bin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emf"/><Relationship Id="rId2" Type="http://schemas.openxmlformats.org/officeDocument/2006/relationships/oleObject" Target="../embeddings/oleObject21.bin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emf"/><Relationship Id="rId2" Type="http://schemas.openxmlformats.org/officeDocument/2006/relationships/oleObject" Target="../embeddings/oleObject22.bin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emf"/><Relationship Id="rId2" Type="http://schemas.openxmlformats.org/officeDocument/2006/relationships/oleObject" Target="../embeddings/oleObject23.bin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emf"/><Relationship Id="rId2" Type="http://schemas.openxmlformats.org/officeDocument/2006/relationships/oleObject" Target="../embeddings/oleObject24.bin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ChangeArrowheads="1"/>
          </p:cNvSpPr>
          <p:nvPr/>
        </p:nvSpPr>
        <p:spPr bwMode="auto">
          <a:xfrm>
            <a:off x="381000" y="2572862"/>
            <a:ext cx="8229600" cy="256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/>
              <a:t>Bayesian Classifiers</a:t>
            </a: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Monotype Sorts" panose="05010101010101010101" pitchFamily="2" charset="2"/>
              <a:buNone/>
            </a:pPr>
            <a:r>
              <a:rPr lang="en-US" altLang="en-US" sz="3200" b="0" dirty="0">
                <a:solidFill>
                  <a:srgbClr val="000000"/>
                </a:solidFill>
              </a:rPr>
              <a:t>Introduction to Data Mining</a:t>
            </a: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 dirty="0"/>
          </a:p>
        </p:txBody>
      </p:sp>
      <p:sp>
        <p:nvSpPr>
          <p:cNvPr id="5124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-76200"/>
            <a:ext cx="8763000" cy="838200"/>
          </a:xfrm>
        </p:spPr>
        <p:txBody>
          <a:bodyPr/>
          <a:lstStyle/>
          <a:p>
            <a:pPr algn="ctr">
              <a:defRPr/>
            </a:pPr>
            <a:r>
              <a:rPr lang="en-US" dirty="0">
                <a:cs typeface="+mj-cs"/>
              </a:rPr>
              <a:t>Classification: Alternative Techniques</a:t>
            </a:r>
            <a:endParaRPr lang="en-US" dirty="0"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Bayes Classifier</a:t>
            </a:r>
            <a:endParaRPr lang="en-US">
              <a:cs typeface="+mj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A probabilistic framework for solving classification problems</a:t>
            </a: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Conditional Probability:</a:t>
            </a:r>
            <a:endParaRPr lang="en-US" dirty="0">
              <a:cs typeface="+mn-cs"/>
            </a:endParaRP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 Bayes theorem:</a:t>
            </a:r>
            <a:endParaRPr lang="en-US" dirty="0">
              <a:cs typeface="+mn-cs"/>
            </a:endParaRPr>
          </a:p>
        </p:txBody>
      </p:sp>
      <p:graphicFrame>
        <p:nvGraphicFramePr>
          <p:cNvPr id="20483" name="Object 4"/>
          <p:cNvGraphicFramePr>
            <a:graphicFrameLocks noChangeAspect="1"/>
          </p:cNvGraphicFramePr>
          <p:nvPr/>
        </p:nvGraphicFramePr>
        <p:xfrm>
          <a:off x="2644775" y="4770438"/>
          <a:ext cx="4365625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5" name="Equation" r:id="rId2" imgW="1600200" imgH="419100" progId="Equation.3">
                  <p:embed/>
                </p:oleObj>
              </mc:Choice>
              <mc:Fallback>
                <p:oleObj name="Equation" r:id="rId2" imgW="16002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775" y="4770438"/>
                        <a:ext cx="4365625" cy="114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5"/>
          <p:cNvGraphicFramePr>
            <a:graphicFrameLocks noChangeAspect="1"/>
          </p:cNvGraphicFramePr>
          <p:nvPr/>
        </p:nvGraphicFramePr>
        <p:xfrm>
          <a:off x="4953000" y="2057400"/>
          <a:ext cx="3048000" cy="209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6" name="Equation" r:id="rId4" imgW="1256665" imgH="862965" progId="Equation.3">
                  <p:embed/>
                </p:oleObj>
              </mc:Choice>
              <mc:Fallback>
                <p:oleObj name="Equation" r:id="rId4" imgW="1256665" imgH="86296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057400"/>
                        <a:ext cx="3048000" cy="209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2705"/>
            <a:ext cx="82804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Using Bayes Theorem for Classification</a:t>
            </a:r>
            <a:endParaRPr lang="en-US">
              <a:cs typeface="+mj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5486400" cy="51054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Consider each attribute and class label as random </a:t>
            </a:r>
            <a:r>
              <a:rPr lang="en-US" altLang="en-US" sz="2400" dirty="0" smtClean="0">
                <a:ea typeface="MS PGothic" panose="020B0600070205080204" pitchFamily="34" charset="-128"/>
              </a:rPr>
              <a:t>variables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Given a record with attributes </a:t>
            </a:r>
            <a:r>
              <a:rPr lang="en-US" altLang="en-US" sz="2400" dirty="0" smtClean="0">
                <a:ea typeface="MS PGothic" panose="020B0600070205080204" pitchFamily="34" charset="-128"/>
              </a:rPr>
              <a:t>(</a:t>
            </a:r>
            <a:r>
              <a:rPr lang="en-US" altLang="en-US" sz="2400" dirty="0">
                <a:ea typeface="MS PGothic" panose="020B0600070205080204" pitchFamily="34" charset="-128"/>
              </a:rPr>
              <a:t>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400" dirty="0">
                <a:ea typeface="MS PGothic" panose="020B0600070205080204" pitchFamily="34" charset="-128"/>
              </a:rPr>
              <a:t>, 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ea typeface="MS PGothic" panose="020B0600070205080204" pitchFamily="34" charset="-128"/>
              </a:rPr>
              <a:t>,…, </a:t>
            </a:r>
            <a:r>
              <a:rPr lang="en-US" altLang="en-US" sz="2400" dirty="0" err="1">
                <a:ea typeface="MS PGothic" panose="020B0600070205080204" pitchFamily="34" charset="-128"/>
              </a:rPr>
              <a:t>X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d</a:t>
            </a:r>
            <a:r>
              <a:rPr lang="en-US" altLang="en-US" sz="2400" dirty="0" smtClean="0">
                <a:ea typeface="MS PGothic" panose="020B0600070205080204" pitchFamily="34" charset="-128"/>
              </a:rPr>
              <a:t>), the goal  is </a:t>
            </a:r>
            <a:r>
              <a:rPr lang="en-US" altLang="en-US" sz="2400" dirty="0">
                <a:ea typeface="MS PGothic" panose="020B0600070205080204" pitchFamily="34" charset="-128"/>
              </a:rPr>
              <a:t>to predict class </a:t>
            </a:r>
            <a:r>
              <a:rPr lang="en-US" altLang="en-US" sz="2400" dirty="0" smtClean="0">
                <a:ea typeface="MS PGothic" panose="020B0600070205080204" pitchFamily="34" charset="-128"/>
              </a:rPr>
              <a:t>Y</a:t>
            </a:r>
            <a:endParaRPr lang="en-US" altLang="en-US" sz="2400" dirty="0" smtClean="0">
              <a:ea typeface="MS PGothic" panose="020B0600070205080204" pitchFamily="34" charset="-128"/>
            </a:endParaRPr>
          </a:p>
          <a:p>
            <a:pPr>
              <a:defRPr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Specifically, we want to find the value of Y that maximizes P(Y| X</a:t>
            </a:r>
            <a:r>
              <a:rPr lang="en-US" altLang="en-US" sz="2000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000" dirty="0">
                <a:ea typeface="MS PGothic" panose="020B0600070205080204" pitchFamily="34" charset="-128"/>
              </a:rPr>
              <a:t>, X</a:t>
            </a:r>
            <a:r>
              <a:rPr lang="en-US" altLang="en-US" sz="2000" baseline="-25000" dirty="0">
                <a:ea typeface="MS PGothic" panose="020B0600070205080204" pitchFamily="34" charset="-128"/>
              </a:rPr>
              <a:t>2</a:t>
            </a:r>
            <a:r>
              <a:rPr lang="en-US" altLang="en-US" sz="2000" dirty="0">
                <a:ea typeface="MS PGothic" panose="020B0600070205080204" pitchFamily="34" charset="-128"/>
              </a:rPr>
              <a:t>,…, </a:t>
            </a:r>
            <a:r>
              <a:rPr lang="en-US" altLang="en-US" sz="2000" dirty="0" err="1">
                <a:ea typeface="MS PGothic" panose="020B0600070205080204" pitchFamily="34" charset="-128"/>
              </a:rPr>
              <a:t>X</a:t>
            </a:r>
            <a:r>
              <a:rPr lang="en-US" altLang="en-US" sz="2000" baseline="-25000" dirty="0" err="1">
                <a:ea typeface="MS PGothic" panose="020B0600070205080204" pitchFamily="34" charset="-128"/>
              </a:rPr>
              <a:t>d</a:t>
            </a:r>
            <a:r>
              <a:rPr lang="en-US" altLang="en-US" sz="200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defRPr/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Can we estimate P(Y| 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400" dirty="0">
                <a:ea typeface="MS PGothic" panose="020B0600070205080204" pitchFamily="34" charset="-128"/>
              </a:rPr>
              <a:t>, 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ea typeface="MS PGothic" panose="020B0600070205080204" pitchFamily="34" charset="-128"/>
              </a:rPr>
              <a:t>,…, </a:t>
            </a:r>
            <a:r>
              <a:rPr lang="en-US" altLang="en-US" sz="2400" dirty="0" err="1">
                <a:ea typeface="MS PGothic" panose="020B0600070205080204" pitchFamily="34" charset="-128"/>
              </a:rPr>
              <a:t>X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d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400" dirty="0">
                <a:ea typeface="MS PGothic" panose="020B0600070205080204" pitchFamily="34" charset="-128"/>
              </a:rPr>
              <a:t>) directly from data?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5943600" y="2895600"/>
          <a:ext cx="2971800" cy="353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5" name="VISIO" r:id="rId2" imgW="4392295" imgH="5334000" progId="Visio.Drawing.6">
                  <p:embed/>
                </p:oleObj>
              </mc:Choice>
              <mc:Fallback>
                <p:oleObj name="VISIO" r:id="rId2" imgW="4392295" imgH="53340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5943600" y="2895600"/>
                        <a:ext cx="2971800" cy="353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Using Bayes Theorem for Classification</a:t>
            </a:r>
            <a:endParaRPr lang="en-US">
              <a:cs typeface="+mj-cs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80437" cy="5181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Approach: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compute posterior probability P(Y | 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400" dirty="0">
                <a:ea typeface="MS PGothic" panose="020B0600070205080204" pitchFamily="34" charset="-128"/>
              </a:rPr>
              <a:t>, 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ea typeface="MS PGothic" panose="020B0600070205080204" pitchFamily="34" charset="-128"/>
              </a:rPr>
              <a:t>, …, </a:t>
            </a:r>
            <a:r>
              <a:rPr lang="en-US" altLang="en-US" sz="2400" dirty="0" err="1">
                <a:ea typeface="MS PGothic" panose="020B0600070205080204" pitchFamily="34" charset="-128"/>
              </a:rPr>
              <a:t>X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d</a:t>
            </a:r>
            <a:r>
              <a:rPr lang="en-US" altLang="en-US" sz="2400" dirty="0">
                <a:ea typeface="MS PGothic" panose="020B0600070205080204" pitchFamily="34" charset="-128"/>
              </a:rPr>
              <a:t>) using the Bayes theorem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  <a:defRPr/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  <a:defRPr/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400" i="1" dirty="0">
                <a:ea typeface="MS PGothic" panose="020B0600070205080204" pitchFamily="34" charset="-128"/>
              </a:rPr>
              <a:t>Maximum a-posteriori</a:t>
            </a:r>
            <a:r>
              <a:rPr lang="en-US" altLang="en-US" sz="2400" dirty="0">
                <a:ea typeface="MS PGothic" panose="020B0600070205080204" pitchFamily="34" charset="-128"/>
              </a:rPr>
              <a:t>: Choose Y that maximizes </a:t>
            </a:r>
            <a:br>
              <a:rPr lang="en-US" altLang="en-US" sz="2400" dirty="0">
                <a:ea typeface="MS PGothic" panose="020B0600070205080204" pitchFamily="34" charset="-128"/>
              </a:rPr>
            </a:br>
            <a:r>
              <a:rPr lang="en-US" altLang="en-US" sz="2400" dirty="0">
                <a:ea typeface="MS PGothic" panose="020B0600070205080204" pitchFamily="34" charset="-128"/>
              </a:rPr>
              <a:t>		P(Y | 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400" dirty="0">
                <a:ea typeface="MS PGothic" panose="020B0600070205080204" pitchFamily="34" charset="-128"/>
              </a:rPr>
              <a:t>, 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ea typeface="MS PGothic" panose="020B0600070205080204" pitchFamily="34" charset="-128"/>
              </a:rPr>
              <a:t>, …, </a:t>
            </a:r>
            <a:r>
              <a:rPr lang="en-US" altLang="en-US" sz="2400" dirty="0" err="1">
                <a:ea typeface="MS PGothic" panose="020B0600070205080204" pitchFamily="34" charset="-128"/>
              </a:rPr>
              <a:t>X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d</a:t>
            </a:r>
            <a:r>
              <a:rPr lang="en-US" altLang="en-US" sz="2400" dirty="0">
                <a:ea typeface="MS PGothic" panose="020B0600070205080204" pitchFamily="34" charset="-128"/>
              </a:rPr>
              <a:t>)</a:t>
            </a:r>
            <a:br>
              <a:rPr lang="en-US" altLang="en-US" sz="2400" dirty="0">
                <a:ea typeface="MS PGothic" panose="020B0600070205080204" pitchFamily="34" charset="-128"/>
              </a:rPr>
            </a:br>
            <a:r>
              <a:rPr lang="en-US" altLang="en-US" sz="2400" dirty="0">
                <a:ea typeface="MS PGothic" panose="020B0600070205080204" pitchFamily="34" charset="-128"/>
              </a:rPr>
              <a:t> 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Equivalent to choosing value of Y that maximizes</a:t>
            </a:r>
            <a:br>
              <a:rPr lang="en-US" altLang="en-US" sz="2400" dirty="0">
                <a:ea typeface="MS PGothic" panose="020B0600070205080204" pitchFamily="34" charset="-128"/>
              </a:rPr>
            </a:br>
            <a:r>
              <a:rPr lang="en-US" altLang="en-US" sz="2400" dirty="0">
                <a:ea typeface="MS PGothic" panose="020B0600070205080204" pitchFamily="34" charset="-128"/>
              </a:rPr>
              <a:t>     	P(X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400" dirty="0">
                <a:ea typeface="MS PGothic" panose="020B0600070205080204" pitchFamily="34" charset="-128"/>
              </a:rPr>
              <a:t>, 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ea typeface="MS PGothic" panose="020B0600070205080204" pitchFamily="34" charset="-128"/>
              </a:rPr>
              <a:t>, …, </a:t>
            </a:r>
            <a:r>
              <a:rPr lang="en-US" altLang="en-US" sz="2400" dirty="0" err="1">
                <a:ea typeface="MS PGothic" panose="020B0600070205080204" pitchFamily="34" charset="-128"/>
              </a:rPr>
              <a:t>X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d</a:t>
            </a:r>
            <a:r>
              <a:rPr lang="en-US" altLang="en-US" sz="2400" dirty="0" err="1">
                <a:ea typeface="MS PGothic" panose="020B0600070205080204" pitchFamily="34" charset="-128"/>
              </a:rPr>
              <a:t>|Y</a:t>
            </a:r>
            <a:r>
              <a:rPr lang="en-US" altLang="en-US" sz="2400" dirty="0">
                <a:ea typeface="MS PGothic" panose="020B0600070205080204" pitchFamily="34" charset="-128"/>
              </a:rPr>
              <a:t>) P(Y)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How to estimate P(X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400" dirty="0">
                <a:ea typeface="MS PGothic" panose="020B0600070205080204" pitchFamily="34" charset="-128"/>
              </a:rPr>
              <a:t>, 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ea typeface="MS PGothic" panose="020B0600070205080204" pitchFamily="34" charset="-128"/>
              </a:rPr>
              <a:t>, …, </a:t>
            </a:r>
            <a:r>
              <a:rPr lang="en-US" altLang="en-US" sz="2400" dirty="0" err="1">
                <a:ea typeface="MS PGothic" panose="020B0600070205080204" pitchFamily="34" charset="-128"/>
              </a:rPr>
              <a:t>X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d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400" dirty="0">
                <a:ea typeface="MS PGothic" panose="020B0600070205080204" pitchFamily="34" charset="-128"/>
              </a:rPr>
              <a:t>| Y )?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graphicFrame>
        <p:nvGraphicFramePr>
          <p:cNvPr id="24579" name="Object 4"/>
          <p:cNvGraphicFramePr>
            <a:graphicFrameLocks noChangeAspect="1"/>
          </p:cNvGraphicFramePr>
          <p:nvPr/>
        </p:nvGraphicFramePr>
        <p:xfrm>
          <a:off x="2057400" y="2522538"/>
          <a:ext cx="617220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5" name="Equation" r:id="rId2" imgW="2717800" imgH="431800" progId="Equation.3">
                  <p:embed/>
                </p:oleObj>
              </mc:Choice>
              <mc:Fallback>
                <p:oleObj name="Equation" r:id="rId2" imgW="2717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522538"/>
                        <a:ext cx="6172200" cy="820737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Example Data</a:t>
            </a:r>
            <a:endParaRPr lang="en-US" dirty="0">
              <a:cs typeface="+mj-cs"/>
            </a:endParaRPr>
          </a:p>
        </p:txBody>
      </p:sp>
      <p:graphicFrame>
        <p:nvGraphicFramePr>
          <p:cNvPr id="23554" name="Object 5"/>
          <p:cNvGraphicFramePr>
            <a:graphicFrameLocks noChangeAspect="1"/>
          </p:cNvGraphicFramePr>
          <p:nvPr/>
        </p:nvGraphicFramePr>
        <p:xfrm>
          <a:off x="228600" y="2057400"/>
          <a:ext cx="2971800" cy="353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6" name="VISIO" r:id="rId2" imgW="4392295" imgH="5334000" progId="Visio.Drawing.6">
                  <p:embed/>
                </p:oleObj>
              </mc:Choice>
              <mc:Fallback>
                <p:oleObj name="VISIO" r:id="rId2" imgW="4392295" imgH="53340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228600" y="2057400"/>
                        <a:ext cx="2971800" cy="353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4"/>
          <p:cNvGraphicFramePr>
            <a:graphicFrameLocks noChangeAspect="1"/>
          </p:cNvGraphicFramePr>
          <p:nvPr/>
        </p:nvGraphicFramePr>
        <p:xfrm>
          <a:off x="1981200" y="1447800"/>
          <a:ext cx="52276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7" name="Equation" r:id="rId4" imgW="2832100" imgH="203200" progId="Equation.3">
                  <p:embed/>
                </p:oleObj>
              </mc:Choice>
              <mc:Fallback>
                <p:oleObj name="Equation" r:id="rId4" imgW="28321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447800"/>
                        <a:ext cx="522763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>
                <a:solidFill>
                  <a:srgbClr val="FF0000"/>
                </a:solidFill>
              </a:rPr>
              <a:t>Given a Test Record:</a:t>
            </a:r>
            <a:endParaRPr lang="en-US" sz="1800">
              <a:solidFill>
                <a:srgbClr val="FF000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971800" y="2057400"/>
            <a:ext cx="6172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en-US" sz="2400" b="0" dirty="0" smtClean="0"/>
              <a:t>We need to</a:t>
            </a:r>
            <a:r>
              <a:rPr lang="en-US" altLang="en-US" sz="2400" b="0" dirty="0" smtClean="0"/>
              <a:t> </a:t>
            </a:r>
            <a:r>
              <a:rPr lang="en-US" altLang="en-US" sz="2400" b="0" dirty="0"/>
              <a:t>estimate</a:t>
            </a:r>
            <a:endParaRPr lang="en-US" altLang="en-US" sz="2400" b="0" dirty="0"/>
          </a:p>
          <a:p>
            <a:pPr marL="457200" lvl="1" indent="0">
              <a:buNone/>
              <a:defRPr/>
            </a:pPr>
            <a:r>
              <a:rPr lang="en-US" altLang="en-US" sz="2200" b="0" dirty="0"/>
              <a:t>P(Evade = Yes | X) and P(Evade = No | X</a:t>
            </a:r>
            <a:r>
              <a:rPr lang="en-US" altLang="en-US" sz="2200" b="0" dirty="0" smtClean="0"/>
              <a:t>)</a:t>
            </a:r>
            <a:endParaRPr lang="en-US" altLang="en-US" sz="2200" b="0" dirty="0"/>
          </a:p>
          <a:p>
            <a:pPr lvl="1">
              <a:buFont typeface="Arial" panose="020B0604020202020204" pitchFamily="34" charset="0"/>
              <a:buNone/>
              <a:defRPr/>
            </a:pPr>
            <a:endParaRPr lang="en-US" altLang="en-US" sz="2200" b="0" dirty="0"/>
          </a:p>
          <a:p>
            <a:pPr lvl="1">
              <a:buFont typeface="Arial" panose="020B0604020202020204" pitchFamily="34" charset="0"/>
              <a:buNone/>
              <a:defRPr/>
            </a:pPr>
            <a:r>
              <a:rPr lang="en-US" altLang="en-US" sz="2200" b="0" dirty="0"/>
              <a:t>In the following we will replace </a:t>
            </a:r>
            <a:endParaRPr lang="en-US" altLang="en-US" sz="2200" b="0" dirty="0"/>
          </a:p>
          <a:p>
            <a:pPr lvl="1">
              <a:buFont typeface="Arial" panose="020B0604020202020204" pitchFamily="34" charset="0"/>
              <a:buNone/>
              <a:defRPr/>
            </a:pPr>
            <a:r>
              <a:rPr lang="en-US" altLang="en-US" sz="2200" b="0" dirty="0"/>
              <a:t>	Evade = Yes by Yes, and </a:t>
            </a:r>
            <a:endParaRPr lang="en-US" altLang="en-US" sz="2200" b="0" dirty="0"/>
          </a:p>
          <a:p>
            <a:pPr lvl="1">
              <a:buFont typeface="Arial" panose="020B0604020202020204" pitchFamily="34" charset="0"/>
              <a:buNone/>
              <a:defRPr/>
            </a:pPr>
            <a:r>
              <a:rPr lang="en-US" altLang="en-US" sz="2200" b="0" dirty="0"/>
              <a:t>	Evade = No by No</a:t>
            </a:r>
            <a:endParaRPr lang="en-US" altLang="en-US" sz="2200" b="0" dirty="0"/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/>
              <a:t>	</a:t>
            </a:r>
            <a:endParaRPr lang="en-US" altLang="en-US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Example Data</a:t>
            </a:r>
            <a:endParaRPr lang="en-US" dirty="0">
              <a:cs typeface="+mj-cs"/>
            </a:endParaRPr>
          </a:p>
        </p:txBody>
      </p:sp>
      <p:graphicFrame>
        <p:nvGraphicFramePr>
          <p:cNvPr id="25602" name="Object 5"/>
          <p:cNvGraphicFramePr>
            <a:graphicFrameLocks noChangeAspect="1"/>
          </p:cNvGraphicFramePr>
          <p:nvPr/>
        </p:nvGraphicFramePr>
        <p:xfrm>
          <a:off x="228600" y="2057400"/>
          <a:ext cx="2971800" cy="353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6" name="VISIO" r:id="rId2" imgW="4392295" imgH="5334000" progId="Visio.Drawing.6">
                  <p:embed/>
                </p:oleObj>
              </mc:Choice>
              <mc:Fallback>
                <p:oleObj name="VISIO" r:id="rId2" imgW="4392295" imgH="53340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228600" y="2057400"/>
                        <a:ext cx="2971800" cy="353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4"/>
          <p:cNvGraphicFramePr>
            <a:graphicFrameLocks noChangeAspect="1"/>
          </p:cNvGraphicFramePr>
          <p:nvPr/>
        </p:nvGraphicFramePr>
        <p:xfrm>
          <a:off x="2057400" y="1447800"/>
          <a:ext cx="52276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7" name="Equation" r:id="rId4" imgW="2832100" imgH="203200" progId="Equation.3">
                  <p:embed/>
                </p:oleObj>
              </mc:Choice>
              <mc:Fallback>
                <p:oleObj name="Equation" r:id="rId4" imgW="28321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447800"/>
                        <a:ext cx="522763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>
                <a:solidFill>
                  <a:srgbClr val="FF0000"/>
                </a:solidFill>
              </a:rPr>
              <a:t>Given a Test Record:</a:t>
            </a:r>
            <a:endParaRPr lang="en-US" sz="1800">
              <a:solidFill>
                <a:srgbClr val="FF0000"/>
              </a:solidFill>
            </a:endParaRPr>
          </a:p>
        </p:txBody>
      </p:sp>
      <p:sp>
        <p:nvSpPr>
          <p:cNvPr id="9" name="Rectangle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971800" y="2057400"/>
            <a:ext cx="6172200" cy="5105400"/>
          </a:xfrm>
          <a:prstGeom prst="rect">
            <a:avLst/>
          </a:prstGeom>
          <a:blipFill rotWithShape="1">
            <a:blip r:embed="rId6"/>
            <a:stretch>
              <a:fillRect l="-692"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  <a:endParaRPr lang="en-US">
              <a:noFill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Conditional Independence</a:t>
            </a:r>
            <a:endParaRPr lang="en-US">
              <a:cs typeface="+mj-cs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cs typeface="+mn-cs"/>
              </a:rPr>
              <a:t>X</a:t>
            </a:r>
            <a:r>
              <a:rPr lang="en-US" dirty="0">
                <a:cs typeface="+mn-cs"/>
              </a:rPr>
              <a:t> and </a:t>
            </a:r>
            <a:r>
              <a:rPr lang="en-US" b="1" dirty="0">
                <a:cs typeface="+mn-cs"/>
              </a:rPr>
              <a:t>Y</a:t>
            </a:r>
            <a:r>
              <a:rPr lang="en-US" dirty="0">
                <a:cs typeface="+mn-cs"/>
              </a:rPr>
              <a:t> are conditionally independent given </a:t>
            </a:r>
            <a:r>
              <a:rPr lang="en-US" b="1" dirty="0">
                <a:cs typeface="+mn-cs"/>
              </a:rPr>
              <a:t>Z</a:t>
            </a:r>
            <a:r>
              <a:rPr lang="en-US" dirty="0">
                <a:cs typeface="+mn-cs"/>
              </a:rPr>
              <a:t> if P(</a:t>
            </a:r>
            <a:r>
              <a:rPr lang="en-US" b="1" dirty="0">
                <a:cs typeface="+mn-cs"/>
              </a:rPr>
              <a:t>X</a:t>
            </a:r>
            <a:r>
              <a:rPr lang="en-US" dirty="0">
                <a:cs typeface="+mn-cs"/>
              </a:rPr>
              <a:t>|</a:t>
            </a:r>
            <a:r>
              <a:rPr lang="en-US" b="1" dirty="0">
                <a:cs typeface="+mn-cs"/>
              </a:rPr>
              <a:t>YZ</a:t>
            </a:r>
            <a:r>
              <a:rPr lang="en-US" dirty="0">
                <a:cs typeface="+mn-cs"/>
              </a:rPr>
              <a:t>) = P(</a:t>
            </a:r>
            <a:r>
              <a:rPr lang="en-US" b="1" dirty="0">
                <a:cs typeface="+mn-cs"/>
              </a:rPr>
              <a:t>X</a:t>
            </a:r>
            <a:r>
              <a:rPr lang="en-US" dirty="0">
                <a:cs typeface="+mn-cs"/>
              </a:rPr>
              <a:t>|</a:t>
            </a:r>
            <a:r>
              <a:rPr lang="en-US" b="1" dirty="0">
                <a:cs typeface="+mn-cs"/>
              </a:rPr>
              <a:t>Z</a:t>
            </a:r>
            <a:r>
              <a:rPr lang="en-US" dirty="0">
                <a:cs typeface="+mn-cs"/>
              </a:rPr>
              <a:t>)</a:t>
            </a:r>
            <a:endParaRPr lang="en-US" dirty="0">
              <a:cs typeface="+mn-cs"/>
            </a:endParaRPr>
          </a:p>
          <a:p>
            <a:pPr>
              <a:defRPr/>
            </a:pP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Example: Arm length and reading skills </a:t>
            </a:r>
            <a:endParaRPr lang="en-US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Young child has shorter arm length and limited reading skills, compared to adults</a:t>
            </a:r>
            <a:endParaRPr lang="en-US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If age is fixed, no apparent relationship between arm length and reading skills</a:t>
            </a:r>
            <a:endParaRPr lang="en-US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Arm length and reading skills are conditionally independent given age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MS PGothic" panose="020B0600070205080204" pitchFamily="34" charset="-128"/>
              </a:rPr>
              <a:t>Naïve Bayes Classifier</a:t>
            </a:r>
            <a:endParaRPr lang="en-US" altLang="en-US">
              <a:ea typeface="MS PGothic" panose="020B0600070205080204" pitchFamily="34" charset="-128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Assume independence among attributes X</a:t>
            </a:r>
            <a:r>
              <a:rPr lang="en-US" altLang="en-US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400" dirty="0">
                <a:ea typeface="MS PGothic" panose="020B0600070205080204" pitchFamily="34" charset="-128"/>
              </a:rPr>
              <a:t> when class is given:   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P(X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400" dirty="0">
                <a:ea typeface="MS PGothic" panose="020B0600070205080204" pitchFamily="34" charset="-128"/>
              </a:rPr>
              <a:t>, 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ea typeface="MS PGothic" panose="020B0600070205080204" pitchFamily="34" charset="-128"/>
              </a:rPr>
              <a:t>, …, </a:t>
            </a:r>
            <a:r>
              <a:rPr lang="en-US" altLang="en-US" sz="2400" dirty="0" err="1">
                <a:ea typeface="MS PGothic" panose="020B0600070205080204" pitchFamily="34" charset="-128"/>
              </a:rPr>
              <a:t>X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d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400" dirty="0">
                <a:ea typeface="MS PGothic" panose="020B0600070205080204" pitchFamily="34" charset="-128"/>
              </a:rPr>
              <a:t>|</a:t>
            </a:r>
            <a:r>
              <a:rPr lang="en-US" altLang="en-US" sz="2400" dirty="0" err="1">
                <a:ea typeface="MS PGothic" panose="020B0600070205080204" pitchFamily="34" charset="-128"/>
              </a:rPr>
              <a:t>Y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j</a:t>
            </a:r>
            <a:r>
              <a:rPr lang="en-US" altLang="en-US" sz="2400" dirty="0">
                <a:ea typeface="MS PGothic" panose="020B0600070205080204" pitchFamily="34" charset="-128"/>
              </a:rPr>
              <a:t>) = P(X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1</a:t>
            </a:r>
            <a:r>
              <a:rPr lang="en-US" altLang="en-US" sz="2400" dirty="0">
                <a:ea typeface="MS PGothic" panose="020B0600070205080204" pitchFamily="34" charset="-128"/>
              </a:rPr>
              <a:t>| </a:t>
            </a:r>
            <a:r>
              <a:rPr lang="en-US" altLang="en-US" sz="2400" dirty="0" err="1">
                <a:ea typeface="MS PGothic" panose="020B0600070205080204" pitchFamily="34" charset="-128"/>
              </a:rPr>
              <a:t>Y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j</a:t>
            </a:r>
            <a:r>
              <a:rPr lang="en-US" altLang="en-US" sz="2400" dirty="0">
                <a:ea typeface="MS PGothic" panose="020B0600070205080204" pitchFamily="34" charset="-128"/>
              </a:rPr>
              <a:t>) P(X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2</a:t>
            </a:r>
            <a:r>
              <a:rPr lang="en-US" altLang="en-US" sz="2400" dirty="0">
                <a:ea typeface="MS PGothic" panose="020B0600070205080204" pitchFamily="34" charset="-128"/>
              </a:rPr>
              <a:t>| </a:t>
            </a:r>
            <a:r>
              <a:rPr lang="en-US" altLang="en-US" sz="2400" dirty="0" err="1">
                <a:ea typeface="MS PGothic" panose="020B0600070205080204" pitchFamily="34" charset="-128"/>
              </a:rPr>
              <a:t>Y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j</a:t>
            </a:r>
            <a:r>
              <a:rPr lang="en-US" altLang="en-US" sz="2400" dirty="0">
                <a:ea typeface="MS PGothic" panose="020B0600070205080204" pitchFamily="34" charset="-128"/>
              </a:rPr>
              <a:t>)… P(</a:t>
            </a:r>
            <a:r>
              <a:rPr lang="en-US" altLang="en-US" sz="2400" dirty="0" err="1">
                <a:ea typeface="MS PGothic" panose="020B0600070205080204" pitchFamily="34" charset="-128"/>
              </a:rPr>
              <a:t>X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d</a:t>
            </a:r>
            <a:r>
              <a:rPr lang="en-US" altLang="en-US" sz="2400" dirty="0">
                <a:ea typeface="MS PGothic" panose="020B0600070205080204" pitchFamily="34" charset="-128"/>
              </a:rPr>
              <a:t>| </a:t>
            </a:r>
            <a:r>
              <a:rPr lang="en-US" altLang="en-US" sz="2400" dirty="0" err="1">
                <a:ea typeface="MS PGothic" panose="020B0600070205080204" pitchFamily="34" charset="-128"/>
              </a:rPr>
              <a:t>Y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j</a:t>
            </a:r>
            <a:r>
              <a:rPr lang="en-US" altLang="en-US" sz="2400" dirty="0">
                <a:ea typeface="MS PGothic" panose="020B0600070205080204" pitchFamily="34" charset="-128"/>
              </a:rPr>
              <a:t>)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Now we can estimate P(X</a:t>
            </a:r>
            <a:r>
              <a:rPr lang="en-US" altLang="en-US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400" dirty="0">
                <a:ea typeface="MS PGothic" panose="020B0600070205080204" pitchFamily="34" charset="-128"/>
              </a:rPr>
              <a:t>| </a:t>
            </a:r>
            <a:r>
              <a:rPr lang="en-US" altLang="en-US" sz="2400" dirty="0" err="1">
                <a:ea typeface="MS PGothic" panose="020B0600070205080204" pitchFamily="34" charset="-128"/>
              </a:rPr>
              <a:t>Y</a:t>
            </a:r>
            <a:r>
              <a:rPr lang="en-US" altLang="en-US" baseline="-25000" dirty="0" err="1">
                <a:ea typeface="MS PGothic" panose="020B0600070205080204" pitchFamily="34" charset="-128"/>
              </a:rPr>
              <a:t>j</a:t>
            </a:r>
            <a:r>
              <a:rPr lang="en-US" altLang="en-US" sz="2400" dirty="0">
                <a:ea typeface="MS PGothic" panose="020B0600070205080204" pitchFamily="34" charset="-128"/>
              </a:rPr>
              <a:t>) for all X</a:t>
            </a:r>
            <a:r>
              <a:rPr lang="en-US" altLang="en-US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400" dirty="0">
                <a:ea typeface="MS PGothic" panose="020B0600070205080204" pitchFamily="34" charset="-128"/>
              </a:rPr>
              <a:t> and </a:t>
            </a:r>
            <a:r>
              <a:rPr lang="en-US" altLang="en-US" sz="2400" dirty="0" err="1">
                <a:ea typeface="MS PGothic" panose="020B0600070205080204" pitchFamily="34" charset="-128"/>
              </a:rPr>
              <a:t>Y</a:t>
            </a:r>
            <a:r>
              <a:rPr lang="en-US" altLang="en-US" baseline="-25000" dirty="0" err="1">
                <a:ea typeface="MS PGothic" panose="020B0600070205080204" pitchFamily="34" charset="-128"/>
              </a:rPr>
              <a:t>j</a:t>
            </a:r>
            <a:r>
              <a:rPr lang="en-US" altLang="en-US" sz="2400" dirty="0">
                <a:ea typeface="MS PGothic" panose="020B0600070205080204" pitchFamily="34" charset="-128"/>
              </a:rPr>
              <a:t> combinations from the training data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Font typeface="Arial" panose="020B0604020202020204" pitchFamily="34" charset="0"/>
              <a:buNone/>
              <a:defRPr/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New point is classified to </a:t>
            </a:r>
            <a:r>
              <a:rPr lang="en-US" altLang="en-US" sz="2400" dirty="0" err="1">
                <a:ea typeface="MS PGothic" panose="020B0600070205080204" pitchFamily="34" charset="-128"/>
              </a:rPr>
              <a:t>Y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j</a:t>
            </a:r>
            <a:r>
              <a:rPr lang="en-US" altLang="en-US" sz="2400" dirty="0">
                <a:ea typeface="MS PGothic" panose="020B0600070205080204" pitchFamily="34" charset="-128"/>
              </a:rPr>
              <a:t> if  P(</a:t>
            </a:r>
            <a:r>
              <a:rPr lang="en-US" altLang="en-US" sz="2400" dirty="0" err="1">
                <a:ea typeface="MS PGothic" panose="020B0600070205080204" pitchFamily="34" charset="-128"/>
              </a:rPr>
              <a:t>Y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j</a:t>
            </a:r>
            <a:r>
              <a:rPr lang="en-US" altLang="en-US" sz="2400" dirty="0">
                <a:ea typeface="MS PGothic" panose="020B0600070205080204" pitchFamily="34" charset="-128"/>
              </a:rPr>
              <a:t>) </a:t>
            </a:r>
            <a:r>
              <a:rPr lang="en-US" altLang="en-US" sz="2400" dirty="0">
                <a:ea typeface="MS PGothic" panose="020B0600070205080204" pitchFamily="34" charset="-128"/>
                <a:sym typeface="Symbol" panose="05050102010706020507" pitchFamily="18" charset="2"/>
              </a:rPr>
              <a:t></a:t>
            </a:r>
            <a:r>
              <a:rPr lang="en-US" altLang="en-US" sz="2400" dirty="0">
                <a:ea typeface="MS PGothic" panose="020B0600070205080204" pitchFamily="34" charset="-128"/>
              </a:rPr>
              <a:t> P(X</a:t>
            </a:r>
            <a:r>
              <a:rPr lang="en-US" altLang="en-US" sz="2400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400" dirty="0">
                <a:ea typeface="MS PGothic" panose="020B0600070205080204" pitchFamily="34" charset="-128"/>
              </a:rPr>
              <a:t>| </a:t>
            </a:r>
            <a:r>
              <a:rPr lang="en-US" altLang="en-US" sz="2400" dirty="0" err="1">
                <a:ea typeface="MS PGothic" panose="020B0600070205080204" pitchFamily="34" charset="-128"/>
              </a:rPr>
              <a:t>Y</a:t>
            </a:r>
            <a:r>
              <a:rPr lang="en-US" altLang="en-US" sz="2400" baseline="-25000" dirty="0" err="1">
                <a:ea typeface="MS PGothic" panose="020B0600070205080204" pitchFamily="34" charset="-128"/>
              </a:rPr>
              <a:t>j</a:t>
            </a:r>
            <a:r>
              <a:rPr lang="en-US" altLang="en-US" sz="2400" dirty="0">
                <a:ea typeface="MS PGothic" panose="020B0600070205080204" pitchFamily="34" charset="-128"/>
              </a:rPr>
              <a:t>)  is maximal.</a:t>
            </a:r>
            <a:endParaRPr lang="en-US" altLang="en-US" dirty="0">
              <a:ea typeface="MS PGothic" panose="020B0600070205080204" pitchFamily="34" charset="-128"/>
            </a:endParaRPr>
          </a:p>
          <a:p>
            <a:pPr>
              <a:buFont typeface="Monotype Sorts" panose="05010101010101010101" pitchFamily="2" charset="2"/>
              <a:buNone/>
              <a:defRPr/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Naïve Bayes on Example Data</a:t>
            </a:r>
            <a:endParaRPr lang="en-US" dirty="0">
              <a:cs typeface="+mj-cs"/>
            </a:endParaRPr>
          </a:p>
        </p:txBody>
      </p:sp>
      <p:graphicFrame>
        <p:nvGraphicFramePr>
          <p:cNvPr id="28674" name="Object 5"/>
          <p:cNvGraphicFramePr>
            <a:graphicFrameLocks noChangeAspect="1"/>
          </p:cNvGraphicFramePr>
          <p:nvPr/>
        </p:nvGraphicFramePr>
        <p:xfrm>
          <a:off x="228600" y="2057400"/>
          <a:ext cx="2971800" cy="353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8" name="VISIO" r:id="rId2" imgW="4392295" imgH="5334000" progId="Visio.Drawing.6">
                  <p:embed/>
                </p:oleObj>
              </mc:Choice>
              <mc:Fallback>
                <p:oleObj name="VISIO" r:id="rId2" imgW="4392295" imgH="53340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228600" y="2057400"/>
                        <a:ext cx="2971800" cy="353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4"/>
          <p:cNvGraphicFramePr>
            <a:graphicFrameLocks noChangeAspect="1"/>
          </p:cNvGraphicFramePr>
          <p:nvPr/>
        </p:nvGraphicFramePr>
        <p:xfrm>
          <a:off x="1981200" y="1447800"/>
          <a:ext cx="52276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9" name="Equation" r:id="rId4" imgW="2832100" imgH="203200" progId="Equation.3">
                  <p:embed/>
                </p:oleObj>
              </mc:Choice>
              <mc:Fallback>
                <p:oleObj name="Equation" r:id="rId4" imgW="28321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447800"/>
                        <a:ext cx="522763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429000" y="2209800"/>
            <a:ext cx="4876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lvl="1" indent="0">
              <a:buSzPct val="75000"/>
              <a:buNone/>
              <a:defRPr/>
            </a:pPr>
            <a:r>
              <a:rPr lang="en-US" altLang="en-US" sz="2000" b="0" dirty="0"/>
              <a:t>P(X | Yes) = </a:t>
            </a:r>
            <a:endParaRPr lang="en-US" altLang="en-US" sz="2000" b="0" dirty="0"/>
          </a:p>
          <a:p>
            <a:pPr lvl="1">
              <a:buSzPct val="75000"/>
              <a:buFont typeface="Arial" panose="020B0604020202020204" pitchFamily="34" charset="0"/>
              <a:buNone/>
              <a:defRPr/>
            </a:pPr>
            <a:r>
              <a:rPr lang="en-US" altLang="en-US" sz="2000" b="0" dirty="0"/>
              <a:t>		P(Refund = No | Yes) x </a:t>
            </a:r>
            <a:endParaRPr lang="en-US" altLang="en-US" sz="2000" b="0" dirty="0"/>
          </a:p>
          <a:p>
            <a:pPr lvl="1">
              <a:buSzPct val="75000"/>
              <a:buFont typeface="Arial" panose="020B0604020202020204" pitchFamily="34" charset="0"/>
              <a:buNone/>
              <a:defRPr/>
            </a:pPr>
            <a:r>
              <a:rPr lang="en-US" altLang="en-US" sz="2000" b="0" dirty="0"/>
              <a:t>		P(Divorced | Yes) x </a:t>
            </a:r>
            <a:endParaRPr lang="en-US" altLang="en-US" sz="2000" b="0" dirty="0"/>
          </a:p>
          <a:p>
            <a:pPr lvl="1">
              <a:buSzPct val="75000"/>
              <a:buFont typeface="Arial" panose="020B0604020202020204" pitchFamily="34" charset="0"/>
              <a:buNone/>
              <a:defRPr/>
            </a:pPr>
            <a:r>
              <a:rPr lang="en-US" altLang="en-US" sz="2000" b="0" dirty="0"/>
              <a:t>		P(Income = 120K | Yes)</a:t>
            </a:r>
            <a:endParaRPr lang="en-US" altLang="en-US" sz="2000" b="0" dirty="0"/>
          </a:p>
          <a:p>
            <a:pPr lvl="1">
              <a:buSzPct val="75000"/>
              <a:buFont typeface="Arial" panose="020B0604020202020204" pitchFamily="34" charset="0"/>
              <a:buNone/>
              <a:defRPr/>
            </a:pPr>
            <a:endParaRPr lang="en-US" altLang="en-US" sz="2000" b="0" dirty="0"/>
          </a:p>
          <a:p>
            <a:pPr marL="0" lvl="1" indent="0">
              <a:buSzPct val="75000"/>
              <a:buNone/>
              <a:defRPr/>
            </a:pPr>
            <a:r>
              <a:rPr lang="en-US" altLang="en-US" sz="2000" b="0" dirty="0"/>
              <a:t>P(X | No) = </a:t>
            </a:r>
            <a:endParaRPr lang="en-US" altLang="en-US" sz="2000" b="0" dirty="0"/>
          </a:p>
          <a:p>
            <a:pPr lvl="1">
              <a:buSzPct val="75000"/>
              <a:buFont typeface="Arial" panose="020B0604020202020204" pitchFamily="34" charset="0"/>
              <a:buNone/>
              <a:defRPr/>
            </a:pPr>
            <a:r>
              <a:rPr lang="en-US" altLang="en-US" sz="2000" b="0" dirty="0"/>
              <a:t>		P(Refund = No | No) x </a:t>
            </a:r>
            <a:endParaRPr lang="en-US" altLang="en-US" sz="2000" b="0" dirty="0"/>
          </a:p>
          <a:p>
            <a:pPr lvl="1">
              <a:buSzPct val="75000"/>
              <a:buFont typeface="Arial" panose="020B0604020202020204" pitchFamily="34" charset="0"/>
              <a:buNone/>
              <a:defRPr/>
            </a:pPr>
            <a:r>
              <a:rPr lang="en-US" altLang="en-US" sz="2000" b="0" dirty="0"/>
              <a:t>		P(Divorced | No) x </a:t>
            </a:r>
            <a:endParaRPr lang="en-US" altLang="en-US" sz="2000" b="0" dirty="0"/>
          </a:p>
          <a:p>
            <a:pPr lvl="1">
              <a:buSzPct val="75000"/>
              <a:buFont typeface="Arial" panose="020B0604020202020204" pitchFamily="34" charset="0"/>
              <a:buNone/>
              <a:defRPr/>
            </a:pPr>
            <a:r>
              <a:rPr lang="en-US" altLang="en-US" sz="2000" b="0" dirty="0"/>
              <a:t>		P(Income = 120K | No)</a:t>
            </a:r>
            <a:endParaRPr lang="en-US" alt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Estimate Probabilities from Data</a:t>
            </a:r>
            <a:endParaRPr lang="en-US">
              <a:cs typeface="+mj-cs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38600" y="990600"/>
            <a:ext cx="4876800" cy="5181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 P(y) = </a:t>
            </a:r>
            <a:r>
              <a:rPr lang="en-US" sz="1800" dirty="0">
                <a:cs typeface="+mn-cs"/>
              </a:rPr>
              <a:t>fraction of instances of class y</a:t>
            </a:r>
            <a:endParaRPr lang="en-US" sz="1800" dirty="0">
              <a:cs typeface="+mn-cs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 dirty="0"/>
              <a:t>e.g.,  P(No) = 7/10, </a:t>
            </a:r>
            <a:br>
              <a:rPr lang="en-US" sz="2000" dirty="0"/>
            </a:br>
            <a:r>
              <a:rPr lang="en-US" sz="2000" dirty="0"/>
              <a:t>	        P(Yes) = 3/10</a:t>
            </a:r>
            <a:endParaRPr lang="en-US" sz="2000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en-US" sz="2000" dirty="0"/>
          </a:p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For categorical attributes:</a:t>
            </a:r>
            <a:br>
              <a:rPr lang="en-US" dirty="0">
                <a:cs typeface="+mn-cs"/>
              </a:rPr>
            </a:br>
            <a:r>
              <a:rPr lang="en-US" sz="900" dirty="0">
                <a:cs typeface="+mn-cs"/>
              </a:rPr>
              <a:t>  </a:t>
            </a:r>
            <a:br>
              <a:rPr lang="en-US" sz="900" dirty="0">
                <a:cs typeface="+mn-cs"/>
              </a:rPr>
            </a:br>
            <a:r>
              <a:rPr lang="en-US" dirty="0">
                <a:cs typeface="+mn-cs"/>
              </a:rPr>
              <a:t>     P(X</a:t>
            </a:r>
            <a:r>
              <a:rPr lang="en-US" baseline="-25000" dirty="0">
                <a:cs typeface="+mn-cs"/>
              </a:rPr>
              <a:t>i</a:t>
            </a:r>
            <a:r>
              <a:rPr lang="en-US" dirty="0">
                <a:cs typeface="+mn-cs"/>
              </a:rPr>
              <a:t> =c| y) = n</a:t>
            </a:r>
            <a:r>
              <a:rPr lang="en-US" baseline="-25000" dirty="0">
                <a:cs typeface="+mn-cs"/>
              </a:rPr>
              <a:t>c</a:t>
            </a:r>
            <a:r>
              <a:rPr lang="en-US" dirty="0">
                <a:cs typeface="+mn-cs"/>
              </a:rPr>
              <a:t>/ n</a:t>
            </a:r>
            <a:r>
              <a:rPr lang="en-US" baseline="-25000" dirty="0">
                <a:cs typeface="+mn-cs"/>
              </a:rPr>
              <a:t> </a:t>
            </a:r>
            <a:endParaRPr lang="en-US" baseline="-25000" dirty="0">
              <a:cs typeface="+mn-cs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endParaRPr lang="en-US" sz="800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400" dirty="0"/>
              <a:t>where |X</a:t>
            </a:r>
            <a:r>
              <a:rPr lang="en-US" sz="2400" baseline="-25000" dirty="0"/>
              <a:t>i</a:t>
            </a:r>
            <a:r>
              <a:rPr lang="en-US" sz="2400" dirty="0"/>
              <a:t> =c| is number of instances having attribute value X</a:t>
            </a:r>
            <a:r>
              <a:rPr lang="en-US" sz="2400" baseline="-25000" dirty="0"/>
              <a:t>i</a:t>
            </a:r>
            <a:r>
              <a:rPr lang="en-US" sz="2400" dirty="0"/>
              <a:t> =c and belonging to class y</a:t>
            </a:r>
            <a:endParaRPr lang="en-US" sz="2400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400" dirty="0"/>
              <a:t>Examples:</a:t>
            </a:r>
            <a:br>
              <a:rPr lang="en-US" sz="2400" dirty="0"/>
            </a:br>
            <a:endParaRPr lang="en-US" sz="800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en-US" sz="2000" dirty="0"/>
              <a:t>	P(Status=</a:t>
            </a:r>
            <a:r>
              <a:rPr lang="en-US" sz="2000" dirty="0" err="1"/>
              <a:t>Married|No</a:t>
            </a:r>
            <a:r>
              <a:rPr lang="en-US" sz="2000" dirty="0"/>
              <a:t>) = 4/7</a:t>
            </a:r>
            <a:br>
              <a:rPr lang="en-US" sz="2000" baseline="-25000" dirty="0"/>
            </a:br>
            <a:r>
              <a:rPr lang="en-US" sz="2000" dirty="0"/>
              <a:t>P(Refund=</a:t>
            </a:r>
            <a:r>
              <a:rPr lang="en-US" sz="2000" dirty="0" err="1"/>
              <a:t>Yes|Yes</a:t>
            </a:r>
            <a:r>
              <a:rPr lang="en-US" sz="2000" dirty="0"/>
              <a:t>)=0</a:t>
            </a:r>
            <a:endParaRPr lang="en-US" sz="2000" baseline="-25000" dirty="0"/>
          </a:p>
        </p:txBody>
      </p:sp>
      <p:graphicFrame>
        <p:nvGraphicFramePr>
          <p:cNvPr id="29700" name="Object 5"/>
          <p:cNvGraphicFramePr>
            <a:graphicFrameLocks noChangeAspect="1"/>
          </p:cNvGraphicFramePr>
          <p:nvPr/>
        </p:nvGraphicFramePr>
        <p:xfrm>
          <a:off x="76200" y="1524000"/>
          <a:ext cx="4389438" cy="427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6" name="VISIO" r:id="rId2" imgW="4392295" imgH="5334000" progId="Visio.Drawing.6">
                  <p:embed/>
                </p:oleObj>
              </mc:Choice>
              <mc:Fallback>
                <p:oleObj name="VISIO" r:id="rId2" imgW="4392295" imgH="53340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971"/>
                      <a:stretch>
                        <a:fillRect/>
                      </a:stretch>
                    </p:blipFill>
                    <p:spPr bwMode="auto">
                      <a:xfrm>
                        <a:off x="76200" y="1524000"/>
                        <a:ext cx="4389438" cy="427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Estimate Probabilities from Data</a:t>
            </a:r>
            <a:endParaRPr lang="en-US">
              <a:cs typeface="+mj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For continuous attributes: </a:t>
            </a:r>
            <a:endParaRPr lang="en-US" dirty="0">
              <a:cs typeface="+mn-cs"/>
            </a:endParaRPr>
          </a:p>
          <a:p>
            <a:pPr marL="990600" lvl="1" indent="-533400">
              <a:buFont typeface="Arial" panose="020B0604020202020204" pitchFamily="34" charset="0"/>
              <a:buChar char="–"/>
              <a:defRPr/>
            </a:pPr>
            <a:r>
              <a:rPr lang="en-US" dirty="0">
                <a:solidFill>
                  <a:srgbClr val="FF0000"/>
                </a:solidFill>
              </a:rPr>
              <a:t>Discretization:</a:t>
            </a:r>
            <a:r>
              <a:rPr lang="en-US" dirty="0"/>
              <a:t> Partition the range into bins:</a:t>
            </a:r>
            <a:endParaRPr lang="en-US" dirty="0"/>
          </a:p>
          <a:p>
            <a:pPr marL="1371600" lvl="2" indent="-457200">
              <a:buFont typeface="Wingdings" panose="05000000000000000000" charset="0"/>
              <a:buChar char="u"/>
              <a:defRPr/>
            </a:pPr>
            <a:r>
              <a:rPr lang="en-US" dirty="0"/>
              <a:t>Replace continuous value with bin value</a:t>
            </a:r>
            <a:endParaRPr lang="en-US" dirty="0"/>
          </a:p>
          <a:p>
            <a:pPr marL="1752600" lvl="3" indent="-381000">
              <a:defRPr/>
            </a:pPr>
            <a:r>
              <a:rPr lang="en-US" dirty="0">
                <a:latin typeface="Times New Roman" panose="02020603050405020304" pitchFamily="18" charset="0"/>
              </a:rPr>
              <a:t>Attribute changed from continuous to ordinal</a:t>
            </a:r>
            <a:endParaRPr lang="en-US" dirty="0">
              <a:latin typeface="Times New Roman" panose="02020603050405020304" pitchFamily="18" charset="0"/>
            </a:endParaRPr>
          </a:p>
          <a:p>
            <a:pPr marL="1752600" lvl="3" indent="-381000">
              <a:defRPr/>
            </a:pPr>
            <a:endParaRPr lang="en-US" dirty="0">
              <a:latin typeface="Times New Roman" panose="02020603050405020304" pitchFamily="18" charset="0"/>
            </a:endParaRPr>
          </a:p>
          <a:p>
            <a:pPr marL="990600" lvl="1" indent="-533400">
              <a:buFont typeface="Arial" panose="020B0604020202020204" pitchFamily="34" charset="0"/>
              <a:buChar char="–"/>
              <a:defRPr/>
            </a:pPr>
            <a:r>
              <a:rPr lang="en-US" dirty="0">
                <a:solidFill>
                  <a:srgbClr val="FF0000"/>
                </a:solidFill>
              </a:rPr>
              <a:t>Probability density estimation:</a:t>
            </a:r>
            <a:endParaRPr lang="en-US" dirty="0">
              <a:solidFill>
                <a:srgbClr val="FF0000"/>
              </a:solidFill>
            </a:endParaRPr>
          </a:p>
          <a:p>
            <a:pPr marL="1371600" lvl="2" indent="-457200">
              <a:buFont typeface="Wingdings" panose="05000000000000000000" charset="0"/>
              <a:buChar char="u"/>
              <a:defRPr/>
            </a:pPr>
            <a:r>
              <a:rPr lang="en-US" dirty="0"/>
              <a:t>Assume attribute follows a normal distribution</a:t>
            </a:r>
            <a:endParaRPr lang="en-US" dirty="0"/>
          </a:p>
          <a:p>
            <a:pPr marL="1371600" lvl="2" indent="-457200">
              <a:buFont typeface="Wingdings" panose="05000000000000000000" charset="0"/>
              <a:buChar char="u"/>
              <a:defRPr/>
            </a:pPr>
            <a:r>
              <a:rPr lang="en-US" dirty="0"/>
              <a:t>Use data to estimate parameters of distribution </a:t>
            </a:r>
            <a:br>
              <a:rPr lang="en-US" dirty="0"/>
            </a:br>
            <a:r>
              <a:rPr lang="en-US" dirty="0"/>
              <a:t>   (e.g., mean and standard deviation)</a:t>
            </a:r>
            <a:endParaRPr lang="en-US" dirty="0"/>
          </a:p>
          <a:p>
            <a:pPr marL="1371600" lvl="2" indent="-457200">
              <a:buFont typeface="Wingdings" panose="05000000000000000000" charset="0"/>
              <a:buChar char="u"/>
              <a:defRPr/>
            </a:pPr>
            <a:r>
              <a:rPr lang="en-US" dirty="0"/>
              <a:t>Once probability distribution is known, use it to estimate the conditional probability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|Y</a:t>
            </a:r>
            <a:r>
              <a:rPr lang="en-US" dirty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Estimate Probabilities from Data</a:t>
            </a:r>
            <a:endParaRPr lang="en-US">
              <a:cs typeface="+mj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5800" y="1066800"/>
            <a:ext cx="4419600" cy="51816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cs typeface="+mn-cs"/>
              </a:rPr>
              <a:t>Normal distribution:</a:t>
            </a:r>
            <a:endParaRPr lang="en-US" sz="2400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–"/>
              <a:defRPr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–"/>
              <a:defRPr/>
            </a:pPr>
            <a:endParaRPr lang="en-US" sz="1000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2400" dirty="0"/>
              <a:t>One for each (</a:t>
            </a:r>
            <a:r>
              <a:rPr lang="en-US" sz="2400" dirty="0" err="1"/>
              <a:t>X</a:t>
            </a:r>
            <a:r>
              <a:rPr lang="en-US" sz="2400" baseline="-25000" dirty="0" err="1"/>
              <a:t>i</a:t>
            </a:r>
            <a:r>
              <a:rPr lang="en-US" sz="2400" dirty="0" err="1"/>
              <a:t>,Y</a:t>
            </a:r>
            <a:r>
              <a:rPr lang="en-US" sz="2400" baseline="-25000" dirty="0" err="1"/>
              <a:t>i</a:t>
            </a:r>
            <a:r>
              <a:rPr lang="en-US" sz="2400" dirty="0"/>
              <a:t>) pair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–"/>
              <a:defRPr/>
            </a:pPr>
            <a:endParaRPr lang="en-US" sz="800" dirty="0"/>
          </a:p>
          <a:p>
            <a:pPr>
              <a:defRPr/>
            </a:pPr>
            <a:r>
              <a:rPr lang="en-US" sz="2400" dirty="0">
                <a:cs typeface="+mn-cs"/>
              </a:rPr>
              <a:t>For (Income, Class=No):</a:t>
            </a:r>
            <a:endParaRPr lang="en-US" sz="2400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2400" dirty="0"/>
              <a:t>If Class=No</a:t>
            </a:r>
            <a:endParaRPr lang="en-US" sz="2400" dirty="0"/>
          </a:p>
          <a:p>
            <a:pPr lvl="2">
              <a:buFont typeface="Wingdings" panose="05000000000000000000" charset="0"/>
              <a:buChar char="u"/>
              <a:defRPr/>
            </a:pPr>
            <a:r>
              <a:rPr lang="en-US" sz="2000" dirty="0"/>
              <a:t> sample mean = 110</a:t>
            </a:r>
            <a:endParaRPr lang="en-US" sz="2000" dirty="0"/>
          </a:p>
          <a:p>
            <a:pPr lvl="2">
              <a:buFont typeface="Wingdings" panose="05000000000000000000" charset="0"/>
              <a:buChar char="u"/>
              <a:defRPr/>
            </a:pPr>
            <a:r>
              <a:rPr lang="en-US" sz="2000" dirty="0"/>
              <a:t> sample variance = 2975</a:t>
            </a:r>
            <a:endParaRPr lang="en-US" sz="2000" dirty="0"/>
          </a:p>
          <a:p>
            <a:pPr lvl="1">
              <a:buFont typeface="Arial" panose="020B0604020202020204" pitchFamily="34" charset="0"/>
              <a:buNone/>
              <a:defRPr/>
            </a:pPr>
            <a:endParaRPr lang="en-US" sz="2400" dirty="0"/>
          </a:p>
        </p:txBody>
      </p:sp>
      <p:graphicFrame>
        <p:nvGraphicFramePr>
          <p:cNvPr id="31747" name="Object 4"/>
          <p:cNvGraphicFramePr>
            <a:graphicFrameLocks noChangeAspect="1"/>
          </p:cNvGraphicFramePr>
          <p:nvPr/>
        </p:nvGraphicFramePr>
        <p:xfrm>
          <a:off x="304800" y="1143000"/>
          <a:ext cx="4195763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5" name="VISIO" r:id="rId2" imgW="4392295" imgH="5334000" progId="Visio.Drawing.6">
                  <p:embed/>
                </p:oleObj>
              </mc:Choice>
              <mc:Fallback>
                <p:oleObj name="VISIO" r:id="rId2" imgW="4392295" imgH="53340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895"/>
                      <a:stretch>
                        <a:fillRect/>
                      </a:stretch>
                    </p:blipFill>
                    <p:spPr bwMode="auto">
                      <a:xfrm>
                        <a:off x="304800" y="1143000"/>
                        <a:ext cx="4195763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5"/>
          <p:cNvGraphicFramePr>
            <a:graphicFrameLocks noChangeAspect="1"/>
          </p:cNvGraphicFramePr>
          <p:nvPr/>
        </p:nvGraphicFramePr>
        <p:xfrm>
          <a:off x="5181600" y="1512888"/>
          <a:ext cx="33528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6" name="Equation" r:id="rId4" imgW="1803400" imgH="584200" progId="Equation.3">
                  <p:embed/>
                </p:oleObj>
              </mc:Choice>
              <mc:Fallback>
                <p:oleObj name="Equation" r:id="rId4" imgW="1803400" imgH="584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512888"/>
                        <a:ext cx="33528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6"/>
          <p:cNvGraphicFramePr>
            <a:graphicFrameLocks noChangeAspect="1"/>
          </p:cNvGraphicFramePr>
          <p:nvPr/>
        </p:nvGraphicFramePr>
        <p:xfrm>
          <a:off x="236538" y="5257800"/>
          <a:ext cx="8520112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7" name="Equation" r:id="rId6" imgW="6350000" imgH="787400" progId="Equation.3">
                  <p:embed/>
                </p:oleObj>
              </mc:Choice>
              <mc:Fallback>
                <p:oleObj name="Equation" r:id="rId6" imgW="6350000" imgH="787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5257800"/>
                        <a:ext cx="8520112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MS PGothic" panose="020B0600070205080204" pitchFamily="34" charset="-128"/>
              </a:rPr>
              <a:t>Example of Naïve Bayes Classifier</a:t>
            </a:r>
            <a:endParaRPr lang="en-US" altLang="en-US">
              <a:ea typeface="MS PGothic" panose="020B0600070205080204" pitchFamily="34" charset="-128"/>
            </a:endParaRPr>
          </a:p>
        </p:txBody>
      </p:sp>
      <p:graphicFrame>
        <p:nvGraphicFramePr>
          <p:cNvPr id="32770" name="Object 4"/>
          <p:cNvGraphicFramePr>
            <a:graphicFrameLocks noChangeAspect="1"/>
          </p:cNvGraphicFramePr>
          <p:nvPr/>
        </p:nvGraphicFramePr>
        <p:xfrm>
          <a:off x="1143000" y="1357313"/>
          <a:ext cx="73548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0" name="Equation" r:id="rId2" imgW="2832100" imgH="203200" progId="Equation.3">
                  <p:embed/>
                </p:oleObj>
              </mc:Choice>
              <mc:Fallback>
                <p:oleObj name="Equation" r:id="rId2" imgW="28321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357313"/>
                        <a:ext cx="73548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733800" y="2590800"/>
            <a:ext cx="49530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b="0" dirty="0"/>
              <a:t>P(X | No) = P(Refund=No | No)</a:t>
            </a:r>
            <a:br>
              <a:rPr lang="en-US" altLang="en-US" sz="1600" b="0" dirty="0"/>
            </a:br>
            <a:r>
              <a:rPr lang="en-US" altLang="en-US" sz="1600" b="0" dirty="0"/>
              <a:t>		 </a:t>
            </a:r>
            <a:r>
              <a:rPr lang="en-US" altLang="en-US" sz="1600" b="0" dirty="0">
                <a:sym typeface="Symbol" panose="05050102010706020507" pitchFamily="18" charset="2"/>
              </a:rPr>
              <a:t> P(Divorced | </a:t>
            </a:r>
            <a:r>
              <a:rPr lang="en-US" altLang="en-US" sz="1600" b="0" dirty="0"/>
              <a:t>No)</a:t>
            </a:r>
            <a:br>
              <a:rPr lang="en-US" altLang="en-US" sz="1600" b="0" dirty="0"/>
            </a:br>
            <a:r>
              <a:rPr lang="en-US" altLang="en-US" sz="1600" b="0" dirty="0"/>
              <a:t>		 </a:t>
            </a:r>
            <a:r>
              <a:rPr lang="en-US" altLang="en-US" sz="1600" b="0" dirty="0">
                <a:sym typeface="Symbol" panose="05050102010706020507" pitchFamily="18" charset="2"/>
              </a:rPr>
              <a:t></a:t>
            </a:r>
            <a:r>
              <a:rPr lang="en-US" altLang="en-US" sz="1600" b="0" dirty="0"/>
              <a:t> P(Income=120K | No)</a:t>
            </a:r>
            <a:br>
              <a:rPr lang="en-US" altLang="en-US" sz="1600" b="0" dirty="0"/>
            </a:br>
            <a:r>
              <a:rPr lang="en-US" altLang="en-US" sz="1600" b="0" dirty="0"/>
              <a:t>	              = 4/7 </a:t>
            </a:r>
            <a:r>
              <a:rPr lang="en-US" altLang="en-US" sz="1600" b="0" dirty="0">
                <a:sym typeface="Symbol" panose="05050102010706020507" pitchFamily="18" charset="2"/>
              </a:rPr>
              <a:t> 1/7  0.0072 = 0.0006</a:t>
            </a:r>
            <a:endParaRPr lang="en-US" altLang="en-US" sz="1600" b="0" dirty="0"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None/>
              <a:defRPr/>
            </a:pPr>
            <a:endParaRPr lang="en-US" altLang="en-US" sz="800" b="0" dirty="0">
              <a:sym typeface="Symbol" panose="05050102010706020507" pitchFamily="18" charset="2"/>
            </a:endParaRPr>
          </a:p>
          <a:p>
            <a: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1600" b="0" dirty="0"/>
              <a:t>P(X | Yes) = P(Refund=No | Yes)</a:t>
            </a:r>
            <a:br>
              <a:rPr lang="en-US" altLang="en-US" sz="1600" b="0" dirty="0"/>
            </a:br>
            <a:r>
              <a:rPr lang="en-US" altLang="en-US" sz="1600" b="0" dirty="0"/>
              <a:t>   	                  </a:t>
            </a:r>
            <a:r>
              <a:rPr lang="en-US" altLang="en-US" sz="1600" b="0" dirty="0">
                <a:sym typeface="Symbol" panose="05050102010706020507" pitchFamily="18" charset="2"/>
              </a:rPr>
              <a:t> P(Divorced | </a:t>
            </a:r>
            <a:r>
              <a:rPr lang="en-US" altLang="en-US" sz="1600" b="0" dirty="0"/>
              <a:t>Yes)</a:t>
            </a:r>
            <a:br>
              <a:rPr lang="en-US" altLang="en-US" sz="1600" b="0" dirty="0"/>
            </a:br>
            <a:r>
              <a:rPr lang="en-US" altLang="en-US" sz="1600" b="0" dirty="0"/>
              <a:t>   	                  </a:t>
            </a:r>
            <a:r>
              <a:rPr lang="en-US" altLang="en-US" sz="1600" b="0" dirty="0">
                <a:sym typeface="Symbol" panose="05050102010706020507" pitchFamily="18" charset="2"/>
              </a:rPr>
              <a:t></a:t>
            </a:r>
            <a:r>
              <a:rPr lang="en-US" altLang="en-US" sz="1600" b="0" dirty="0"/>
              <a:t> P(Income=120K | Yes)</a:t>
            </a:r>
            <a:br>
              <a:rPr lang="en-US" altLang="en-US" sz="1600" b="0" dirty="0"/>
            </a:br>
            <a:r>
              <a:rPr lang="en-US" altLang="en-US" sz="1600" b="0" dirty="0"/>
              <a:t>	               = 1 </a:t>
            </a:r>
            <a:r>
              <a:rPr lang="en-US" altLang="en-US" sz="1600" b="0" dirty="0">
                <a:sym typeface="Symbol" panose="05050102010706020507" pitchFamily="18" charset="2"/>
              </a:rPr>
              <a:t> 1/3  1.2  10</a:t>
            </a:r>
            <a:r>
              <a:rPr lang="en-US" altLang="en-US" sz="1600" b="0" baseline="30000" dirty="0">
                <a:sym typeface="Symbol" panose="05050102010706020507" pitchFamily="18" charset="2"/>
              </a:rPr>
              <a:t>-9</a:t>
            </a:r>
            <a:r>
              <a:rPr lang="en-US" altLang="en-US" sz="1600" b="0" dirty="0">
                <a:sym typeface="Symbol" panose="05050102010706020507" pitchFamily="18" charset="2"/>
              </a:rPr>
              <a:t> = 4  10</a:t>
            </a:r>
            <a:r>
              <a:rPr lang="en-US" altLang="en-US" sz="1600" b="0" baseline="30000" dirty="0">
                <a:sym typeface="Symbol" panose="05050102010706020507" pitchFamily="18" charset="2"/>
              </a:rPr>
              <a:t>-10</a:t>
            </a:r>
            <a:endParaRPr lang="en-US" altLang="en-US" sz="1600" b="0" baseline="30000" dirty="0"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None/>
              <a:defRPr/>
            </a:pPr>
            <a:endParaRPr lang="en-US" altLang="en-US" sz="800" b="0" dirty="0">
              <a:sym typeface="Symbol" panose="05050102010706020507" pitchFamily="18" charset="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None/>
              <a:defRPr/>
            </a:pPr>
            <a:r>
              <a:rPr lang="en-US" altLang="en-US" sz="1800" b="0" dirty="0"/>
              <a:t>Since P(</a:t>
            </a:r>
            <a:r>
              <a:rPr lang="en-US" altLang="en-US" sz="1800" b="0" dirty="0" err="1"/>
              <a:t>X|No</a:t>
            </a:r>
            <a:r>
              <a:rPr lang="en-US" altLang="en-US" sz="1800" b="0" dirty="0"/>
              <a:t>)P(No) &gt; P(</a:t>
            </a:r>
            <a:r>
              <a:rPr lang="en-US" altLang="en-US" sz="1800" b="0" dirty="0" err="1"/>
              <a:t>X|Yes</a:t>
            </a:r>
            <a:r>
              <a:rPr lang="en-US" altLang="en-US" sz="1800" b="0" dirty="0"/>
              <a:t>)P(Yes)</a:t>
            </a:r>
            <a:endParaRPr lang="en-US" altLang="en-US" sz="18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None/>
              <a:defRPr/>
            </a:pPr>
            <a:r>
              <a:rPr lang="en-US" altLang="en-US" sz="1800" b="0" dirty="0"/>
              <a:t>Therefore P(</a:t>
            </a:r>
            <a:r>
              <a:rPr lang="en-US" altLang="en-US" sz="1800" b="0" dirty="0" err="1"/>
              <a:t>No|X</a:t>
            </a:r>
            <a:r>
              <a:rPr lang="en-US" altLang="en-US" sz="1800" b="0" dirty="0"/>
              <a:t>) &gt; P(</a:t>
            </a:r>
            <a:r>
              <a:rPr lang="en-US" altLang="en-US" sz="1800" b="0" dirty="0" err="1"/>
              <a:t>Yes|X</a:t>
            </a:r>
            <a:r>
              <a:rPr lang="en-US" altLang="en-US" sz="1800" b="0" dirty="0"/>
              <a:t>)</a:t>
            </a:r>
            <a:br>
              <a:rPr lang="en-US" altLang="en-US" sz="1800" b="0" dirty="0"/>
            </a:br>
            <a:r>
              <a:rPr lang="en-US" altLang="en-US" sz="1800" b="0" dirty="0"/>
              <a:t>      </a:t>
            </a:r>
            <a:r>
              <a:rPr lang="en-US" altLang="en-US" sz="2000" b="0" dirty="0">
                <a:sym typeface="Symbol" panose="05050102010706020507" pitchFamily="18" charset="2"/>
              </a:rPr>
              <a:t>=&gt; Class = No</a:t>
            </a:r>
            <a:endParaRPr lang="en-US" altLang="en-US" sz="2000" b="0" dirty="0">
              <a:sym typeface="Symbol" panose="05050102010706020507" pitchFamily="18" charset="2"/>
            </a:endParaRP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2773" name="TextBox 1"/>
          <p:cNvSpPr txBox="1">
            <a:spLocks noChangeArrowheads="1"/>
          </p:cNvSpPr>
          <p:nvPr/>
        </p:nvSpPr>
        <p:spPr bwMode="auto">
          <a:xfrm>
            <a:off x="228600" y="1981200"/>
            <a:ext cx="3316288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Naïve  Bayes Classifier:</a:t>
            </a:r>
            <a:endParaRPr lang="en-US" altLang="en-US" sz="16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Yes | No) = 3/7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No | No) = 4/7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Yes | Yes) = 0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No | Yes) = 1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Single | No) = 2/7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Divorced | No) = 1/7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Married | No) = 4/7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Single | Yes) = 2/3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Divorced | Yes) = 1/3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Married | Yes) = 0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For Taxable Income: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If class = No: sample mean = 110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	   sample variance = 2975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If class = Yes: sample mean = 90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	   sample variance = 25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763000" cy="533400"/>
          </a:xfrm>
        </p:spPr>
        <p:txBody>
          <a:bodyPr/>
          <a:lstStyle/>
          <a:p>
            <a:pPr>
              <a:defRPr/>
            </a:pPr>
            <a:r>
              <a:rPr lang="en-US" altLang="en-US" sz="2400" dirty="0" smtClean="0">
                <a:ea typeface="MS PGothic" panose="020B0600070205080204" pitchFamily="34" charset="-128"/>
              </a:rPr>
              <a:t>Naïve </a:t>
            </a:r>
            <a:r>
              <a:rPr lang="en-US" altLang="en-US" sz="2400" dirty="0">
                <a:ea typeface="MS PGothic" panose="020B0600070205080204" pitchFamily="34" charset="-128"/>
              </a:rPr>
              <a:t>Bayes </a:t>
            </a:r>
            <a:r>
              <a:rPr lang="en-US" altLang="en-US" sz="2400" dirty="0" smtClean="0">
                <a:ea typeface="MS PGothic" panose="020B0600070205080204" pitchFamily="34" charset="-128"/>
              </a:rPr>
              <a:t>Classifier can make decisions with partial information about attributes in the test record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733800" y="1143000"/>
            <a:ext cx="54102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P(Yes) = 3/10</a:t>
            </a:r>
            <a:endParaRPr lang="en-US" altLang="en-US" sz="16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P(No) = </a:t>
            </a:r>
            <a:r>
              <a:rPr lang="en-US" altLang="en-US" sz="1600" b="0" dirty="0" smtClean="0"/>
              <a:t>7/10</a:t>
            </a:r>
            <a:endParaRPr lang="en-US" altLang="en-US" sz="1600" b="0" dirty="0" smtClean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en-US" altLang="en-US" sz="500" b="0" dirty="0" smtClean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dirty="0" smtClean="0"/>
              <a:t>If we only know that marital status is Divorced, then</a:t>
            </a:r>
            <a:r>
              <a:rPr lang="en-US" altLang="en-US" sz="1600" b="0" dirty="0" smtClean="0"/>
              <a:t>:</a:t>
            </a:r>
            <a:endParaRPr lang="en-US" altLang="en-US" sz="1600" b="0" dirty="0"/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P(Yes | Divorced) = 1/3 x 3/10 / P(Divorced)</a:t>
            </a:r>
            <a:endParaRPr lang="en-US" altLang="en-US" sz="16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P(No | Divorced) = 1/7 x 7/10 / P(Divorced</a:t>
            </a:r>
            <a:r>
              <a:rPr lang="en-US" altLang="en-US" sz="1600" b="0" dirty="0" smtClean="0"/>
              <a:t>)</a:t>
            </a:r>
            <a:endParaRPr lang="en-US" altLang="en-US" sz="1600" b="0" dirty="0" smtClean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en-US" altLang="en-US" sz="5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dirty="0">
                <a:sym typeface="Symbol" panose="05050102010706020507" pitchFamily="18" charset="2"/>
              </a:rPr>
              <a:t>If we also know that Refund = No, then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 smtClean="0"/>
              <a:t>     </a:t>
            </a:r>
            <a:r>
              <a:rPr lang="en-US" altLang="en-US" sz="1600" b="0" dirty="0"/>
              <a:t>P(Yes | Refund = No, Divorced) = 1 x 1/3 x 3/10 / 		          P(Divorced, Refund = No)</a:t>
            </a:r>
            <a:endParaRPr lang="en-US" altLang="en-US" sz="16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>
                <a:solidFill>
                  <a:srgbClr val="000000"/>
                </a:solidFill>
              </a:rPr>
              <a:t>     P(No | Refund = No, Divorced) = 4/7 x 1/7 x 7/10 /    		          </a:t>
            </a:r>
            <a:r>
              <a:rPr lang="en-US" altLang="en-US" sz="1600" b="0" dirty="0"/>
              <a:t>P(Divorced, Refund = No</a:t>
            </a:r>
            <a:r>
              <a:rPr lang="en-US" altLang="en-US" sz="1600" b="0" dirty="0" smtClean="0"/>
              <a:t>)</a:t>
            </a:r>
            <a:endParaRPr lang="en-US" altLang="en-US" sz="1600" b="0" dirty="0" smtClean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dirty="0">
                <a:sym typeface="Symbol" panose="05050102010706020507" pitchFamily="18" charset="2"/>
              </a:rPr>
              <a:t>If we also know that </a:t>
            </a:r>
            <a:r>
              <a:rPr lang="en-US" altLang="en-US" sz="1600" dirty="0" smtClean="0">
                <a:sym typeface="Symbol" panose="05050102010706020507" pitchFamily="18" charset="2"/>
              </a:rPr>
              <a:t>Taxable Income </a:t>
            </a:r>
            <a:r>
              <a:rPr lang="en-US" altLang="en-US" sz="1600" dirty="0">
                <a:sym typeface="Symbol" panose="05050102010706020507" pitchFamily="18" charset="2"/>
              </a:rPr>
              <a:t>= </a:t>
            </a:r>
            <a:r>
              <a:rPr lang="en-US" altLang="en-US" sz="1600" dirty="0" smtClean="0">
                <a:sym typeface="Symbol" panose="05050102010706020507" pitchFamily="18" charset="2"/>
              </a:rPr>
              <a:t>120, </a:t>
            </a:r>
            <a:r>
              <a:rPr lang="en-US" altLang="en-US" sz="1600" dirty="0">
                <a:sym typeface="Symbol" panose="05050102010706020507" pitchFamily="18" charset="2"/>
              </a:rPr>
              <a:t>then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/>
              <a:t>     P(Yes | Refund = No, </a:t>
            </a:r>
            <a:r>
              <a:rPr lang="en-US" altLang="en-US" sz="1600" b="0" dirty="0" smtClean="0"/>
              <a:t>Divorced, Income = 120) =</a:t>
            </a:r>
            <a:br>
              <a:rPr lang="en-US" altLang="en-US" sz="1600" b="0" dirty="0" smtClean="0"/>
            </a:br>
            <a:r>
              <a:rPr lang="en-US" altLang="en-US" sz="1600" b="0" dirty="0"/>
              <a:t>                                              1.2 x</a:t>
            </a:r>
            <a:r>
              <a:rPr lang="en-US" altLang="en-US" sz="1600" b="0" dirty="0" smtClean="0"/>
              <a:t>10</a:t>
            </a:r>
            <a:r>
              <a:rPr lang="en-US" altLang="en-US" sz="1600" b="0" baseline="30000" dirty="0" smtClean="0"/>
              <a:t>-9</a:t>
            </a:r>
            <a:r>
              <a:rPr lang="en-US" altLang="en-US" sz="1600" b="0" dirty="0" smtClean="0"/>
              <a:t> x  1 x 1/3 </a:t>
            </a:r>
            <a:r>
              <a:rPr lang="en-US" altLang="en-US" sz="1600" b="0" dirty="0"/>
              <a:t>x 3/10 </a:t>
            </a:r>
            <a:r>
              <a:rPr lang="en-US" altLang="en-US" sz="1600" b="0" dirty="0" smtClean="0"/>
              <a:t>/     	P(Divorced</a:t>
            </a:r>
            <a:r>
              <a:rPr lang="en-US" altLang="en-US" sz="1600" b="0" dirty="0"/>
              <a:t>, Refund = </a:t>
            </a:r>
            <a:r>
              <a:rPr lang="en-US" altLang="en-US" sz="1600" b="0" dirty="0" smtClean="0"/>
              <a:t>No,  Income = 120 )</a:t>
            </a:r>
            <a:endParaRPr lang="en-US" altLang="en-US" sz="16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600" b="0" dirty="0">
                <a:solidFill>
                  <a:srgbClr val="000000"/>
                </a:solidFill>
              </a:rPr>
              <a:t>     P(No | Refund </a:t>
            </a:r>
            <a:r>
              <a:rPr lang="en-US" altLang="en-US" sz="1600" b="0" dirty="0" smtClean="0">
                <a:solidFill>
                  <a:srgbClr val="000000"/>
                </a:solidFill>
              </a:rPr>
              <a:t>= </a:t>
            </a:r>
            <a:r>
              <a:rPr lang="en-US" altLang="en-US" sz="1600" b="0" dirty="0">
                <a:solidFill>
                  <a:srgbClr val="000000"/>
                </a:solidFill>
              </a:rPr>
              <a:t>No, </a:t>
            </a:r>
            <a:r>
              <a:rPr lang="en-US" altLang="en-US" sz="1600" b="0" dirty="0" smtClean="0">
                <a:solidFill>
                  <a:srgbClr val="000000"/>
                </a:solidFill>
              </a:rPr>
              <a:t>Divorced Income = 120) </a:t>
            </a:r>
            <a:r>
              <a:rPr lang="en-US" altLang="en-US" sz="1600" b="0" dirty="0">
                <a:solidFill>
                  <a:srgbClr val="000000"/>
                </a:solidFill>
              </a:rPr>
              <a:t>= </a:t>
            </a:r>
            <a:br>
              <a:rPr lang="en-US" altLang="en-US" sz="1600" b="0" dirty="0" smtClean="0">
                <a:solidFill>
                  <a:srgbClr val="000000"/>
                </a:solidFill>
              </a:rPr>
            </a:br>
            <a:r>
              <a:rPr lang="en-US" altLang="en-US" sz="1600" b="0" dirty="0">
                <a:solidFill>
                  <a:srgbClr val="000000"/>
                </a:solidFill>
              </a:rPr>
              <a:t>                                       </a:t>
            </a:r>
            <a:r>
              <a:rPr lang="en-US" altLang="en-US" sz="1600" b="0" dirty="0" smtClean="0">
                <a:solidFill>
                  <a:srgbClr val="000000"/>
                </a:solidFill>
              </a:rPr>
              <a:t>0.0072  x 4/7 </a:t>
            </a:r>
            <a:r>
              <a:rPr lang="en-US" altLang="en-US" sz="1600" b="0" dirty="0">
                <a:solidFill>
                  <a:srgbClr val="000000"/>
                </a:solidFill>
              </a:rPr>
              <a:t>x 1/7 x 7/10 /   </a:t>
            </a:r>
            <a:r>
              <a:rPr lang="en-US" altLang="en-US" sz="1600" b="0" dirty="0" smtClean="0">
                <a:solidFill>
                  <a:srgbClr val="000000"/>
                </a:solidFill>
              </a:rPr>
              <a:t>             	</a:t>
            </a:r>
            <a:r>
              <a:rPr lang="en-US" altLang="en-US" sz="1600" b="0" dirty="0" smtClean="0"/>
              <a:t>P(Divorced</a:t>
            </a:r>
            <a:r>
              <a:rPr lang="en-US" altLang="en-US" sz="1600" b="0" dirty="0"/>
              <a:t>, Refund = </a:t>
            </a:r>
            <a:r>
              <a:rPr lang="en-US" altLang="en-US" sz="1600" b="0" dirty="0" smtClean="0"/>
              <a:t>No, Income = 120)</a:t>
            </a:r>
            <a:endParaRPr lang="en-US" altLang="en-US" sz="16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en-US" altLang="en-US" sz="1600" b="0" dirty="0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3316288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 smtClean="0">
                <a:solidFill>
                  <a:srgbClr val="FF0000"/>
                </a:solidFill>
              </a:rPr>
              <a:t>Even in absence of information about any attributes, we can use </a:t>
            </a:r>
            <a:r>
              <a:rPr lang="en-US" dirty="0" err="1" smtClean="0">
                <a:solidFill>
                  <a:srgbClr val="FF0000"/>
                </a:solidFill>
              </a:rPr>
              <a:t>Apriori</a:t>
            </a:r>
            <a:r>
              <a:rPr lang="en-US" dirty="0" smtClean="0">
                <a:solidFill>
                  <a:srgbClr val="FF0000"/>
                </a:solidFill>
              </a:rPr>
              <a:t> Probabilities of Class Variable: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797" name="TextBox 1"/>
          <p:cNvSpPr txBox="1">
            <a:spLocks noChangeArrowheads="1"/>
          </p:cNvSpPr>
          <p:nvPr/>
        </p:nvSpPr>
        <p:spPr bwMode="auto">
          <a:xfrm>
            <a:off x="228600" y="1955800"/>
            <a:ext cx="3316288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Naïve  Bayes Classifier:</a:t>
            </a:r>
            <a:endParaRPr lang="en-US" altLang="en-US" sz="16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Yes | No) = 3/7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No | No) = 4/7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Yes | Yes) = 0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No | Yes) = 1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Single | No) = 2/7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Divorced | No) = 1/7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Married | No) = 4/7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Single | Yes) = 2/3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Divorced | Yes) = 1/3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Married | Yes) = 0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For Taxable Income: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If class = No: sample mean = 110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	   sample variance = 2975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If class = Yes: sample mean = 90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	   sample variance = 25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MS PGothic" panose="020B0600070205080204" pitchFamily="34" charset="-128"/>
              </a:rPr>
              <a:t>Issues with Naïve Bayes Classifier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886200" y="2133600"/>
            <a:ext cx="54102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P(Yes) = 3/10</a:t>
            </a:r>
            <a:endParaRPr lang="en-US" altLang="en-US" sz="18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P(No) = 7/10</a:t>
            </a:r>
            <a:endParaRPr lang="en-US" altLang="en-US" sz="1800" b="0" dirty="0"/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</a:t>
            </a:r>
            <a:endParaRPr lang="en-US" altLang="en-US" sz="1800" b="0" dirty="0"/>
          </a:p>
          <a:p>
            <a:pPr marL="0" inden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P(Yes | Married) = 0 x 3/10 / P(Married)</a:t>
            </a:r>
            <a:endParaRPr lang="en-US" altLang="en-US" sz="18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r>
              <a:rPr lang="en-US" altLang="en-US" sz="1800" b="0" dirty="0"/>
              <a:t>     P(No | Married) = 4/7 x 7/10 / P(Married)</a:t>
            </a:r>
            <a:endParaRPr lang="en-US" altLang="en-US" sz="1800" b="0" dirty="0"/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defRPr/>
            </a:pPr>
            <a:endParaRPr lang="en-US" altLang="en-US" sz="900" b="0" dirty="0">
              <a:sym typeface="Symbol" panose="05050102010706020507" pitchFamily="18" charset="2"/>
            </a:endParaRPr>
          </a:p>
        </p:txBody>
      </p:sp>
      <p:sp>
        <p:nvSpPr>
          <p:cNvPr id="34819" name="TextBox 1"/>
          <p:cNvSpPr txBox="1">
            <a:spLocks noChangeArrowheads="1"/>
          </p:cNvSpPr>
          <p:nvPr/>
        </p:nvSpPr>
        <p:spPr bwMode="auto">
          <a:xfrm>
            <a:off x="228600" y="1955800"/>
            <a:ext cx="3316288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/>
              <a:t>Naïve  Bayes Classifier:</a:t>
            </a:r>
            <a:endParaRPr lang="en-US" altLang="en-US" sz="16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Yes | No) = 3/7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No | No) = 4/7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Yes | Yes) = 0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P(Refund = No | Yes) = 1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Single | No) = 2/7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Divorced | No) = 1/7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Married | No) = 4/7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Single | Yes) = 2/3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Divorced | Yes) = 1/3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P(Marital Status = Married | Yes) = 0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For Taxable Income: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If class = No: sample mean = 110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	   sample variance = 2975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If class = Yes: sample mean = 90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 dirty="0"/>
              <a:t>	   sample variance = 25</a:t>
            </a:r>
            <a:endParaRPr lang="en-US" altLang="en-US" sz="14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 dirty="0"/>
          </a:p>
        </p:txBody>
      </p:sp>
      <p:sp>
        <p:nvSpPr>
          <p:cNvPr id="2" name="TextBox 1"/>
          <p:cNvSpPr txBox="1"/>
          <p:nvPr/>
        </p:nvSpPr>
        <p:spPr>
          <a:xfrm>
            <a:off x="1752600" y="1292423"/>
            <a:ext cx="2686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 X = (Married)</a:t>
            </a:r>
            <a:endParaRPr lang="en-US" sz="1800" dirty="0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28600" y="990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800" dirty="0">
                <a:solidFill>
                  <a:srgbClr val="FF0000"/>
                </a:solidFill>
              </a:rPr>
              <a:t>Given a Test Record: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MS PGothic" panose="020B0600070205080204" pitchFamily="34" charset="-128"/>
              </a:rPr>
              <a:t>Issues with Naïve Bayes Classifier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buFont typeface="Monotype Sorts" panose="05010101010101010101" pitchFamily="2" charset="2"/>
              <a:buNone/>
              <a:defRPr/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lnSpc>
                <a:spcPct val="130000"/>
              </a:lnSpc>
              <a:buFont typeface="Monotype Sorts" panose="05010101010101010101" pitchFamily="2" charset="2"/>
              <a:buChar char="l"/>
              <a:defRPr/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lnSpc>
                <a:spcPct val="130000"/>
              </a:lnSpc>
              <a:buFont typeface="Monotype Sorts" panose="05010101010101010101" pitchFamily="2" charset="2"/>
              <a:buChar char="l"/>
              <a:defRPr/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lnSpc>
                <a:spcPct val="130000"/>
              </a:lnSpc>
              <a:buFont typeface="Monotype Sorts" panose="05010101010101010101" pitchFamily="2" charset="2"/>
              <a:buChar char="l"/>
              <a:defRPr/>
            </a:pPr>
            <a:endParaRPr lang="en-US" altLang="en-US" sz="2400" dirty="0">
              <a:ea typeface="MS PGothic" panose="020B0600070205080204" pitchFamily="34" charset="-128"/>
            </a:endParaRPr>
          </a:p>
        </p:txBody>
      </p:sp>
      <p:graphicFrame>
        <p:nvGraphicFramePr>
          <p:cNvPr id="35843" name="Object 1"/>
          <p:cNvGraphicFramePr>
            <a:graphicFrameLocks noChangeAspect="1"/>
          </p:cNvGraphicFramePr>
          <p:nvPr/>
        </p:nvGraphicFramePr>
        <p:xfrm>
          <a:off x="409575" y="1441450"/>
          <a:ext cx="3681413" cy="354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6" name="VISIO" r:id="rId2" imgW="4392295" imgH="5334000" progId="Visio.Drawing.6">
                  <p:embed/>
                </p:oleObj>
              </mc:Choice>
              <mc:Fallback>
                <p:oleObj name="VISIO" r:id="rId2" imgW="4392295" imgH="5334000" progId="Visio.Drawing.6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895"/>
                      <a:stretch>
                        <a:fillRect/>
                      </a:stretch>
                    </p:blipFill>
                    <p:spPr bwMode="auto">
                      <a:xfrm>
                        <a:off x="409575" y="1441450"/>
                        <a:ext cx="3681413" cy="354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Box 4"/>
          <p:cNvSpPr txBox="1">
            <a:spLocks noChangeArrowheads="1"/>
          </p:cNvSpPr>
          <p:nvPr/>
        </p:nvSpPr>
        <p:spPr bwMode="auto">
          <a:xfrm>
            <a:off x="4419600" y="1062038"/>
            <a:ext cx="3316288" cy="400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Naïve  Bayes Classifier:</a:t>
            </a:r>
            <a:endParaRPr lang="en-US" altLang="en-US" sz="16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Yes | No) = 2/6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No | No) = 4/6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Yes | Yes) = 0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P(Refund = No | Yes) = 1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Single | No) = 2/6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Divorced | No) = 0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Married | No) = 4/6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Single | Yes) = 2/3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Divorced | Yes) = 1/3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P(Marital Status = Married | Yes) = 0/3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For Taxable Income: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If class = No: sample mean = 91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	   sample variance = 685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If class = No: sample mean = 90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0"/>
              <a:t>	   sample variance = 25</a:t>
            </a:r>
            <a:endParaRPr lang="en-US" altLang="en-US" sz="14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28600" y="1090613"/>
            <a:ext cx="36576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600" b="0" dirty="0"/>
              <a:t>Consider the table with </a:t>
            </a:r>
            <a:r>
              <a:rPr lang="en-US" sz="1600" b="0" dirty="0" err="1"/>
              <a:t>Tid</a:t>
            </a:r>
            <a:r>
              <a:rPr lang="en-US" sz="1600" b="0" dirty="0"/>
              <a:t> = 7 deleted</a:t>
            </a:r>
            <a:endParaRPr lang="en-US" sz="1600" b="0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19100" y="5064125"/>
            <a:ext cx="4506913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Given X = (Refund = Yes, Divorced, 120K)</a:t>
            </a:r>
            <a:endParaRPr lang="en-US" altLang="en-US" sz="1800" b="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P(X | No) = 2/6 X 0 X 0.0083 = 0</a:t>
            </a:r>
            <a:endParaRPr lang="en-US" altLang="en-US" sz="20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P(X | Yes) = 0 X 1/3 X 1.2 X 10</a:t>
            </a:r>
            <a:r>
              <a:rPr lang="en-US" altLang="en-US" sz="2000" b="0" baseline="30000"/>
              <a:t>-9</a:t>
            </a:r>
            <a:r>
              <a:rPr lang="en-US" altLang="en-US" sz="2000" b="0"/>
              <a:t> = 0</a:t>
            </a:r>
            <a:endParaRPr lang="en-US" altLang="en-US" sz="20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 b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964113" y="5181600"/>
            <a:ext cx="38100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Naïve Bayes will not be able to classify X as Yes or No!</a:t>
            </a:r>
            <a:endParaRPr lang="en-US" altLang="en-US" sz="180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/>
          <p:cNvCxnSpPr>
            <a:cxnSpLocks noChangeShapeType="1"/>
          </p:cNvCxnSpPr>
          <p:nvPr/>
        </p:nvCxnSpPr>
        <p:spPr bwMode="auto">
          <a:xfrm>
            <a:off x="3886200" y="2082800"/>
            <a:ext cx="6096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>
            <a:cxnSpLocks noChangeShapeType="1"/>
          </p:cNvCxnSpPr>
          <p:nvPr/>
        </p:nvCxnSpPr>
        <p:spPr bwMode="auto">
          <a:xfrm>
            <a:off x="3886200" y="2743200"/>
            <a:ext cx="609600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5850" name="Rectangle 1"/>
          <p:cNvSpPr>
            <a:spLocks noChangeArrowheads="1"/>
          </p:cNvSpPr>
          <p:nvPr/>
        </p:nvSpPr>
        <p:spPr bwMode="auto">
          <a:xfrm>
            <a:off x="457200" y="3733800"/>
            <a:ext cx="3314700" cy="2286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MS PGothic" panose="020B0600070205080204" pitchFamily="34" charset="-128"/>
              </a:rPr>
              <a:t>Issues with Naïve Bayes Classifier</a:t>
            </a:r>
            <a:endParaRPr lang="en-US" altLang="en-US">
              <a:ea typeface="MS PGothic" panose="020B0600070205080204" pitchFamily="34" charset="-128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MS PGothic" panose="020B0600070205080204" pitchFamily="34" charset="-128"/>
              </a:rPr>
              <a:t>If one of the conditional probabilities is zero, then the entire expression becomes zero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Need to use other estimates of conditional probabilities than simple fractions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sz="2400" dirty="0">
                <a:ea typeface="MS PGothic" panose="020B0600070205080204" pitchFamily="34" charset="-128"/>
              </a:rPr>
              <a:t>Probability estimation: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867400" y="2590800"/>
            <a:ext cx="2743200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700" b="0" i="1" dirty="0">
                <a:latin typeface="Times New Roman" panose="02020603050405020304" pitchFamily="18" charset="0"/>
              </a:rPr>
              <a:t>n</a:t>
            </a:r>
            <a:r>
              <a:rPr lang="en-US" altLang="en-US" sz="1700" b="0" dirty="0">
                <a:latin typeface="Times New Roman" panose="02020603050405020304" pitchFamily="18" charset="0"/>
              </a:rPr>
              <a:t>: number of training instances belonging to class </a:t>
            </a:r>
            <a:r>
              <a:rPr lang="en-US" altLang="en-US" sz="1700" b="0" i="1" dirty="0">
                <a:latin typeface="Times New Roman" panose="02020603050405020304" pitchFamily="18" charset="0"/>
              </a:rPr>
              <a:t>y</a:t>
            </a:r>
            <a:endParaRPr lang="en-US" altLang="en-US" sz="1700" b="0" i="1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 sz="1700" b="0" i="1" dirty="0">
                <a:latin typeface="Times New Roman" panose="02020603050405020304" pitchFamily="18" charset="0"/>
              </a:rPr>
              <a:t>n</a:t>
            </a:r>
            <a:r>
              <a:rPr lang="en-US" altLang="en-US" sz="1700" b="0" i="1" baseline="-25000" dirty="0">
                <a:latin typeface="Times New Roman" panose="02020603050405020304" pitchFamily="18" charset="0"/>
              </a:rPr>
              <a:t>c</a:t>
            </a:r>
            <a:r>
              <a:rPr lang="en-US" altLang="en-US" sz="1700" b="0" dirty="0">
                <a:latin typeface="Times New Roman" panose="02020603050405020304" pitchFamily="18" charset="0"/>
              </a:rPr>
              <a:t>: number of instances with </a:t>
            </a:r>
            <a:r>
              <a:rPr lang="en-US" altLang="en-US" sz="1700" b="0" i="1" dirty="0">
                <a:latin typeface="Times New Roman" panose="02020603050405020304" pitchFamily="18" charset="0"/>
              </a:rPr>
              <a:t>X</a:t>
            </a:r>
            <a:r>
              <a:rPr lang="en-US" altLang="en-US" sz="1700" b="0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1700" b="0" i="1" dirty="0">
                <a:latin typeface="Times New Roman" panose="02020603050405020304" pitchFamily="18" charset="0"/>
              </a:rPr>
              <a:t> = c </a:t>
            </a:r>
            <a:r>
              <a:rPr lang="en-US" altLang="en-US" sz="1700" b="0" dirty="0">
                <a:latin typeface="Times New Roman" panose="02020603050405020304" pitchFamily="18" charset="0"/>
              </a:rPr>
              <a:t>and </a:t>
            </a:r>
            <a:r>
              <a:rPr lang="en-US" altLang="en-US" sz="1700" b="0" i="1" dirty="0">
                <a:latin typeface="Times New Roman" panose="02020603050405020304" pitchFamily="18" charset="0"/>
              </a:rPr>
              <a:t>Y = y</a:t>
            </a:r>
            <a:endParaRPr lang="en-US" altLang="en-US" sz="1700" b="0" i="1" baseline="-250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700" b="0" i="1" dirty="0">
                <a:latin typeface="Times New Roman" panose="02020603050405020304" pitchFamily="18" charset="0"/>
              </a:rPr>
              <a:t>v</a:t>
            </a:r>
            <a:r>
              <a:rPr lang="en-US" altLang="en-US" sz="1700" b="0" dirty="0">
                <a:latin typeface="Times New Roman" panose="02020603050405020304" pitchFamily="18" charset="0"/>
              </a:rPr>
              <a:t>: total number of attribute values that </a:t>
            </a:r>
            <a:r>
              <a:rPr lang="en-US" altLang="en-US" sz="1700" b="0" i="1" dirty="0">
                <a:latin typeface="Times New Roman" panose="02020603050405020304" pitchFamily="18" charset="0"/>
              </a:rPr>
              <a:t>X</a:t>
            </a:r>
            <a:r>
              <a:rPr lang="en-US" altLang="en-US" sz="1700" b="0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1700" b="0" i="1" dirty="0">
                <a:latin typeface="Times New Roman" panose="02020603050405020304" pitchFamily="18" charset="0"/>
              </a:rPr>
              <a:t> </a:t>
            </a:r>
            <a:r>
              <a:rPr lang="en-US" altLang="en-US" sz="1700" b="0" dirty="0">
                <a:latin typeface="Times New Roman" panose="02020603050405020304" pitchFamily="18" charset="0"/>
              </a:rPr>
              <a:t>can take</a:t>
            </a:r>
            <a:endParaRPr lang="en-US" altLang="en-US" sz="1700" b="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700" b="0" i="1" dirty="0">
                <a:latin typeface="Times New Roman" panose="02020603050405020304" pitchFamily="18" charset="0"/>
              </a:rPr>
              <a:t>p</a:t>
            </a:r>
            <a:r>
              <a:rPr lang="en-US" altLang="en-US" sz="1700" b="0" dirty="0">
                <a:latin typeface="Times New Roman" panose="02020603050405020304" pitchFamily="18" charset="0"/>
              </a:rPr>
              <a:t>: initial estimate of </a:t>
            </a:r>
            <a:br>
              <a:rPr lang="en-US" altLang="en-US" sz="1700" b="0" i="1" dirty="0">
                <a:latin typeface="Times New Roman" panose="02020603050405020304" pitchFamily="18" charset="0"/>
              </a:rPr>
            </a:br>
            <a:r>
              <a:rPr lang="en-US" altLang="en-US" sz="1700" b="0" dirty="0">
                <a:latin typeface="Times New Roman" panose="02020603050405020304" pitchFamily="18" charset="0"/>
              </a:rPr>
              <a:t>(P(</a:t>
            </a:r>
            <a:r>
              <a:rPr lang="en-US" altLang="en-US" sz="1700" b="0" i="1" dirty="0">
                <a:latin typeface="Times New Roman" panose="02020603050405020304" pitchFamily="18" charset="0"/>
              </a:rPr>
              <a:t>X</a:t>
            </a:r>
            <a:r>
              <a:rPr lang="en-US" altLang="en-US" sz="1700" b="0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1700" b="0" dirty="0">
                <a:latin typeface="Times New Roman" panose="02020603050405020304" pitchFamily="18" charset="0"/>
              </a:rPr>
              <a:t> </a:t>
            </a:r>
            <a:r>
              <a:rPr lang="en-US" altLang="en-US" sz="1700" b="0" i="1" dirty="0">
                <a:latin typeface="Times New Roman" panose="02020603050405020304" pitchFamily="18" charset="0"/>
              </a:rPr>
              <a:t>= </a:t>
            </a:r>
            <a:r>
              <a:rPr lang="en-US" altLang="en-US" sz="1700" b="0" i="1" dirty="0" err="1">
                <a:latin typeface="Times New Roman" panose="02020603050405020304" pitchFamily="18" charset="0"/>
              </a:rPr>
              <a:t>c|y</a:t>
            </a:r>
            <a:r>
              <a:rPr lang="en-US" altLang="en-US" sz="1700" b="0" i="1" dirty="0">
                <a:latin typeface="Times New Roman" panose="02020603050405020304" pitchFamily="18" charset="0"/>
              </a:rPr>
              <a:t>) </a:t>
            </a:r>
            <a:r>
              <a:rPr lang="en-US" altLang="en-US" sz="1700" b="0" dirty="0">
                <a:latin typeface="Times New Roman" panose="02020603050405020304" pitchFamily="18" charset="0"/>
              </a:rPr>
              <a:t>known </a:t>
            </a:r>
            <a:r>
              <a:rPr lang="en-US" altLang="en-US" sz="1700" b="0" dirty="0" err="1">
                <a:latin typeface="Times New Roman" panose="02020603050405020304" pitchFamily="18" charset="0"/>
              </a:rPr>
              <a:t>apriori</a:t>
            </a:r>
            <a:endParaRPr lang="en-US" altLang="en-US" sz="1700" b="0" baseline="-250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US" sz="1700" b="0" i="1" dirty="0">
                <a:latin typeface="Times New Roman" panose="02020603050405020304" pitchFamily="18" charset="0"/>
              </a:rPr>
              <a:t>m</a:t>
            </a:r>
            <a:r>
              <a:rPr lang="en-US" altLang="en-US" sz="1700" b="0" dirty="0">
                <a:latin typeface="Times New Roman" panose="02020603050405020304" pitchFamily="18" charset="0"/>
              </a:rPr>
              <a:t>: hyper-parameter for our confidence in </a:t>
            </a:r>
            <a:r>
              <a:rPr lang="en-US" altLang="en-US" sz="1700" b="0" i="1" dirty="0">
                <a:latin typeface="Times New Roman" panose="02020603050405020304" pitchFamily="18" charset="0"/>
              </a:rPr>
              <a:t>p</a:t>
            </a:r>
            <a:endParaRPr lang="en-US" altLang="en-US" sz="1700" b="0" i="1" baseline="-250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609600" y="4515575"/>
                <a:ext cx="4589911" cy="5833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Laplace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Estimate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515575"/>
                <a:ext cx="4589911" cy="583365"/>
              </a:xfrm>
              <a:prstGeom prst="rect">
                <a:avLst/>
              </a:prstGeom>
              <a:blipFill rotWithShape="1">
                <a:blip r:embed="rId2"/>
                <a:stretch>
                  <a:fillRect t="-15" r="3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09600" y="5379407"/>
                <a:ext cx="4376775" cy="5641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estimate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𝑚𝑝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379407"/>
                <a:ext cx="4376775" cy="564193"/>
              </a:xfrm>
              <a:prstGeom prst="rect">
                <a:avLst/>
              </a:prstGeom>
              <a:blipFill rotWithShape="1">
                <a:blip r:embed="rId3"/>
                <a:stretch>
                  <a:fillRect t="-57" r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09600" y="3810000"/>
                <a:ext cx="3094180" cy="5271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original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810000"/>
                <a:ext cx="3094180" cy="527132"/>
              </a:xfrm>
              <a:prstGeom prst="rect">
                <a:avLst/>
              </a:prstGeom>
              <a:blipFill rotWithShape="1">
                <a:blip r:embed="rId4"/>
                <a:stretch>
                  <a:fillRect r="15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MS PGothic" panose="020B0600070205080204" pitchFamily="34" charset="-128"/>
              </a:rPr>
              <a:t>Example of Naïve Bayes Classifier</a:t>
            </a:r>
            <a:endParaRPr lang="en-US" altLang="en-US">
              <a:ea typeface="MS PGothic" panose="020B0600070205080204" pitchFamily="34" charset="-128"/>
            </a:endParaRPr>
          </a:p>
        </p:txBody>
      </p:sp>
      <p:graphicFrame>
        <p:nvGraphicFramePr>
          <p:cNvPr id="37890" name="Object 3"/>
          <p:cNvGraphicFramePr>
            <a:graphicFrameLocks noChangeAspect="1"/>
          </p:cNvGraphicFramePr>
          <p:nvPr/>
        </p:nvGraphicFramePr>
        <p:xfrm>
          <a:off x="152400" y="1295400"/>
          <a:ext cx="51816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0" name="Worksheet" r:id="rId2" imgW="6033135" imgH="4509135" progId="Excel.Sheet.8">
                  <p:embed/>
                </p:oleObj>
              </mc:Choice>
              <mc:Fallback>
                <p:oleObj name="Worksheet" r:id="rId2" imgW="6033135" imgH="4509135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95400"/>
                        <a:ext cx="5181600" cy="373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4"/>
          <p:cNvGraphicFramePr>
            <a:graphicFrameLocks noChangeAspect="1"/>
          </p:cNvGraphicFramePr>
          <p:nvPr/>
        </p:nvGraphicFramePr>
        <p:xfrm>
          <a:off x="304800" y="5410200"/>
          <a:ext cx="51530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1" name="Worksheet" r:id="rId4" imgW="4859020" imgH="421640" progId="Excel.Sheet.8">
                  <p:embed/>
                </p:oleObj>
              </mc:Choice>
              <mc:Fallback>
                <p:oleObj name="Worksheet" r:id="rId4" imgW="4859020" imgH="42164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410200"/>
                        <a:ext cx="51530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5"/>
          <p:cNvGraphicFramePr>
            <a:graphicFrameLocks noChangeAspect="1"/>
          </p:cNvGraphicFramePr>
          <p:nvPr/>
        </p:nvGraphicFramePr>
        <p:xfrm>
          <a:off x="5487988" y="2362200"/>
          <a:ext cx="3656012" cy="258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2" name="Equation" r:id="rId6" imgW="4457700" imgH="3149600" progId="Equation.3">
                  <p:embed/>
                </p:oleObj>
              </mc:Choice>
              <mc:Fallback>
                <p:oleObj name="Equation" r:id="rId6" imgW="4457700" imgH="314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988" y="2362200"/>
                        <a:ext cx="3656012" cy="258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5867400" y="1295400"/>
            <a:ext cx="274320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/>
              <a:t>A: attributes</a:t>
            </a:r>
            <a:endParaRPr lang="en-US"/>
          </a:p>
          <a:p>
            <a:pPr>
              <a:spcBef>
                <a:spcPct val="50000"/>
              </a:spcBef>
              <a:defRPr/>
            </a:pPr>
            <a:r>
              <a:rPr lang="en-US"/>
              <a:t>M: mammals</a:t>
            </a:r>
            <a:endParaRPr lang="en-US"/>
          </a:p>
          <a:p>
            <a:pPr>
              <a:spcBef>
                <a:spcPct val="50000"/>
              </a:spcBef>
              <a:defRPr/>
            </a:pPr>
            <a:r>
              <a:rPr lang="en-US"/>
              <a:t>N: non-mammals</a:t>
            </a:r>
            <a:endParaRPr lang="en-US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5791200" y="5257800"/>
            <a:ext cx="2743200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/>
              <a:t>P(A|M)P(M) &gt; P(A|N)P(N)</a:t>
            </a:r>
            <a:endParaRPr lang="en-US"/>
          </a:p>
          <a:p>
            <a:pPr>
              <a:spcBef>
                <a:spcPct val="50000"/>
              </a:spcBef>
              <a:defRPr/>
            </a:pPr>
            <a:r>
              <a:rPr lang="en-US"/>
              <a:t>=&gt; Mammals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a typeface="MS PGothic" panose="020B0600070205080204" pitchFamily="34" charset="-128"/>
              </a:rPr>
              <a:t>Naïve Bayes (Summary)</a:t>
            </a:r>
            <a:endParaRPr lang="en-US" altLang="en-US">
              <a:ea typeface="MS PGothic" panose="020B0600070205080204" pitchFamily="34" charset="-128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18500" cy="5181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Robust to isolated noise points</a:t>
            </a:r>
            <a:endParaRPr lang="en-US" dirty="0">
              <a:cs typeface="+mn-cs"/>
            </a:endParaRPr>
          </a:p>
          <a:p>
            <a:pPr>
              <a:lnSpc>
                <a:spcPct val="90000"/>
              </a:lnSpc>
              <a:defRPr/>
            </a:pPr>
            <a:endParaRPr lang="en-US" dirty="0"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Handle missing values by ignoring the instance during probability estimate calculations</a:t>
            </a:r>
            <a:endParaRPr lang="en-US" dirty="0">
              <a:cs typeface="+mn-cs"/>
            </a:endParaRPr>
          </a:p>
          <a:p>
            <a:pPr>
              <a:lnSpc>
                <a:spcPct val="90000"/>
              </a:lnSpc>
              <a:defRPr/>
            </a:pPr>
            <a:endParaRPr lang="en-US" dirty="0"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Robust to irrelevant attributes</a:t>
            </a:r>
            <a:endParaRPr lang="en-US" dirty="0">
              <a:cs typeface="+mn-cs"/>
            </a:endParaRPr>
          </a:p>
          <a:p>
            <a:pPr>
              <a:lnSpc>
                <a:spcPct val="90000"/>
              </a:lnSpc>
              <a:defRPr/>
            </a:pPr>
            <a:endParaRPr lang="en-US" dirty="0"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Redundant and correlated attributes will violate class conditional assumption</a:t>
            </a:r>
            <a:endParaRPr lang="en-US" dirty="0">
              <a:cs typeface="+mn-cs"/>
            </a:endParaRP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dirty="0"/>
              <a:t>Use other techniques such as Bayesian Belief Networks (BBN)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Naïve Bayes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How does Naïve Bayes perform on the following dataset?</a:t>
            </a:r>
            <a:endParaRPr lang="en-US" sz="2000" dirty="0"/>
          </a:p>
        </p:txBody>
      </p:sp>
      <p:pic>
        <p:nvPicPr>
          <p:cNvPr id="25604" name="Content Placeholder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3" b="4614"/>
          <a:stretch>
            <a:fillRect/>
          </a:stretch>
        </p:blipFill>
        <p:spPr bwMode="auto">
          <a:xfrm>
            <a:off x="1858963" y="1676400"/>
            <a:ext cx="5334000" cy="407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858963" y="5822950"/>
            <a:ext cx="5211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anose="05010101010101010101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Conditional independence of attributes is violated</a:t>
            </a:r>
            <a:endParaRPr lang="en-US" alt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Bayesian Belief Networks</a:t>
            </a:r>
            <a:endParaRPr lang="en-US">
              <a:cs typeface="+mj-cs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Provides graphical representation of probabilistic relationships among a set of random variables</a:t>
            </a: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Consists of:</a:t>
            </a:r>
            <a:endParaRPr lang="en-US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A directed acyclic graph (dag)</a:t>
            </a:r>
            <a:endParaRPr lang="en-US" dirty="0"/>
          </a:p>
          <a:p>
            <a:pPr lvl="2">
              <a:buFont typeface="Wingdings" panose="05000000000000000000" charset="0"/>
              <a:buChar char="u"/>
              <a:defRPr/>
            </a:pPr>
            <a:r>
              <a:rPr lang="en-US" dirty="0"/>
              <a:t> Node corresponds to a variable</a:t>
            </a:r>
            <a:endParaRPr lang="en-US" dirty="0"/>
          </a:p>
          <a:p>
            <a:pPr lvl="2">
              <a:buFont typeface="Wingdings" panose="05000000000000000000" charset="0"/>
              <a:buChar char="u"/>
              <a:defRPr/>
            </a:pPr>
            <a:r>
              <a:rPr lang="en-US" dirty="0"/>
              <a:t> Arc corresponds to dependence </a:t>
            </a:r>
            <a:br>
              <a:rPr lang="en-US" dirty="0"/>
            </a:br>
            <a:r>
              <a:rPr lang="en-US" dirty="0"/>
              <a:t>relationship between a pair of variables</a:t>
            </a:r>
            <a:endParaRPr lang="en-US" dirty="0"/>
          </a:p>
          <a:p>
            <a:pPr lvl="2">
              <a:buFont typeface="Wingdings" panose="05000000000000000000" charset="0"/>
              <a:buChar char="u"/>
              <a:defRPr/>
            </a:pPr>
            <a:endParaRPr lang="en-US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A probability table associating each node to its immediate parent</a:t>
            </a:r>
            <a:endParaRPr lang="en-US" dirty="0"/>
          </a:p>
        </p:txBody>
      </p:sp>
      <p:graphicFrame>
        <p:nvGraphicFramePr>
          <p:cNvPr id="43011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651625" y="2609850"/>
          <a:ext cx="2127250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7" name="Visio" r:id="rId2" imgW="1487805" imgH="1146175" progId="Visio.Drawing.11">
                  <p:embed/>
                </p:oleObj>
              </mc:Choice>
              <mc:Fallback>
                <p:oleObj name="Visio" r:id="rId2" imgW="1487805" imgH="114617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5" y="2609850"/>
                        <a:ext cx="2127250" cy="163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Conditional Independence</a:t>
            </a:r>
            <a:endParaRPr lang="en-US">
              <a:cs typeface="+mj-cs"/>
            </a:endParaRPr>
          </a:p>
        </p:txBody>
      </p:sp>
      <p:sp>
        <p:nvSpPr>
          <p:cNvPr id="1115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4953000"/>
            <a:ext cx="8318500" cy="13716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A node in a Bayesian network is conditionally independent of all of its </a:t>
            </a:r>
            <a:r>
              <a:rPr lang="en-US" dirty="0" err="1">
                <a:cs typeface="+mn-cs"/>
              </a:rPr>
              <a:t>nondescendants</a:t>
            </a:r>
            <a:r>
              <a:rPr lang="en-US" dirty="0">
                <a:cs typeface="+mn-cs"/>
              </a:rPr>
              <a:t>, if its parents are known</a:t>
            </a:r>
            <a:endParaRPr lang="en-US" dirty="0">
              <a:cs typeface="+mn-cs"/>
            </a:endParaRPr>
          </a:p>
        </p:txBody>
      </p:sp>
      <p:graphicFrame>
        <p:nvGraphicFramePr>
          <p:cNvPr id="44035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143000" y="1219200"/>
          <a:ext cx="2649538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2" name="Visio" r:id="rId2" imgW="2228215" imgH="2820035" progId="Visio.Drawing.6">
                  <p:embed/>
                </p:oleObj>
              </mc:Choice>
              <mc:Fallback>
                <p:oleObj name="Visio" r:id="rId2" imgW="2228215" imgH="282003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219200"/>
                        <a:ext cx="2649538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4800600" y="1752600"/>
            <a:ext cx="36576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2400"/>
              <a:t>D is parent of C</a:t>
            </a:r>
            <a:endParaRPr lang="en-US" sz="2400"/>
          </a:p>
          <a:p>
            <a:pPr>
              <a:spcBef>
                <a:spcPct val="50000"/>
              </a:spcBef>
              <a:defRPr/>
            </a:pPr>
            <a:r>
              <a:rPr lang="en-US" sz="2400"/>
              <a:t>A is child of C</a:t>
            </a:r>
            <a:endParaRPr lang="en-US" sz="2400"/>
          </a:p>
          <a:p>
            <a:pPr>
              <a:spcBef>
                <a:spcPct val="50000"/>
              </a:spcBef>
              <a:defRPr/>
            </a:pPr>
            <a:r>
              <a:rPr lang="en-US" sz="2400"/>
              <a:t>B is descendant of D</a:t>
            </a:r>
            <a:endParaRPr lang="en-US" sz="2400"/>
          </a:p>
          <a:p>
            <a:pPr>
              <a:spcBef>
                <a:spcPct val="50000"/>
              </a:spcBef>
              <a:defRPr/>
            </a:pPr>
            <a:r>
              <a:rPr lang="en-US" sz="2400"/>
              <a:t>D is ancestor of A</a:t>
            </a: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513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Conditional Independence</a:t>
            </a:r>
            <a:endParaRPr lang="en-US">
              <a:cs typeface="+mj-cs"/>
            </a:endParaRPr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MS PGothic" panose="020B0600070205080204" pitchFamily="34" charset="-128"/>
              </a:rPr>
              <a:t>Naïve Bayes assumption: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graphicFrame>
        <p:nvGraphicFramePr>
          <p:cNvPr id="45059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524000" y="2362200"/>
          <a:ext cx="5486400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5" name="Visio" r:id="rId2" imgW="4425950" imgH="1736725" progId="Visio.Drawing.6">
                  <p:embed/>
                </p:oleObj>
              </mc:Choice>
              <mc:Fallback>
                <p:oleObj name="Visio" r:id="rId2" imgW="4425950" imgH="1736725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362200"/>
                        <a:ext cx="5486400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Probability Tables</a:t>
            </a:r>
            <a:endParaRPr lang="en-US">
              <a:cs typeface="+mj-cs"/>
            </a:endParaRP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MS PGothic" panose="020B0600070205080204" pitchFamily="34" charset="-128"/>
              </a:rPr>
              <a:t>If X does not have any parents, table contains prior probability P(X)</a:t>
            </a:r>
            <a:endParaRPr lang="en-US" altLang="en-US" dirty="0">
              <a:ea typeface="MS PGothic" panose="020B0600070205080204" pitchFamily="34" charset="-128"/>
            </a:endParaRPr>
          </a:p>
          <a:p>
            <a:pPr>
              <a:buFont typeface="Monotype Sorts" panose="05010101010101010101" pitchFamily="2" charset="2"/>
              <a:buChar char="l"/>
              <a:defRPr/>
            </a:pPr>
            <a:endParaRPr lang="en-US" altLang="en-US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dirty="0">
                <a:ea typeface="MS PGothic" panose="020B0600070205080204" pitchFamily="34" charset="-128"/>
              </a:rPr>
              <a:t>If X has only one parent (Y), table contains conditional probability P(X|Y)</a:t>
            </a:r>
            <a:endParaRPr lang="en-US" altLang="en-US" dirty="0">
              <a:ea typeface="MS PGothic" panose="020B0600070205080204" pitchFamily="34" charset="-128"/>
            </a:endParaRPr>
          </a:p>
          <a:p>
            <a:pPr>
              <a:buFont typeface="Monotype Sorts" panose="05010101010101010101" pitchFamily="2" charset="2"/>
              <a:buChar char="l"/>
              <a:defRPr/>
            </a:pPr>
            <a:endParaRPr lang="en-US" altLang="en-US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dirty="0">
                <a:ea typeface="MS PGothic" panose="020B0600070205080204" pitchFamily="34" charset="-128"/>
              </a:rPr>
              <a:t>If X has multiple parents (Y</a:t>
            </a:r>
            <a:r>
              <a:rPr lang="en-US" altLang="en-US" baseline="-25000" dirty="0">
                <a:ea typeface="MS PGothic" panose="020B0600070205080204" pitchFamily="34" charset="-128"/>
              </a:rPr>
              <a:t>1</a:t>
            </a:r>
            <a:r>
              <a:rPr lang="en-US" altLang="en-US" dirty="0">
                <a:ea typeface="MS PGothic" panose="020B0600070205080204" pitchFamily="34" charset="-128"/>
              </a:rPr>
              <a:t>, Y</a:t>
            </a:r>
            <a:r>
              <a:rPr lang="en-US" altLang="en-US" baseline="-25000" dirty="0">
                <a:ea typeface="MS PGothic" panose="020B0600070205080204" pitchFamily="34" charset="-128"/>
              </a:rPr>
              <a:t>2</a:t>
            </a:r>
            <a:r>
              <a:rPr lang="en-US" altLang="en-US" dirty="0">
                <a:ea typeface="MS PGothic" panose="020B0600070205080204" pitchFamily="34" charset="-128"/>
              </a:rPr>
              <a:t>,…, </a:t>
            </a:r>
            <a:r>
              <a:rPr lang="en-US" altLang="en-US" dirty="0" err="1">
                <a:ea typeface="MS PGothic" panose="020B0600070205080204" pitchFamily="34" charset="-128"/>
              </a:rPr>
              <a:t>Y</a:t>
            </a:r>
            <a:r>
              <a:rPr lang="en-US" altLang="en-US" baseline="-25000" dirty="0" err="1">
                <a:ea typeface="MS PGothic" panose="020B0600070205080204" pitchFamily="34" charset="-128"/>
              </a:rPr>
              <a:t>k</a:t>
            </a:r>
            <a:r>
              <a:rPr lang="en-US" altLang="en-US" dirty="0">
                <a:ea typeface="MS PGothic" panose="020B0600070205080204" pitchFamily="34" charset="-128"/>
              </a:rPr>
              <a:t>), table contains conditional probability P(X|Y</a:t>
            </a:r>
            <a:r>
              <a:rPr lang="en-US" altLang="en-US" baseline="-25000" dirty="0">
                <a:ea typeface="MS PGothic" panose="020B0600070205080204" pitchFamily="34" charset="-128"/>
              </a:rPr>
              <a:t>1</a:t>
            </a:r>
            <a:r>
              <a:rPr lang="en-US" altLang="en-US" dirty="0">
                <a:ea typeface="MS PGothic" panose="020B0600070205080204" pitchFamily="34" charset="-128"/>
              </a:rPr>
              <a:t>, Y</a:t>
            </a:r>
            <a:r>
              <a:rPr lang="en-US" altLang="en-US" baseline="-25000" dirty="0">
                <a:ea typeface="MS PGothic" panose="020B0600070205080204" pitchFamily="34" charset="-128"/>
              </a:rPr>
              <a:t>2</a:t>
            </a:r>
            <a:r>
              <a:rPr lang="en-US" altLang="en-US" dirty="0">
                <a:ea typeface="MS PGothic" panose="020B0600070205080204" pitchFamily="34" charset="-128"/>
              </a:rPr>
              <a:t>,…, </a:t>
            </a:r>
            <a:r>
              <a:rPr lang="en-US" altLang="en-US" dirty="0" err="1">
                <a:ea typeface="MS PGothic" panose="020B0600070205080204" pitchFamily="34" charset="-128"/>
              </a:rPr>
              <a:t>Y</a:t>
            </a:r>
            <a:r>
              <a:rPr lang="en-US" altLang="en-US" baseline="-25000" dirty="0" err="1">
                <a:ea typeface="MS PGothic" panose="020B0600070205080204" pitchFamily="34" charset="-128"/>
              </a:rPr>
              <a:t>k</a:t>
            </a:r>
            <a:r>
              <a:rPr lang="en-US" altLang="en-US" dirty="0">
                <a:ea typeface="MS PGothic" panose="020B0600070205080204" pitchFamily="34" charset="-128"/>
              </a:rPr>
              <a:t>)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graphicFrame>
        <p:nvGraphicFramePr>
          <p:cNvPr id="46083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7772400" y="1905000"/>
          <a:ext cx="517525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9" name="Visio" r:id="rId2" imgW="530225" imgH="1736725" progId="Visio.Drawing.6">
                  <p:embed/>
                </p:oleObj>
              </mc:Choice>
              <mc:Fallback>
                <p:oleObj name="Visio" r:id="rId2" imgW="530225" imgH="173672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905000"/>
                        <a:ext cx="517525" cy="171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 of Bayesian Belief Network</a:t>
            </a:r>
            <a:endParaRPr lang="en-US">
              <a:cs typeface="+mj-cs"/>
            </a:endParaRPr>
          </a:p>
        </p:txBody>
      </p:sp>
      <p:graphicFrame>
        <p:nvGraphicFramePr>
          <p:cNvPr id="47106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588963" y="1152525"/>
          <a:ext cx="7962900" cy="516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2" name="Visio" r:id="rId2" imgW="6690360" imgH="4340225" progId="Visio.Drawing.11">
                  <p:embed/>
                </p:oleObj>
              </mc:Choice>
              <mc:Fallback>
                <p:oleObj name="Visio" r:id="rId2" imgW="6690360" imgH="434022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1152525"/>
                        <a:ext cx="7962900" cy="516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 of Inferencing using BBN</a:t>
            </a:r>
            <a:endParaRPr lang="en-US">
              <a:cs typeface="+mj-cs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>
                <a:cs typeface="+mn-cs"/>
              </a:rPr>
              <a:t>Given: X = (E=No, D=Yes, CP=Yes, BP=High)</a:t>
            </a:r>
            <a:endParaRPr lang="en-US" sz="2400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2400" dirty="0"/>
              <a:t>Compute P(HD|E,D,CP,BP)?</a:t>
            </a:r>
            <a:endParaRPr lang="en-US" sz="2400" dirty="0"/>
          </a:p>
          <a:p>
            <a:pPr lvl="4">
              <a:defRPr/>
            </a:pPr>
            <a:endParaRPr lang="en-US" sz="700" dirty="0"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en-US" sz="2400" dirty="0">
                <a:cs typeface="+mn-cs"/>
              </a:rPr>
              <a:t>P(HD=Yes| E=No,D=Yes) = 0.55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P(CP=Yes| HD=Yes) = 0.8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P(BP=High| HD=Yes) = 0.85</a:t>
            </a:r>
            <a:endParaRPr lang="en-US" sz="2400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2000" dirty="0"/>
              <a:t>P(HD=Yes|E=No,D=Yes,CP=Yes,BP=High) </a:t>
            </a:r>
            <a:br>
              <a:rPr lang="en-US" sz="2000" dirty="0"/>
            </a:br>
            <a:r>
              <a:rPr lang="en-US" sz="2000" dirty="0">
                <a:sym typeface="Symbol" panose="05050102010706020507" charset="0"/>
              </a:rPr>
              <a:t> 0.55  0.8  0.85 = 0.374</a:t>
            </a:r>
            <a:endParaRPr lang="en-US" sz="2000" dirty="0">
              <a:sym typeface="Symbol" panose="05050102010706020507" charset="0"/>
            </a:endParaRPr>
          </a:p>
          <a:p>
            <a:pPr lvl="4">
              <a:defRPr/>
            </a:pPr>
            <a:endParaRPr lang="en-US" sz="700" dirty="0">
              <a:latin typeface="Times New Roman" panose="02020603050405020304" pitchFamily="18" charset="0"/>
              <a:sym typeface="Symbol" panose="05050102010706020507" charset="0"/>
            </a:endParaRPr>
          </a:p>
          <a:p>
            <a:pPr>
              <a:defRPr/>
            </a:pPr>
            <a:r>
              <a:rPr lang="en-US" sz="2400" dirty="0">
                <a:cs typeface="+mn-cs"/>
              </a:rPr>
              <a:t>P(HD=No| E=No,D=Yes) = 0.45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P(CP=Yes| HD=No) = 0.01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P(BP=High| HD=No) = 0.2</a:t>
            </a:r>
            <a:endParaRPr lang="en-US" sz="2400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2000" dirty="0"/>
              <a:t>P(HD=No|E=No,D=Yes,CP=Yes,BP=High) </a:t>
            </a:r>
            <a:br>
              <a:rPr lang="en-US" sz="2000" dirty="0"/>
            </a:br>
            <a:r>
              <a:rPr lang="en-US" sz="2000" dirty="0">
                <a:sym typeface="Symbol" panose="05050102010706020507" charset="0"/>
              </a:rPr>
              <a:t> 0.45  0.01  0.2 = 0.0009</a:t>
            </a:r>
            <a:endParaRPr lang="en-US" sz="2000" dirty="0">
              <a:sym typeface="Symbol" panose="05050102010706020507" charset="0"/>
            </a:endParaRPr>
          </a:p>
        </p:txBody>
      </p:sp>
      <p:sp>
        <p:nvSpPr>
          <p:cNvPr id="24580" name="AutoShape 4"/>
          <p:cNvSpPr/>
          <p:nvPr/>
        </p:nvSpPr>
        <p:spPr bwMode="auto">
          <a:xfrm>
            <a:off x="6324600" y="2362200"/>
            <a:ext cx="609600" cy="3657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54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7086600" y="3749675"/>
            <a:ext cx="1828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2400"/>
              <a:t>Classify X as Yes</a:t>
            </a: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GE2Mjg2YTZkZTMyMTYwY2M1OTQ5YzJlN2MyYmRjOGEifQ==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3_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3_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2_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2_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1_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0</TotalTime>
  <Words>9009</Words>
  <Application>WPS 演示</Application>
  <PresentationFormat>On-screen Show (4:3)</PresentationFormat>
  <Paragraphs>355</Paragraphs>
  <Slides>26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24</vt:i4>
      </vt:variant>
      <vt:variant>
        <vt:lpstr>幻灯片标题</vt:lpstr>
      </vt:variant>
      <vt:variant>
        <vt:i4>26</vt:i4>
      </vt:variant>
    </vt:vector>
  </HeadingPairs>
  <TitlesOfParts>
    <vt:vector size="67" baseType="lpstr">
      <vt:lpstr>Arial</vt:lpstr>
      <vt:lpstr>宋体</vt:lpstr>
      <vt:lpstr>Wingdings</vt:lpstr>
      <vt:lpstr>MS PGothic</vt:lpstr>
      <vt:lpstr>Tahoma</vt:lpstr>
      <vt:lpstr>Times New Roman</vt:lpstr>
      <vt:lpstr>Monotype Sorts</vt:lpstr>
      <vt:lpstr>Wingdings</vt:lpstr>
      <vt:lpstr>Cambria Math</vt:lpstr>
      <vt:lpstr>Symbol</vt:lpstr>
      <vt:lpstr>微软雅黑</vt:lpstr>
      <vt:lpstr>Arial Unicode MS</vt:lpstr>
      <vt:lpstr>Symbol</vt:lpstr>
      <vt:lpstr>LC.BRev.FY97</vt:lpstr>
      <vt:lpstr>3_LC.BRev.FY97</vt:lpstr>
      <vt:lpstr>2_LC.BRev.FY97</vt:lpstr>
      <vt:lpstr>1_LC.BRev.FY97</vt:lpstr>
      <vt:lpstr>Equation.3</vt:lpstr>
      <vt:lpstr>Equation.3</vt:lpstr>
      <vt:lpstr>Visio.Drawing.6</vt:lpstr>
      <vt:lpstr>Visio.Drawing.6</vt:lpstr>
      <vt:lpstr>Equation.3</vt:lpstr>
      <vt:lpstr>Equation.3</vt:lpstr>
      <vt:lpstr>Equation.3</vt:lpstr>
      <vt:lpstr>Visio.Drawing.6</vt:lpstr>
      <vt:lpstr>Excel.Sheet.8</vt:lpstr>
      <vt:lpstr>Excel.Sheet.8</vt:lpstr>
      <vt:lpstr>Equation.3</vt:lpstr>
      <vt:lpstr>Equation.3</vt:lpstr>
      <vt:lpstr>Visio.Drawing.11</vt:lpstr>
      <vt:lpstr>Visio.Drawing.6</vt:lpstr>
      <vt:lpstr>Visio.Drawing.6</vt:lpstr>
      <vt:lpstr>Visio.Drawing.6</vt:lpstr>
      <vt:lpstr>Visio.Drawing.11</vt:lpstr>
      <vt:lpstr>Visio.Drawing.6</vt:lpstr>
      <vt:lpstr>Equation.3</vt:lpstr>
      <vt:lpstr>Visio.Drawing.6</vt:lpstr>
      <vt:lpstr>Equation.3</vt:lpstr>
      <vt:lpstr>Visio.Drawing.6</vt:lpstr>
      <vt:lpstr>Equation.3</vt:lpstr>
      <vt:lpstr>Visio.Drawing.6</vt:lpstr>
      <vt:lpstr>Data Mining  Classification: Alternative Techniques</vt:lpstr>
      <vt:lpstr>Bayes Classifier</vt:lpstr>
      <vt:lpstr>Using Bayes Theorem for Classification</vt:lpstr>
      <vt:lpstr>Using Bayes Theorem for Classification</vt:lpstr>
      <vt:lpstr>Example Data</vt:lpstr>
      <vt:lpstr>Example Data</vt:lpstr>
      <vt:lpstr>Conditional Independence</vt:lpstr>
      <vt:lpstr>Naïve Bayes Classifier</vt:lpstr>
      <vt:lpstr>Naïve Bayes on Example Data</vt:lpstr>
      <vt:lpstr>Estimate Probabilities from Data</vt:lpstr>
      <vt:lpstr>Estimate Probabilities from Data</vt:lpstr>
      <vt:lpstr>Estimate Probabilities from Data</vt:lpstr>
      <vt:lpstr>Example of Naïve Bayes Classifier</vt:lpstr>
      <vt:lpstr>Naïve Bayes Classifier can make decisions with partial information about attributes in the test record</vt:lpstr>
      <vt:lpstr>Issues with Naïve Bayes Classifier</vt:lpstr>
      <vt:lpstr>Issues with Naïve Bayes Classifier</vt:lpstr>
      <vt:lpstr>Issues with Naïve Bayes Classifier</vt:lpstr>
      <vt:lpstr>Example of Naïve Bayes Classifier</vt:lpstr>
      <vt:lpstr>Naïve Bayes (Summary)</vt:lpstr>
      <vt:lpstr>Naïve Bayes</vt:lpstr>
      <vt:lpstr>Bayesian Belief Networks</vt:lpstr>
      <vt:lpstr>Conditional Independence</vt:lpstr>
      <vt:lpstr>Conditional Independence</vt:lpstr>
      <vt:lpstr>Probability Tables</vt:lpstr>
      <vt:lpstr>Example of Bayesian Belief Network</vt:lpstr>
      <vt:lpstr>Example of Inferencing using BBN</vt:lpstr>
    </vt:vector>
  </TitlesOfParts>
  <LinksUpToDate>false</LinksUpToDate>
  <SharedDoc>false</SharedDoc>
  <HyperlinksChanged>false</HyperlinksChanged>
  <AppVersion>14.0000</AppVersion>
  <Pages>3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 Classification: Alternative Techniques</dc:title>
  <dc:creator>anujkarpatne@gmail.com</dc:creator>
  <cp:lastModifiedBy>XKM</cp:lastModifiedBy>
  <cp:revision>44</cp:revision>
  <cp:lastPrinted>2019-09-13T15:48:00Z</cp:lastPrinted>
  <dcterms:created xsi:type="dcterms:W3CDTF">2018-02-14T20:49:00Z</dcterms:created>
  <dcterms:modified xsi:type="dcterms:W3CDTF">2025-09-01T23:11:21Z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C1E5190EF7714660BFD7D1ECB8B452F5_12</vt:lpwstr>
  </property>
  <property fmtid="{D5CDD505-2E9C-101B-9397-08002B2CF9AE}" pid="3" name="KSOProductBuildVer">
    <vt:lpwstr>2052-12.1.0.22529</vt:lpwstr>
  </property>
</Properties>
</file>